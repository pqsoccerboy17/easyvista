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51_7F2490A5.xml" ContentType="application/vnd.ms-powerpoint.comments+xml"/>
  <Override PartName="/ppt/comments/modernComment_14F_DAD4AF64.xml" ContentType="application/vnd.ms-powerpoint.comments+xml"/>
  <Override PartName="/ppt/comments/modernComment_14E_3B5487F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35"/>
  </p:notesMasterIdLst>
  <p:handoutMasterIdLst>
    <p:handoutMasterId r:id="rId36"/>
  </p:handoutMasterIdLst>
  <p:sldIdLst>
    <p:sldId id="272" r:id="rId2"/>
    <p:sldId id="326" r:id="rId3"/>
    <p:sldId id="354" r:id="rId4"/>
    <p:sldId id="350" r:id="rId5"/>
    <p:sldId id="361" r:id="rId6"/>
    <p:sldId id="362" r:id="rId7"/>
    <p:sldId id="364" r:id="rId8"/>
    <p:sldId id="295" r:id="rId9"/>
    <p:sldId id="370" r:id="rId10"/>
    <p:sldId id="371" r:id="rId11"/>
    <p:sldId id="372" r:id="rId12"/>
    <p:sldId id="368" r:id="rId13"/>
    <p:sldId id="369" r:id="rId14"/>
    <p:sldId id="365" r:id="rId15"/>
    <p:sldId id="366" r:id="rId16"/>
    <p:sldId id="367" r:id="rId17"/>
    <p:sldId id="363" r:id="rId18"/>
    <p:sldId id="349" r:id="rId19"/>
    <p:sldId id="359" r:id="rId20"/>
    <p:sldId id="360" r:id="rId21"/>
    <p:sldId id="356" r:id="rId22"/>
    <p:sldId id="347" r:id="rId23"/>
    <p:sldId id="336" r:id="rId24"/>
    <p:sldId id="338" r:id="rId25"/>
    <p:sldId id="337" r:id="rId26"/>
    <p:sldId id="355" r:id="rId27"/>
    <p:sldId id="320" r:id="rId28"/>
    <p:sldId id="340" r:id="rId29"/>
    <p:sldId id="333" r:id="rId30"/>
    <p:sldId id="335" r:id="rId31"/>
    <p:sldId id="334" r:id="rId32"/>
    <p:sldId id="330" r:id="rId33"/>
    <p:sldId id="31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CFB5954-FEA7-54DB-C00B-3CD23E8D4A7A}" name="russell@yelin.io" initials="ru" userId="S::russell@yelin.io::494609b5-fc94-45b0-895e-2680692e1b4e" providerId="AD"/>
  <p188:author id="{89422455-AA02-4F18-A223-4CB5DD48BF18}" name="Henry Yelin" initials="HY" userId="S::henry@yelin.io::16483953-0c2a-4fe7-892c-9940d78945a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15F9A"/>
    <a:srgbClr val="215F9B"/>
    <a:srgbClr val="299ED5"/>
    <a:srgbClr val="1E8090"/>
    <a:srgbClr val="20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939D7-E07F-F54B-928E-888636F80703}" v="411" dt="2026-02-25T13:11:34.612"/>
    <p1510:client id="{EC0AE600-14E8-EB42-A58D-AD293BD717B3}" v="2115" dt="2026-02-25T14:38:54.1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omments/modernComment_14E_3B5487F6.xml><?xml version="1.0" encoding="utf-8"?>
<p188:cmLst xmlns:a="http://schemas.openxmlformats.org/drawingml/2006/main" xmlns:r="http://schemas.openxmlformats.org/officeDocument/2006/relationships" xmlns:p188="http://schemas.microsoft.com/office/powerpoint/2018/8/main">
  <p188:cm id="{8B67B20A-F7C9-44C2-8090-B6BFE58381EC}" authorId="{7CFB5954-FEA7-54DB-C00B-3CD23E8D4A7A}" created="2026-02-02T15:38:24.110">
    <ac:txMkLst xmlns:ac="http://schemas.microsoft.com/office/drawing/2013/main/command">
      <pc:docMk xmlns:pc="http://schemas.microsoft.com/office/powerpoint/2013/main/command"/>
      <pc:sldMk xmlns:pc="http://schemas.microsoft.com/office/powerpoint/2013/main/command" cId="995395574" sldId="334"/>
      <ac:spMk id="2" creationId="{B782B709-09FB-29C8-4408-C4D9A22B907D}"/>
      <ac:txMk cp="20" len="51">
        <ac:context len="72" hash="2538977350"/>
      </ac:txMk>
    </ac:txMkLst>
    <p188:pos x="9136811" y="790754"/>
    <p188:txBody>
      <a:bodyPr/>
      <a:lstStyle/>
      <a:p>
        <a:r>
          <a:rPr lang="en-GB"/>
          <a:t>Should we help facilitate with our network or can Eurazeo lead?</a:t>
        </a:r>
      </a:p>
    </p188:txBody>
  </p188:cm>
</p188:cmLst>
</file>

<file path=ppt/comments/modernComment_14F_DAD4AF64.xml><?xml version="1.0" encoding="utf-8"?>
<p188:cmLst xmlns:a="http://schemas.openxmlformats.org/drawingml/2006/main" xmlns:r="http://schemas.openxmlformats.org/officeDocument/2006/relationships" xmlns:p188="http://schemas.microsoft.com/office/powerpoint/2018/8/main">
  <p188:cm id="{82DD8343-E2CE-48B8-9925-A785E8BB5125}" authorId="{7CFB5954-FEA7-54DB-C00B-3CD23E8D4A7A}" created="2026-02-02T15:36:43.995">
    <ac:txMkLst xmlns:ac="http://schemas.microsoft.com/office/drawing/2013/main/command">
      <pc:docMk xmlns:pc="http://schemas.microsoft.com/office/powerpoint/2013/main/command"/>
      <pc:sldMk xmlns:pc="http://schemas.microsoft.com/office/powerpoint/2013/main/command" cId="3671371620" sldId="335"/>
      <ac:spMk id="3" creationId="{3FDDA8F6-3504-AD63-15C8-5BE046FE424F}"/>
      <ac:txMk cp="42" len="9">
        <ac:context len="446" hash="1383674952"/>
      </ac:txMk>
    </ac:txMkLst>
    <p188:pos x="704490" y="373811"/>
    <p188:replyLst>
      <p188:reply id="{2C12EE06-01E5-9B41-A30B-59C0969B72F7}" authorId="{89422455-AA02-4F18-A223-4CB5DD48BF18}" created="2026-02-04T09:37:26.813">
        <p188:txBody>
          <a:bodyPr/>
          <a:lstStyle/>
          <a:p>
            <a:r>
              <a:rPr lang="en-US"/>
              <a:t>Agreed - I think the idea here is to offer two "spots" for each company, and each spot is for one team comprised of whatever mix they think is best. Given that this might be new for many attendees, we might need to suggest what is normal / good.</a:t>
            </a:r>
          </a:p>
        </p188:txBody>
      </p188:reply>
    </p188:replyLst>
    <p188:txBody>
      <a:bodyPr/>
      <a:lstStyle/>
      <a:p>
        <a:r>
          <a:rPr lang="en-GB"/>
          <a:t>An observation. The best hackathons / teams I've been in are cross-functional with design and build capabilities .. this I found a bit of a weird sticking point in the most recent gig as we never got a team together (may've been slightly symptomatic off "too full plate" .. pondering, we probably don't want to be hyper prescriptive?</a:t>
        </a:r>
      </a:p>
    </p188:txBody>
  </p188:cm>
  <p188:cm id="{4BAD6600-62F4-4BC9-B372-B9BE554AE4CE}" authorId="{7CFB5954-FEA7-54DB-C00B-3CD23E8D4A7A}" created="2026-02-02T15:37:41.793">
    <ac:txMkLst xmlns:ac="http://schemas.microsoft.com/office/drawing/2013/main/command">
      <pc:docMk xmlns:pc="http://schemas.microsoft.com/office/powerpoint/2013/main/command"/>
      <pc:sldMk xmlns:pc="http://schemas.microsoft.com/office/powerpoint/2013/main/command" cId="3671371620" sldId="335"/>
      <ac:spMk id="3" creationId="{3FDDA8F6-3504-AD63-15C8-5BE046FE424F}"/>
      <ac:txMk cp="264" len="181">
        <ac:context len="446" hash="1383674952"/>
      </ac:txMk>
    </ac:txMkLst>
    <p188:pos x="4478547" y="2832339"/>
    <p188:txBody>
      <a:bodyPr/>
      <a:lstStyle/>
      <a:p>
        <a:r>
          <a:rPr lang="en-GB"/>
          <a:t>Like this. Could help augment around my other comment (e.g. where design missing, what tools help fill the gap)?</a:t>
        </a:r>
      </a:p>
    </p188:txBody>
  </p188:cm>
</p188:cmLst>
</file>

<file path=ppt/comments/modernComment_151_7F2490A5.xml><?xml version="1.0" encoding="utf-8"?>
<p188:cmLst xmlns:a="http://schemas.openxmlformats.org/drawingml/2006/main" xmlns:r="http://schemas.openxmlformats.org/officeDocument/2006/relationships" xmlns:p188="http://schemas.microsoft.com/office/powerpoint/2018/8/main">
  <p188:cm id="{9A8DDC88-D9EF-4D3B-B9FA-7859844D81D7}" authorId="{7CFB5954-FEA7-54DB-C00B-3CD23E8D4A7A}" created="2026-02-02T15:29:53.134">
    <ac:txMkLst xmlns:ac="http://schemas.microsoft.com/office/drawing/2013/main/command">
      <pc:docMk xmlns:pc="http://schemas.microsoft.com/office/powerpoint/2013/main/command"/>
      <pc:sldMk xmlns:pc="http://schemas.microsoft.com/office/powerpoint/2013/main/command" cId="2133102757" sldId="337"/>
      <ac:spMk id="8" creationId="{F98C106B-67F4-385D-E948-DE52DA6853C3}"/>
      <ac:txMk cp="108" len="57">
        <ac:context len="366" hash="2718949815"/>
      </ac:txMk>
    </ac:txMkLst>
    <p188:pos x="1238250" y="1034142"/>
    <p188:txBody>
      <a:bodyPr/>
      <a:lstStyle/>
      <a:p>
        <a:r>
          <a:rPr lang="en-GB"/>
          <a:t>That extends beyond the event - cross-company peer collaboration</a:t>
        </a:r>
      </a:p>
    </p188:txBody>
    <p188:extLst>
      <p:ext xmlns:p="http://schemas.openxmlformats.org/presentationml/2006/main" uri="{57CB4572-C831-44C2-8A1C-0ADB6CCDFE69}">
        <p223:reactions xmlns:p223="http://schemas.microsoft.com/office/powerpoint/2022/03/main">
          <p223:rxn type="👍">
            <p223:instance time="2026-02-04T09:32:07.079" authorId="{89422455-AA02-4F18-A223-4CB5DD48BF18}"/>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2B957D-7DC5-A2B2-9DD2-55794E7CDE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BB4F5B0-A96F-ED6F-2E66-E8F683DC4B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27D3EC-9A98-C541-9FD9-792890530D0C}" type="datetimeFigureOut">
              <a:rPr lang="en-US" smtClean="0"/>
              <a:t>2/25/2026</a:t>
            </a:fld>
            <a:endParaRPr lang="en-US"/>
          </a:p>
        </p:txBody>
      </p:sp>
      <p:sp>
        <p:nvSpPr>
          <p:cNvPr id="4" name="Footer Placeholder 3">
            <a:extLst>
              <a:ext uri="{FF2B5EF4-FFF2-40B4-BE49-F238E27FC236}">
                <a16:creationId xmlns:a16="http://schemas.microsoft.com/office/drawing/2014/main" id="{FEFD6F59-13DB-C2D4-D2B2-AA1EA87687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69123F4-0545-E446-7FD1-E1EB626943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788F0B-65CC-2743-BB63-E87071A1F01C}" type="slidenum">
              <a:rPr lang="en-US" smtClean="0"/>
              <a:t>‹#›</a:t>
            </a:fld>
            <a:endParaRPr lang="en-US"/>
          </a:p>
        </p:txBody>
      </p:sp>
    </p:spTree>
    <p:extLst>
      <p:ext uri="{BB962C8B-B14F-4D97-AF65-F5344CB8AC3E}">
        <p14:creationId xmlns:p14="http://schemas.microsoft.com/office/powerpoint/2010/main" val="341349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16F8F-04D6-8B49-91B0-01B4C7A83801}"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C6C9F-953B-EC47-BC35-7510FBC4A0DB}" type="slidenum">
              <a:rPr lang="en-US" smtClean="0"/>
              <a:t>‹#›</a:t>
            </a:fld>
            <a:endParaRPr lang="en-US"/>
          </a:p>
        </p:txBody>
      </p:sp>
    </p:spTree>
    <p:extLst>
      <p:ext uri="{BB962C8B-B14F-4D97-AF65-F5344CB8AC3E}">
        <p14:creationId xmlns:p14="http://schemas.microsoft.com/office/powerpoint/2010/main" val="383290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8BB01-E6DD-DD07-7AC7-F3DDBD2941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34DB86-2C80-DFAA-5680-AC7E727112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5FE1C5-EFA6-80DB-E11F-2C7A425E8DE8}"/>
              </a:ext>
            </a:extLst>
          </p:cNvPr>
          <p:cNvSpPr>
            <a:spLocks noGrp="1"/>
          </p:cNvSpPr>
          <p:nvPr>
            <p:ph type="dt" sz="half" idx="10"/>
          </p:nvPr>
        </p:nvSpPr>
        <p:spPr/>
        <p:txBody>
          <a:bodyPr/>
          <a:lstStyle/>
          <a:p>
            <a:fld id="{B75747AC-6C1B-B141-BB85-6453D36E7AA8}" type="datetime1">
              <a:rPr lang="en-US" smtClean="0"/>
              <a:t>2/25/2026</a:t>
            </a:fld>
            <a:endParaRPr lang="en-US"/>
          </a:p>
        </p:txBody>
      </p:sp>
      <p:sp>
        <p:nvSpPr>
          <p:cNvPr id="5" name="Footer Placeholder 4">
            <a:extLst>
              <a:ext uri="{FF2B5EF4-FFF2-40B4-BE49-F238E27FC236}">
                <a16:creationId xmlns:a16="http://schemas.microsoft.com/office/drawing/2014/main" id="{9D2FBD58-EE43-0BF5-77EB-130FB33BF81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2D4809B-A45F-AD4F-45D2-CF37CC034C1D}"/>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934503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D674-9805-1118-1772-6CA4C4CA0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E41C4-1D31-BE45-259F-CCB6930229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17BED-28CD-C07A-9023-F68BBD438A8C}"/>
              </a:ext>
            </a:extLst>
          </p:cNvPr>
          <p:cNvSpPr>
            <a:spLocks noGrp="1"/>
          </p:cNvSpPr>
          <p:nvPr>
            <p:ph type="dt" sz="half" idx="10"/>
          </p:nvPr>
        </p:nvSpPr>
        <p:spPr/>
        <p:txBody>
          <a:bodyPr/>
          <a:lstStyle/>
          <a:p>
            <a:fld id="{2C50E739-BFFE-EA4A-8D8D-34C458EADFC0}" type="datetime1">
              <a:rPr lang="en-US" smtClean="0"/>
              <a:t>2/25/2026</a:t>
            </a:fld>
            <a:endParaRPr lang="en-US"/>
          </a:p>
        </p:txBody>
      </p:sp>
      <p:sp>
        <p:nvSpPr>
          <p:cNvPr id="5" name="Footer Placeholder 4">
            <a:extLst>
              <a:ext uri="{FF2B5EF4-FFF2-40B4-BE49-F238E27FC236}">
                <a16:creationId xmlns:a16="http://schemas.microsoft.com/office/drawing/2014/main" id="{D3B23C95-B38B-BF64-C100-43914F20E9D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29F7820-B65C-C0EF-ED84-FC16594A2E2E}"/>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98903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38B78-6303-8C25-3F8C-AD8C6D6EF8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3FB13-7B3A-45D7-3D40-B7FB7C890C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EB5925-F64E-49BE-35D7-E860E26B29BC}"/>
              </a:ext>
            </a:extLst>
          </p:cNvPr>
          <p:cNvSpPr>
            <a:spLocks noGrp="1"/>
          </p:cNvSpPr>
          <p:nvPr>
            <p:ph type="dt" sz="half" idx="10"/>
          </p:nvPr>
        </p:nvSpPr>
        <p:spPr/>
        <p:txBody>
          <a:bodyPr/>
          <a:lstStyle/>
          <a:p>
            <a:fld id="{4A2E037B-0B03-B845-A278-279D4C95B7E4}" type="datetime1">
              <a:rPr lang="en-US" smtClean="0"/>
              <a:t>2/25/2026</a:t>
            </a:fld>
            <a:endParaRPr lang="en-US"/>
          </a:p>
        </p:txBody>
      </p:sp>
      <p:sp>
        <p:nvSpPr>
          <p:cNvPr id="5" name="Footer Placeholder 4">
            <a:extLst>
              <a:ext uri="{FF2B5EF4-FFF2-40B4-BE49-F238E27FC236}">
                <a16:creationId xmlns:a16="http://schemas.microsoft.com/office/drawing/2014/main" id="{46AA10B4-D8FF-5811-ED52-999DCA355A2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A1D92B-6EE4-1135-B5CA-12238425E586}"/>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4018756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EB291-B787-80D8-FAE0-3184611707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F5517-D57E-2055-5AB5-6C9457213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416C4-19B6-AA05-97DF-F4337351E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82B8F382-13BF-BF14-5167-0AEB54592E6D}"/>
              </a:ext>
            </a:extLst>
          </p:cNvPr>
          <p:cNvSpPr/>
          <p:nvPr userDrawn="1"/>
        </p:nvSpPr>
        <p:spPr>
          <a:xfrm>
            <a:off x="0" y="6311900"/>
            <a:ext cx="12192000" cy="5461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7E0C61C7-133F-DFBF-73A1-57E7ACBA97A2}"/>
              </a:ext>
            </a:extLst>
          </p:cNvPr>
          <p:cNvSpPr>
            <a:spLocks noGrp="1"/>
          </p:cNvSpPr>
          <p:nvPr>
            <p:ph type="sldNum" sz="quarter" idx="12"/>
          </p:nvPr>
        </p:nvSpPr>
        <p:spPr/>
        <p:txBody>
          <a:bodyPr/>
          <a:lstStyle/>
          <a:p>
            <a:fld id="{1153F0DE-4B83-C442-BFAF-2E07D848C22E}" type="slidenum">
              <a:rPr lang="en-US" smtClean="0"/>
              <a:t>‹#›</a:t>
            </a:fld>
            <a:endParaRPr lang="en-US"/>
          </a:p>
        </p:txBody>
      </p:sp>
      <p:sp>
        <p:nvSpPr>
          <p:cNvPr id="5" name="Date Placeholder 4">
            <a:extLst>
              <a:ext uri="{FF2B5EF4-FFF2-40B4-BE49-F238E27FC236}">
                <a16:creationId xmlns:a16="http://schemas.microsoft.com/office/drawing/2014/main" id="{ED1C0CCB-DF2D-C03A-1CCA-FD56C277BB43}"/>
              </a:ext>
            </a:extLst>
          </p:cNvPr>
          <p:cNvSpPr>
            <a:spLocks noGrp="1"/>
          </p:cNvSpPr>
          <p:nvPr>
            <p:ph type="dt" sz="half" idx="10"/>
          </p:nvPr>
        </p:nvSpPr>
        <p:spPr/>
        <p:txBody>
          <a:bodyPr/>
          <a:lstStyle/>
          <a:p>
            <a:fld id="{63C3A835-6B96-DD4E-816E-1623D87CB460}" type="datetime1">
              <a:rPr lang="en-US" smtClean="0"/>
              <a:t>2/25/2026</a:t>
            </a:fld>
            <a:endParaRPr lang="en-US"/>
          </a:p>
        </p:txBody>
      </p:sp>
      <p:sp>
        <p:nvSpPr>
          <p:cNvPr id="6" name="Footer Placeholder 5">
            <a:extLst>
              <a:ext uri="{FF2B5EF4-FFF2-40B4-BE49-F238E27FC236}">
                <a16:creationId xmlns:a16="http://schemas.microsoft.com/office/drawing/2014/main" id="{93F025AE-FF16-34D4-D0F1-9372267E4679}"/>
              </a:ext>
            </a:extLst>
          </p:cNvPr>
          <p:cNvSpPr>
            <a:spLocks noGrp="1"/>
          </p:cNvSpPr>
          <p:nvPr>
            <p:ph type="ftr" sz="quarter" idx="11"/>
          </p:nvPr>
        </p:nvSpPr>
        <p:spPr>
          <a:xfrm>
            <a:off x="4038600" y="6356350"/>
            <a:ext cx="4114800" cy="365125"/>
          </a:xfrm>
          <a:prstGeom prst="rect">
            <a:avLst/>
          </a:prstGeom>
        </p:spPr>
        <p:txBody>
          <a:bodyPr/>
          <a:lstStyle>
            <a:lvl1pPr>
              <a:defRPr spc="600">
                <a:solidFill>
                  <a:schemeClr val="bg1">
                    <a:lumMod val="85000"/>
                  </a:schemeClr>
                </a:solidFill>
              </a:defRPr>
            </a:lvl1pPr>
          </a:lstStyle>
          <a:p>
            <a:endParaRPr lang="en-US"/>
          </a:p>
        </p:txBody>
      </p:sp>
    </p:spTree>
    <p:extLst>
      <p:ext uri="{BB962C8B-B14F-4D97-AF65-F5344CB8AC3E}">
        <p14:creationId xmlns:p14="http://schemas.microsoft.com/office/powerpoint/2010/main" val="105823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F1457-25DC-C3BF-5A1C-4AAE59E121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1BD09E-A83E-354F-2198-FE4F8690B9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5A879D-7474-D492-4B80-3A27C60D7B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5EC6AB-7D89-DE58-BCEE-9B5F856B9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2DE786-0F40-BEB6-8796-CA4A27918E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C978D-5672-D09E-56BA-C0F915C90A6E}"/>
              </a:ext>
            </a:extLst>
          </p:cNvPr>
          <p:cNvSpPr>
            <a:spLocks noGrp="1"/>
          </p:cNvSpPr>
          <p:nvPr>
            <p:ph type="dt" sz="half" idx="10"/>
          </p:nvPr>
        </p:nvSpPr>
        <p:spPr/>
        <p:txBody>
          <a:bodyPr/>
          <a:lstStyle/>
          <a:p>
            <a:fld id="{7DEA8DF0-7915-FA4C-87F8-EEAE55B6ECAC}" type="datetime1">
              <a:rPr lang="en-US" smtClean="0"/>
              <a:t>2/25/2026</a:t>
            </a:fld>
            <a:endParaRPr lang="en-US"/>
          </a:p>
        </p:txBody>
      </p:sp>
      <p:sp>
        <p:nvSpPr>
          <p:cNvPr id="8" name="Footer Placeholder 7">
            <a:extLst>
              <a:ext uri="{FF2B5EF4-FFF2-40B4-BE49-F238E27FC236}">
                <a16:creationId xmlns:a16="http://schemas.microsoft.com/office/drawing/2014/main" id="{229EB899-73D3-B550-0F79-DBC93F65058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7FD74DD-5C40-4BCF-8DB4-F680B7EA0265}"/>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4154110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466B-CED1-A10F-16B8-D32DCC8A0F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2EB8B1-BE82-DEBD-650F-EE2ECEF5B59C}"/>
              </a:ext>
            </a:extLst>
          </p:cNvPr>
          <p:cNvSpPr>
            <a:spLocks noGrp="1"/>
          </p:cNvSpPr>
          <p:nvPr>
            <p:ph type="dt" sz="half" idx="10"/>
          </p:nvPr>
        </p:nvSpPr>
        <p:spPr/>
        <p:txBody>
          <a:bodyPr/>
          <a:lstStyle/>
          <a:p>
            <a:fld id="{E649435C-2824-0A4B-9C77-0A1C1E63546D}" type="datetime1">
              <a:rPr lang="en-US" smtClean="0"/>
              <a:t>2/25/2026</a:t>
            </a:fld>
            <a:endParaRPr lang="en-US"/>
          </a:p>
        </p:txBody>
      </p:sp>
      <p:sp>
        <p:nvSpPr>
          <p:cNvPr id="4" name="Footer Placeholder 3">
            <a:extLst>
              <a:ext uri="{FF2B5EF4-FFF2-40B4-BE49-F238E27FC236}">
                <a16:creationId xmlns:a16="http://schemas.microsoft.com/office/drawing/2014/main" id="{A58E3B26-4529-17DE-EC6D-3632BB3DC5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AD104EA-19B3-4779-3E76-E2605B844D4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3213042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56EE4F-C3A8-F88A-5F28-3D2DAD71C501}"/>
              </a:ext>
            </a:extLst>
          </p:cNvPr>
          <p:cNvSpPr>
            <a:spLocks noGrp="1"/>
          </p:cNvSpPr>
          <p:nvPr>
            <p:ph type="dt" sz="half" idx="10"/>
          </p:nvPr>
        </p:nvSpPr>
        <p:spPr/>
        <p:txBody>
          <a:bodyPr/>
          <a:lstStyle/>
          <a:p>
            <a:fld id="{C8B44753-9E55-A144-8763-9B92FEAFEF5E}" type="datetime1">
              <a:rPr lang="en-US" smtClean="0"/>
              <a:t>2/25/2026</a:t>
            </a:fld>
            <a:endParaRPr lang="en-US"/>
          </a:p>
        </p:txBody>
      </p:sp>
      <p:sp>
        <p:nvSpPr>
          <p:cNvPr id="3" name="Footer Placeholder 2">
            <a:extLst>
              <a:ext uri="{FF2B5EF4-FFF2-40B4-BE49-F238E27FC236}">
                <a16:creationId xmlns:a16="http://schemas.microsoft.com/office/drawing/2014/main" id="{D76D6067-02D2-F33B-9A04-DDD1565D1DE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289FF46-1C78-3998-141A-5DC3507FAA6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290160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C8C6-5561-F2F9-BC16-9581473B7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68241-B34A-CF58-3244-4F9681A83D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220617-02D1-16BB-E6D2-818C8C8FA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88CDB8-0767-F511-1BC2-382C6BA27129}"/>
              </a:ext>
            </a:extLst>
          </p:cNvPr>
          <p:cNvSpPr>
            <a:spLocks noGrp="1"/>
          </p:cNvSpPr>
          <p:nvPr>
            <p:ph type="dt" sz="half" idx="10"/>
          </p:nvPr>
        </p:nvSpPr>
        <p:spPr/>
        <p:txBody>
          <a:bodyPr/>
          <a:lstStyle/>
          <a:p>
            <a:fld id="{723E4CDC-22EA-E447-AFFC-0AB9E258020A}" type="datetime1">
              <a:rPr lang="en-US" smtClean="0"/>
              <a:t>2/25/2026</a:t>
            </a:fld>
            <a:endParaRPr lang="en-US"/>
          </a:p>
        </p:txBody>
      </p:sp>
      <p:sp>
        <p:nvSpPr>
          <p:cNvPr id="6" name="Footer Placeholder 5">
            <a:extLst>
              <a:ext uri="{FF2B5EF4-FFF2-40B4-BE49-F238E27FC236}">
                <a16:creationId xmlns:a16="http://schemas.microsoft.com/office/drawing/2014/main" id="{8B951FF5-11E5-6ACD-AE5F-1F0D2DEB994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2892CB1-B6D5-3B82-08FA-8360F2EEC8B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20235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3428-2BE1-2918-501A-2A0A823AD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C14FC2-D9B7-0DE5-0561-47C729B0CB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DB84F9-2CE5-4C6E-A309-4C45FF080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ABEFB-4A0F-9143-CDAC-C7F5E4932D2C}"/>
              </a:ext>
            </a:extLst>
          </p:cNvPr>
          <p:cNvSpPr>
            <a:spLocks noGrp="1"/>
          </p:cNvSpPr>
          <p:nvPr>
            <p:ph type="dt" sz="half" idx="10"/>
          </p:nvPr>
        </p:nvSpPr>
        <p:spPr/>
        <p:txBody>
          <a:bodyPr/>
          <a:lstStyle/>
          <a:p>
            <a:fld id="{AE26C09A-F394-2F45-AAE5-F8CB1BC82056}" type="datetime1">
              <a:rPr lang="en-US" smtClean="0"/>
              <a:t>2/25/2026</a:t>
            </a:fld>
            <a:endParaRPr lang="en-US"/>
          </a:p>
        </p:txBody>
      </p:sp>
      <p:sp>
        <p:nvSpPr>
          <p:cNvPr id="6" name="Footer Placeholder 5">
            <a:extLst>
              <a:ext uri="{FF2B5EF4-FFF2-40B4-BE49-F238E27FC236}">
                <a16:creationId xmlns:a16="http://schemas.microsoft.com/office/drawing/2014/main" id="{D0668B93-7114-3CC3-F652-3CD8A86E66B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2D60C4-0DFD-6CEB-1D53-64E0B189A503}"/>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1948259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3143-B9B7-8FF7-FE78-0DEF20BD53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3EB67-FB3D-792B-9937-2D9BF51FD1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98D36-69FE-0CBA-EC7F-8FB00851A0B9}"/>
              </a:ext>
            </a:extLst>
          </p:cNvPr>
          <p:cNvSpPr>
            <a:spLocks noGrp="1"/>
          </p:cNvSpPr>
          <p:nvPr>
            <p:ph type="dt" sz="half" idx="10"/>
          </p:nvPr>
        </p:nvSpPr>
        <p:spPr/>
        <p:txBody>
          <a:bodyPr/>
          <a:lstStyle/>
          <a:p>
            <a:fld id="{A6FE98BE-F296-F24C-B680-ECFB0C14B302}" type="datetime1">
              <a:rPr lang="en-US" smtClean="0"/>
              <a:t>2/25/2026</a:t>
            </a:fld>
            <a:endParaRPr lang="en-US"/>
          </a:p>
        </p:txBody>
      </p:sp>
      <p:sp>
        <p:nvSpPr>
          <p:cNvPr id="5" name="Footer Placeholder 4">
            <a:extLst>
              <a:ext uri="{FF2B5EF4-FFF2-40B4-BE49-F238E27FC236}">
                <a16:creationId xmlns:a16="http://schemas.microsoft.com/office/drawing/2014/main" id="{ABF68F71-8059-0156-21BF-2CB70D0A02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531199-71C7-86DC-F845-161710668E94}"/>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701021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C00E98-75D0-3E9F-1E8E-B42EC78EA5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DBF8C8-E795-4C18-A983-B540D96F05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F363D-FAA1-3093-5876-63DBB1209ACD}"/>
              </a:ext>
            </a:extLst>
          </p:cNvPr>
          <p:cNvSpPr>
            <a:spLocks noGrp="1"/>
          </p:cNvSpPr>
          <p:nvPr>
            <p:ph type="dt" sz="half" idx="10"/>
          </p:nvPr>
        </p:nvSpPr>
        <p:spPr/>
        <p:txBody>
          <a:bodyPr/>
          <a:lstStyle/>
          <a:p>
            <a:fld id="{17365774-17A1-CF48-A9F4-A4B8AE4EB902}" type="datetime1">
              <a:rPr lang="en-US" smtClean="0"/>
              <a:t>2/25/2026</a:t>
            </a:fld>
            <a:endParaRPr lang="en-US"/>
          </a:p>
        </p:txBody>
      </p:sp>
      <p:sp>
        <p:nvSpPr>
          <p:cNvPr id="5" name="Footer Placeholder 4">
            <a:extLst>
              <a:ext uri="{FF2B5EF4-FFF2-40B4-BE49-F238E27FC236}">
                <a16:creationId xmlns:a16="http://schemas.microsoft.com/office/drawing/2014/main" id="{1D688E60-2131-8A2F-33FD-96D51DA261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E868BFB-7DF2-3762-67CC-29D634431576}"/>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076360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889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B024D1-62EE-2F74-51D2-A5129C2C6417}"/>
              </a:ext>
            </a:extLst>
          </p:cNvPr>
          <p:cNvSpPr/>
          <p:nvPr userDrawn="1"/>
        </p:nvSpPr>
        <p:spPr>
          <a:xfrm>
            <a:off x="0" y="6311900"/>
            <a:ext cx="12192000" cy="5461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600">
                <a:solidFill>
                  <a:schemeClr val="bg1">
                    <a:lumMod val="85000"/>
                  </a:schemeClr>
                </a:solidFill>
              </a:rPr>
              <a:t>YELIN.IO</a:t>
            </a:r>
          </a:p>
        </p:txBody>
      </p:sp>
      <p:sp>
        <p:nvSpPr>
          <p:cNvPr id="2" name="Title Placeholder 1">
            <a:extLst>
              <a:ext uri="{FF2B5EF4-FFF2-40B4-BE49-F238E27FC236}">
                <a16:creationId xmlns:a16="http://schemas.microsoft.com/office/drawing/2014/main" id="{74BC26AE-1299-7838-02A0-DB3DC6779D94}"/>
              </a:ext>
            </a:extLst>
          </p:cNvPr>
          <p:cNvSpPr>
            <a:spLocks noGrp="1"/>
          </p:cNvSpPr>
          <p:nvPr>
            <p:ph type="title"/>
          </p:nvPr>
        </p:nvSpPr>
        <p:spPr>
          <a:xfrm>
            <a:off x="838200" y="365125"/>
            <a:ext cx="10515600" cy="1325563"/>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C6E4833-C376-DDAB-C96A-851832972A62}"/>
              </a:ext>
            </a:extLst>
          </p:cNvPr>
          <p:cNvSpPr>
            <a:spLocks noGrp="1"/>
          </p:cNvSpPr>
          <p:nvPr>
            <p:ph type="body" idx="1"/>
          </p:nvPr>
        </p:nvSpPr>
        <p:spPr>
          <a:xfrm>
            <a:off x="838200" y="1825625"/>
            <a:ext cx="1051560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0757A0-8CF6-4FCA-973E-EBD50D5DB35A}"/>
              </a:ext>
            </a:extLst>
          </p:cNvPr>
          <p:cNvSpPr>
            <a:spLocks noGrp="1"/>
          </p:cNvSpPr>
          <p:nvPr>
            <p:ph type="dt" sz="half" idx="2"/>
          </p:nvPr>
        </p:nvSpPr>
        <p:spPr>
          <a:xfrm>
            <a:off x="838200" y="6402388"/>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AB61B6-DA19-5644-A35B-453407DAB9B2}" type="datetime1">
              <a:rPr lang="en-US" smtClean="0"/>
              <a:t>2/25/2026</a:t>
            </a:fld>
            <a:endParaRPr lang="en-US"/>
          </a:p>
        </p:txBody>
      </p:sp>
      <p:sp>
        <p:nvSpPr>
          <p:cNvPr id="6" name="Slide Number Placeholder 5">
            <a:extLst>
              <a:ext uri="{FF2B5EF4-FFF2-40B4-BE49-F238E27FC236}">
                <a16:creationId xmlns:a16="http://schemas.microsoft.com/office/drawing/2014/main" id="{A250F0E4-7E9C-A8B9-E138-26127711DE46}"/>
              </a:ext>
            </a:extLst>
          </p:cNvPr>
          <p:cNvSpPr>
            <a:spLocks noGrp="1"/>
          </p:cNvSpPr>
          <p:nvPr>
            <p:ph type="sldNum" sz="quarter" idx="4"/>
          </p:nvPr>
        </p:nvSpPr>
        <p:spPr>
          <a:xfrm>
            <a:off x="8610600" y="6402388"/>
            <a:ext cx="2743200" cy="365125"/>
          </a:xfrm>
          <a:prstGeom prst="rect">
            <a:avLst/>
          </a:prstGeom>
        </p:spPr>
        <p:txBody>
          <a:bodyPr vert="horz" lIns="91440" tIns="45720" rIns="91440" bIns="45720" rtlCol="0" anchor="ctr"/>
          <a:lstStyle>
            <a:lvl1pPr algn="r">
              <a:defRPr sz="1200">
                <a:solidFill>
                  <a:schemeClr val="bg1">
                    <a:lumMod val="85000"/>
                  </a:schemeClr>
                </a:solidFill>
              </a:defRPr>
            </a:lvl1pPr>
          </a:lstStyle>
          <a:p>
            <a:fld id="{1153F0DE-4B83-C442-BFAF-2E07D848C22E}" type="slidenum">
              <a:rPr lang="en-US" smtClean="0"/>
              <a:pPr/>
              <a:t>‹#›</a:t>
            </a:fld>
            <a:endParaRPr lang="en-US"/>
          </a:p>
        </p:txBody>
      </p:sp>
      <p:pic>
        <p:nvPicPr>
          <p:cNvPr id="5" name="Picture 2" descr="Eurazeo : partenariat avec iCapital">
            <a:extLst>
              <a:ext uri="{FF2B5EF4-FFF2-40B4-BE49-F238E27FC236}">
                <a16:creationId xmlns:a16="http://schemas.microsoft.com/office/drawing/2014/main" id="{66B81BFE-7A46-C426-C303-10ABB509AA77}"/>
              </a:ext>
            </a:extLst>
          </p:cNvPr>
          <p:cNvPicPr>
            <a:picLocks noChangeAspect="1" noChangeArrowheads="1"/>
          </p:cNvPicPr>
          <p:nvPr userDrawn="1"/>
        </p:nvPicPr>
        <p:blipFill rotWithShape="1">
          <a:blip r:embed="rId14">
            <a:extLst>
              <a:ext uri="{28A0092B-C50C-407E-A947-70E740481C1C}">
                <a14:useLocalDpi xmlns:a14="http://schemas.microsoft.com/office/drawing/2010/main" val="0"/>
              </a:ext>
            </a:extLst>
          </a:blip>
          <a:srcRect l="4986" t="33162" b="35973"/>
          <a:stretch>
            <a:fillRect/>
          </a:stretch>
        </p:blipFill>
        <p:spPr bwMode="auto">
          <a:xfrm>
            <a:off x="9951962" y="365125"/>
            <a:ext cx="2062780" cy="357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305984"/>
      </p:ext>
    </p:extLst>
  </p:cSld>
  <p:clrMap bg1="lt1" tx1="dk1" bg2="lt2" tx2="dk2" accent1="accent1" accent2="accent2" accent3="accent3" accent4="accent4" accent5="accent5" accent6="accent6" hlink="hlink" folHlink="folHlink"/>
  <p:sldLayoutIdLst>
    <p:sldLayoutId id="2147483686" r:id="rId1"/>
    <p:sldLayoutId id="2147483685" r:id="rId2"/>
    <p:sldLayoutId id="2147483684" r:id="rId3"/>
    <p:sldLayoutId id="2147483683" r:id="rId4"/>
    <p:sldLayoutId id="2147483682" r:id="rId5"/>
    <p:sldLayoutId id="2147483681" r:id="rId6"/>
    <p:sldLayoutId id="2147483680" r:id="rId7"/>
    <p:sldLayoutId id="2147483679" r:id="rId8"/>
    <p:sldLayoutId id="2147483678" r:id="rId9"/>
    <p:sldLayoutId id="2147483677" r:id="rId10"/>
    <p:sldLayoutId id="2147483676" r:id="rId11"/>
    <p:sldLayoutId id="2147483690" r:id="rId12"/>
  </p:sldLayoutIdLst>
  <p:hf hdr="0" ftr="0" dt="0"/>
  <p:txStyles>
    <p:title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p15:clr>
            <a:srgbClr val="F26B43"/>
          </p15:clr>
        </p15:guide>
        <p15:guide id="2" pos="7152">
          <p15:clr>
            <a:srgbClr val="F26B43"/>
          </p15:clr>
        </p15:guide>
        <p15:guide id="3" orient="horz" pos="1152">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51_7F2490A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14F_DAD4AF6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14E_3B5487F6.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51AFA-717A-CF7F-9E40-5B3FCAB57964}"/>
              </a:ext>
            </a:extLst>
          </p:cNvPr>
          <p:cNvSpPr>
            <a:spLocks noGrp="1"/>
          </p:cNvSpPr>
          <p:nvPr>
            <p:ph type="ctrTitle"/>
          </p:nvPr>
        </p:nvSpPr>
        <p:spPr>
          <a:xfrm>
            <a:off x="838200" y="3265473"/>
            <a:ext cx="9680038" cy="2387600"/>
          </a:xfrm>
        </p:spPr>
        <p:txBody>
          <a:bodyPr anchor="t"/>
          <a:lstStyle/>
          <a:p>
            <a:pPr algn="l"/>
            <a:r>
              <a:rPr lang="en-US" sz="3200" b="1"/>
              <a:t>Cross-Portfolio Hackathon: AI Products</a:t>
            </a:r>
            <a:endParaRPr lang="en-US" sz="3200" i="1"/>
          </a:p>
        </p:txBody>
      </p:sp>
      <p:sp>
        <p:nvSpPr>
          <p:cNvPr id="4" name="Slide Number Placeholder 3">
            <a:extLst>
              <a:ext uri="{FF2B5EF4-FFF2-40B4-BE49-F238E27FC236}">
                <a16:creationId xmlns:a16="http://schemas.microsoft.com/office/drawing/2014/main" id="{3C8392B5-F82D-0235-4B59-579391F15AA3}"/>
              </a:ext>
            </a:extLst>
          </p:cNvPr>
          <p:cNvSpPr>
            <a:spLocks noGrp="1"/>
          </p:cNvSpPr>
          <p:nvPr>
            <p:ph type="sldNum" sz="quarter" idx="12"/>
          </p:nvPr>
        </p:nvSpPr>
        <p:spPr/>
        <p:txBody>
          <a:bodyPr/>
          <a:lstStyle/>
          <a:p>
            <a:fld id="{1153F0DE-4B83-C442-BFAF-2E07D848C22E}" type="slidenum">
              <a:rPr lang="en-US" smtClean="0"/>
              <a:t>1</a:t>
            </a:fld>
            <a:endParaRPr lang="en-US"/>
          </a:p>
        </p:txBody>
      </p:sp>
      <p:sp>
        <p:nvSpPr>
          <p:cNvPr id="3" name="Title 1">
            <a:extLst>
              <a:ext uri="{FF2B5EF4-FFF2-40B4-BE49-F238E27FC236}">
                <a16:creationId xmlns:a16="http://schemas.microsoft.com/office/drawing/2014/main" id="{323B27F0-8DF6-5A2A-6572-35DEDA6D3456}"/>
              </a:ext>
            </a:extLst>
          </p:cNvPr>
          <p:cNvSpPr txBox="1">
            <a:spLocks/>
          </p:cNvSpPr>
          <p:nvPr/>
        </p:nvSpPr>
        <p:spPr>
          <a:xfrm>
            <a:off x="698270" y="108066"/>
            <a:ext cx="1875905" cy="440575"/>
          </a:xfrm>
          <a:prstGeom prst="rect">
            <a:avLst/>
          </a:prstGeom>
          <a:solidFill>
            <a:schemeClr val="bg1"/>
          </a:solidFill>
        </p:spPr>
        <p:txBody>
          <a:bodyPr vert="horz" lIns="0" tIns="0" rIns="0" bIns="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l"/>
            <a:endParaRPr lang="en-US" sz="3600" i="1"/>
          </a:p>
        </p:txBody>
      </p:sp>
    </p:spTree>
    <p:extLst>
      <p:ext uri="{BB962C8B-B14F-4D97-AF65-F5344CB8AC3E}">
        <p14:creationId xmlns:p14="http://schemas.microsoft.com/office/powerpoint/2010/main" val="750466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3B22C-001A-2DCB-1E44-C377058E4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E8C5B-2181-8B4B-292E-B59700EFE370}"/>
              </a:ext>
            </a:extLst>
          </p:cNvPr>
          <p:cNvSpPr>
            <a:spLocks noGrp="1"/>
          </p:cNvSpPr>
          <p:nvPr>
            <p:ph type="title"/>
          </p:nvPr>
        </p:nvSpPr>
        <p:spPr/>
        <p:txBody>
          <a:bodyPr/>
          <a:lstStyle/>
          <a:p>
            <a:r>
              <a:rPr lang="en-US" b="1"/>
              <a:t>AI Product Hackathon</a:t>
            </a:r>
            <a:br>
              <a:rPr lang="en-US" b="1"/>
            </a:br>
            <a:r>
              <a:rPr lang="en-US"/>
              <a:t>Our Understanding Based On February 12</a:t>
            </a:r>
            <a:r>
              <a:rPr lang="en-US" baseline="30000"/>
              <a:t>th</a:t>
            </a:r>
            <a:r>
              <a:rPr lang="en-US"/>
              <a:t> Call</a:t>
            </a:r>
            <a:endParaRPr lang="en-US" b="1"/>
          </a:p>
        </p:txBody>
      </p:sp>
      <p:sp>
        <p:nvSpPr>
          <p:cNvPr id="7" name="Slide Number Placeholder 6">
            <a:extLst>
              <a:ext uri="{FF2B5EF4-FFF2-40B4-BE49-F238E27FC236}">
                <a16:creationId xmlns:a16="http://schemas.microsoft.com/office/drawing/2014/main" id="{466BE2E4-A995-2013-D0E4-F5FE13E5BA79}"/>
              </a:ext>
            </a:extLst>
          </p:cNvPr>
          <p:cNvSpPr>
            <a:spLocks noGrp="1"/>
          </p:cNvSpPr>
          <p:nvPr>
            <p:ph type="sldNum" sz="quarter" idx="12"/>
          </p:nvPr>
        </p:nvSpPr>
        <p:spPr/>
        <p:txBody>
          <a:bodyPr/>
          <a:lstStyle/>
          <a:p>
            <a:fld id="{1153F0DE-4B83-C442-BFAF-2E07D848C22E}" type="slidenum">
              <a:rPr lang="en-US" smtClean="0"/>
              <a:t>3</a:t>
            </a:fld>
            <a:endParaRPr lang="en-US"/>
          </a:p>
        </p:txBody>
      </p:sp>
      <p:sp>
        <p:nvSpPr>
          <p:cNvPr id="3" name="Content Placeholder 2">
            <a:extLst>
              <a:ext uri="{FF2B5EF4-FFF2-40B4-BE49-F238E27FC236}">
                <a16:creationId xmlns:a16="http://schemas.microsoft.com/office/drawing/2014/main" id="{D785C05E-B1AE-AFA4-8BBD-9226EF65B119}"/>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An in-person, participant-led hackathon focused on building AI products, backed by strategic partners and sustained through structured post-event accountability, to deliver measurable portfolio impact.</a:t>
            </a:r>
          </a:p>
          <a:p>
            <a:endParaRPr lang="en-US" sz="1800" b="0"/>
          </a:p>
        </p:txBody>
      </p:sp>
      <p:sp>
        <p:nvSpPr>
          <p:cNvPr id="9" name="CardText 00">
            <a:extLst>
              <a:ext uri="{FF2B5EF4-FFF2-40B4-BE49-F238E27FC236}">
                <a16:creationId xmlns:a16="http://schemas.microsoft.com/office/drawing/2014/main" id="{C526D3E6-D5BF-5764-C32D-59B6C573407F}"/>
              </a:ext>
            </a:extLst>
          </p:cNvPr>
          <p:cNvSpPr/>
          <p:nvPr/>
        </p:nvSpPr>
        <p:spPr>
          <a:xfrm>
            <a:off x="838202" y="2634238"/>
            <a:ext cx="4474632" cy="1259505"/>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Strategic Focus</a:t>
            </a:r>
          </a:p>
          <a:p>
            <a:pPr defTabSz="1219170">
              <a:lnSpc>
                <a:spcPts val="1867"/>
              </a:lnSpc>
              <a:spcAft>
                <a:spcPts val="800"/>
              </a:spcAft>
            </a:pPr>
            <a:r>
              <a:rPr lang="en-US" sz="1200" err="1">
                <a:solidFill>
                  <a:srgbClr val="3D4F5F"/>
                </a:solidFill>
                <a:latin typeface="Arial" panose="020B0604020202020204" pitchFamily="34" charset="0"/>
                <a:cs typeface="Arial" panose="020B0604020202020204" pitchFamily="34" charset="0"/>
              </a:rPr>
              <a:t>Prioritise</a:t>
            </a:r>
            <a:r>
              <a:rPr lang="en-US" sz="1200">
                <a:solidFill>
                  <a:srgbClr val="3D4F5F"/>
                </a:solidFill>
                <a:latin typeface="Arial" panose="020B0604020202020204" pitchFamily="34" charset="0"/>
                <a:cs typeface="Arial" panose="020B0604020202020204" pitchFamily="34" charset="0"/>
              </a:rPr>
              <a:t> Product &amp; AI capability development over AI tooling. Deliver high-impact outcomes that resonate with portfolio leadership and serve as a compelling proof point for LPs and fundraising communications.</a:t>
            </a:r>
          </a:p>
        </p:txBody>
      </p:sp>
      <p:sp>
        <p:nvSpPr>
          <p:cNvPr id="16" name="CardText 10">
            <a:extLst>
              <a:ext uri="{FF2B5EF4-FFF2-40B4-BE49-F238E27FC236}">
                <a16:creationId xmlns:a16="http://schemas.microsoft.com/office/drawing/2014/main" id="{9AF8671C-00F5-A8AE-3E4B-C11CCCA6E360}"/>
              </a:ext>
            </a:extLst>
          </p:cNvPr>
          <p:cNvSpPr/>
          <p:nvPr/>
        </p:nvSpPr>
        <p:spPr>
          <a:xfrm>
            <a:off x="6671733" y="2634238"/>
            <a:ext cx="4385733" cy="1259505"/>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In-Person Collaboration</a:t>
            </a:r>
          </a:p>
          <a:p>
            <a:pPr defTabSz="1219170">
              <a:lnSpc>
                <a:spcPts val="1867"/>
              </a:lnSpc>
              <a:spcAft>
                <a:spcPts val="800"/>
              </a:spcAft>
            </a:pPr>
            <a:r>
              <a:rPr lang="en-US" sz="1200">
                <a:solidFill>
                  <a:srgbClr val="3D4F5F"/>
                </a:solidFill>
                <a:latin typeface="Arial" panose="020B0604020202020204" pitchFamily="34" charset="0"/>
                <a:cs typeface="Arial" panose="020B0604020202020204" pitchFamily="34" charset="0"/>
              </a:rPr>
              <a:t>An in-person format is essential to foster cross-portfolio energy, build relationships, and </a:t>
            </a:r>
            <a:r>
              <a:rPr lang="en-US" sz="1200" err="1">
                <a:solidFill>
                  <a:srgbClr val="3D4F5F"/>
                </a:solidFill>
                <a:latin typeface="Arial" panose="020B0604020202020204" pitchFamily="34" charset="0"/>
                <a:cs typeface="Arial" panose="020B0604020202020204" pitchFamily="34" charset="0"/>
              </a:rPr>
              <a:t>maximise</a:t>
            </a:r>
            <a:r>
              <a:rPr lang="en-US" sz="1200">
                <a:solidFill>
                  <a:srgbClr val="3D4F5F"/>
                </a:solidFill>
                <a:latin typeface="Arial" panose="020B0604020202020204" pitchFamily="34" charset="0"/>
                <a:cs typeface="Arial" panose="020B0604020202020204" pitchFamily="34" charset="0"/>
              </a:rPr>
              <a:t> creative collaboration with 20–30 portfolio companies across Elevate and Capital funds.</a:t>
            </a:r>
          </a:p>
        </p:txBody>
      </p:sp>
      <p:sp>
        <p:nvSpPr>
          <p:cNvPr id="19" name="CardText 01">
            <a:extLst>
              <a:ext uri="{FF2B5EF4-FFF2-40B4-BE49-F238E27FC236}">
                <a16:creationId xmlns:a16="http://schemas.microsoft.com/office/drawing/2014/main" id="{B84B595A-45CA-7430-6248-A1396F3A2AFE}"/>
              </a:ext>
            </a:extLst>
          </p:cNvPr>
          <p:cNvSpPr/>
          <p:nvPr/>
        </p:nvSpPr>
        <p:spPr>
          <a:xfrm>
            <a:off x="838201" y="4148052"/>
            <a:ext cx="4639733" cy="1119940"/>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Participant-Led Projects</a:t>
            </a:r>
          </a:p>
          <a:p>
            <a:pPr defTabSz="1219170">
              <a:lnSpc>
                <a:spcPts val="1867"/>
              </a:lnSpc>
            </a:pPr>
            <a:r>
              <a:rPr lang="en-US" sz="1200">
                <a:solidFill>
                  <a:srgbClr val="3D4F5F"/>
                </a:solidFill>
                <a:latin typeface="Arial" panose="020B0604020202020204" pitchFamily="34" charset="0"/>
                <a:cs typeface="Arial" panose="020B0604020202020204" pitchFamily="34" charset="0"/>
              </a:rPr>
              <a:t>Teams of 4 - 6 per company (~125 participants) will propose leadership-endorsed (CEO approved) projects addressing genuine operational challenges and ensuring real-world applicability.</a:t>
            </a:r>
          </a:p>
        </p:txBody>
      </p:sp>
      <p:sp>
        <p:nvSpPr>
          <p:cNvPr id="22" name="CardText 11">
            <a:extLst>
              <a:ext uri="{FF2B5EF4-FFF2-40B4-BE49-F238E27FC236}">
                <a16:creationId xmlns:a16="http://schemas.microsoft.com/office/drawing/2014/main" id="{5DB19F69-0595-6228-8DD0-D792EFAD8D9A}"/>
              </a:ext>
            </a:extLst>
          </p:cNvPr>
          <p:cNvSpPr/>
          <p:nvPr/>
        </p:nvSpPr>
        <p:spPr>
          <a:xfrm>
            <a:off x="6671735" y="4148051"/>
            <a:ext cx="4385732" cy="1050966"/>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Ecosystem &amp; Accountability</a:t>
            </a:r>
          </a:p>
          <a:p>
            <a:pPr defTabSz="1219170">
              <a:lnSpc>
                <a:spcPts val="1867"/>
              </a:lnSpc>
            </a:pPr>
            <a:r>
              <a:rPr lang="en-US" sz="1200">
                <a:solidFill>
                  <a:srgbClr val="3D4F5F"/>
                </a:solidFill>
                <a:latin typeface="Arial" panose="020B0604020202020204" pitchFamily="34" charset="0"/>
                <a:cs typeface="Arial" panose="020B0604020202020204" pitchFamily="34" charset="0"/>
              </a:rPr>
              <a:t>Strategic partners (AWS, Microsoft, OpenAI) provide credits and on-site expertise. Partners see Eurazeo as an available and valuable partner for deeper engagement. </a:t>
            </a:r>
          </a:p>
        </p:txBody>
      </p:sp>
      <p:pic>
        <p:nvPicPr>
          <p:cNvPr id="23" name="Graphic 112" descr="Strategic Focus icon">
            <a:extLst>
              <a:ext uri="{FF2B5EF4-FFF2-40B4-BE49-F238E27FC236}">
                <a16:creationId xmlns:a16="http://schemas.microsoft.com/office/drawing/2014/main" id="{5576D0DD-69AA-596D-EA1B-6C3D757306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84622" y="2932623"/>
            <a:ext cx="508000" cy="508000"/>
          </a:xfrm>
          <a:prstGeom prst="rect">
            <a:avLst/>
          </a:prstGeom>
        </p:spPr>
      </p:pic>
      <p:pic>
        <p:nvPicPr>
          <p:cNvPr id="24" name="Graphic 113" descr="Collaboration icon">
            <a:extLst>
              <a:ext uri="{FF2B5EF4-FFF2-40B4-BE49-F238E27FC236}">
                <a16:creationId xmlns:a16="http://schemas.microsoft.com/office/drawing/2014/main" id="{BFBD5E4B-F385-05D3-7ACD-964EA1BBBF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57466" y="2932623"/>
            <a:ext cx="508000" cy="508000"/>
          </a:xfrm>
          <a:prstGeom prst="rect">
            <a:avLst/>
          </a:prstGeom>
        </p:spPr>
      </p:pic>
      <p:pic>
        <p:nvPicPr>
          <p:cNvPr id="25" name="Graphic 114" descr="Innovation icon">
            <a:extLst>
              <a:ext uri="{FF2B5EF4-FFF2-40B4-BE49-F238E27FC236}">
                <a16:creationId xmlns:a16="http://schemas.microsoft.com/office/drawing/2014/main" id="{0AAEFFA7-2AB0-4837-A418-8E4A7BB702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84622" y="4540130"/>
            <a:ext cx="508000" cy="508000"/>
          </a:xfrm>
          <a:prstGeom prst="rect">
            <a:avLst/>
          </a:prstGeom>
        </p:spPr>
      </p:pic>
      <p:pic>
        <p:nvPicPr>
          <p:cNvPr id="26" name="Graphic 115" descr="Partnership icon">
            <a:extLst>
              <a:ext uri="{FF2B5EF4-FFF2-40B4-BE49-F238E27FC236}">
                <a16:creationId xmlns:a16="http://schemas.microsoft.com/office/drawing/2014/main" id="{6FB37368-E03B-A5E7-0829-94FB48C6E8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057466" y="4540130"/>
            <a:ext cx="508000" cy="508000"/>
          </a:xfrm>
          <a:prstGeom prst="rect">
            <a:avLst/>
          </a:prstGeom>
        </p:spPr>
      </p:pic>
      <p:sp>
        <p:nvSpPr>
          <p:cNvPr id="28" name="CardText 01">
            <a:extLst>
              <a:ext uri="{FF2B5EF4-FFF2-40B4-BE49-F238E27FC236}">
                <a16:creationId xmlns:a16="http://schemas.microsoft.com/office/drawing/2014/main" id="{C99CD149-943D-56DE-62E8-4D2CF3775D55}"/>
              </a:ext>
            </a:extLst>
          </p:cNvPr>
          <p:cNvSpPr/>
          <p:nvPr/>
        </p:nvSpPr>
        <p:spPr>
          <a:xfrm>
            <a:off x="838201" y="5355092"/>
            <a:ext cx="4639733" cy="695395"/>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Awards for Recognition</a:t>
            </a:r>
          </a:p>
          <a:p>
            <a:pPr defTabSz="1219170">
              <a:lnSpc>
                <a:spcPts val="1867"/>
              </a:lnSpc>
            </a:pPr>
            <a:r>
              <a:rPr lang="en-US" sz="1200">
                <a:solidFill>
                  <a:srgbClr val="3D4F5F"/>
                </a:solidFill>
                <a:latin typeface="Arial" panose="020B0604020202020204" pitchFamily="34" charset="0"/>
                <a:cs typeface="Arial" panose="020B0604020202020204" pitchFamily="34" charset="0"/>
              </a:rPr>
              <a:t>Small symbolic awards to drive competition motivation. Prestige of winning can be a key motivator, even if the monetary amount is low.</a:t>
            </a:r>
          </a:p>
        </p:txBody>
      </p:sp>
      <p:pic>
        <p:nvPicPr>
          <p:cNvPr id="29" name="Graphic 116" descr="Award trophy icon">
            <a:extLst>
              <a:ext uri="{FF2B5EF4-FFF2-40B4-BE49-F238E27FC236}">
                <a16:creationId xmlns:a16="http://schemas.microsoft.com/office/drawing/2014/main" id="{4F522623-6916-8DA1-4436-E5C95EF230C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84622" y="5542487"/>
            <a:ext cx="508000" cy="508000"/>
          </a:xfrm>
          <a:prstGeom prst="rect">
            <a:avLst/>
          </a:prstGeom>
        </p:spPr>
      </p:pic>
      <p:sp>
        <p:nvSpPr>
          <p:cNvPr id="32" name="CardText 01">
            <a:extLst>
              <a:ext uri="{FF2B5EF4-FFF2-40B4-BE49-F238E27FC236}">
                <a16:creationId xmlns:a16="http://schemas.microsoft.com/office/drawing/2014/main" id="{1688FC2E-86D1-8383-4E7E-11B18AF146C8}"/>
              </a:ext>
            </a:extLst>
          </p:cNvPr>
          <p:cNvSpPr/>
          <p:nvPr/>
        </p:nvSpPr>
        <p:spPr>
          <a:xfrm>
            <a:off x="6671734" y="5355092"/>
            <a:ext cx="4639733" cy="695395"/>
          </a:xfrm>
          <a:prstGeom prst="rect">
            <a:avLst/>
          </a:prstGeom>
          <a:noFill/>
          <a:ln>
            <a:noFill/>
          </a:ln>
        </p:spPr>
        <p:txBody>
          <a:bodyPr wrap="square" lIns="0" tIns="0" rIns="0" bIns="0" anchor="t"/>
          <a:lstStyle/>
          <a:p>
            <a:pPr defTabSz="1219170">
              <a:spcAft>
                <a:spcPts val="533"/>
              </a:spcAft>
            </a:pPr>
            <a:r>
              <a:rPr lang="en-US" sz="1200" b="1">
                <a:solidFill>
                  <a:srgbClr val="1A1A2E"/>
                </a:solidFill>
                <a:latin typeface="Arial" panose="020B0604020202020204" pitchFamily="34" charset="0"/>
                <a:cs typeface="Arial" panose="020B0604020202020204" pitchFamily="34" charset="0"/>
              </a:rPr>
              <a:t>Post-event Tracking &amp; Community Networking</a:t>
            </a:r>
          </a:p>
          <a:p>
            <a:pPr defTabSz="1219170">
              <a:lnSpc>
                <a:spcPts val="1867"/>
              </a:lnSpc>
            </a:pPr>
            <a:r>
              <a:rPr lang="en-US" altLang="en-US" sz="1200">
                <a:solidFill>
                  <a:srgbClr val="3D4F5F"/>
                </a:solidFill>
                <a:latin typeface="Arial" panose="020B0604020202020204" pitchFamily="34" charset="0"/>
                <a:cs typeface="Arial" panose="020B0604020202020204" pitchFamily="34" charset="0"/>
              </a:rPr>
              <a:t>Post-event tracking (90/180 days) is critical to convert hackathon output into lasting value. </a:t>
            </a:r>
            <a:endParaRPr lang="en-US" sz="1200">
              <a:solidFill>
                <a:srgbClr val="3D4F5F"/>
              </a:solidFill>
              <a:latin typeface="Arial" panose="020B0604020202020204" pitchFamily="34" charset="0"/>
              <a:cs typeface="Arial" panose="020B0604020202020204" pitchFamily="34" charset="0"/>
            </a:endParaRPr>
          </a:p>
        </p:txBody>
      </p:sp>
      <p:pic>
        <p:nvPicPr>
          <p:cNvPr id="33" name="Graphic 116" descr="Award trophy icon">
            <a:extLst>
              <a:ext uri="{FF2B5EF4-FFF2-40B4-BE49-F238E27FC236}">
                <a16:creationId xmlns:a16="http://schemas.microsoft.com/office/drawing/2014/main" id="{800AFFC0-44B6-5CC5-83D3-E68D5B8F637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057467" y="5513181"/>
            <a:ext cx="508000" cy="508000"/>
          </a:xfrm>
          <a:prstGeom prst="rect">
            <a:avLst/>
          </a:prstGeom>
        </p:spPr>
      </p:pic>
    </p:spTree>
    <p:extLst>
      <p:ext uri="{BB962C8B-B14F-4D97-AF65-F5344CB8AC3E}">
        <p14:creationId xmlns:p14="http://schemas.microsoft.com/office/powerpoint/2010/main" val="202462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7D302-1679-E0E6-71EF-C48F259D9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107DB-9C19-8391-F3C3-73A367C3DBD2}"/>
              </a:ext>
            </a:extLst>
          </p:cNvPr>
          <p:cNvSpPr>
            <a:spLocks noGrp="1"/>
          </p:cNvSpPr>
          <p:nvPr>
            <p:ph type="title"/>
          </p:nvPr>
        </p:nvSpPr>
        <p:spPr/>
        <p:txBody>
          <a:bodyPr/>
          <a:lstStyle/>
          <a:p>
            <a:r>
              <a:rPr lang="en-US" b="1"/>
              <a:t>AI Product Hackathon</a:t>
            </a:r>
            <a:br>
              <a:rPr lang="en-US" b="1"/>
            </a:br>
            <a:r>
              <a:rPr lang="en-US"/>
              <a:t>Why This Approach and Why Now</a:t>
            </a:r>
            <a:endParaRPr lang="en-US" b="1"/>
          </a:p>
        </p:txBody>
      </p:sp>
      <p:sp>
        <p:nvSpPr>
          <p:cNvPr id="7" name="Slide Number Placeholder 6">
            <a:extLst>
              <a:ext uri="{FF2B5EF4-FFF2-40B4-BE49-F238E27FC236}">
                <a16:creationId xmlns:a16="http://schemas.microsoft.com/office/drawing/2014/main" id="{CA1FED09-A1CE-A4DC-0BEF-2EDCFB425F41}"/>
              </a:ext>
            </a:extLst>
          </p:cNvPr>
          <p:cNvSpPr>
            <a:spLocks noGrp="1"/>
          </p:cNvSpPr>
          <p:nvPr>
            <p:ph type="sldNum" sz="quarter" idx="12"/>
          </p:nvPr>
        </p:nvSpPr>
        <p:spPr/>
        <p:txBody>
          <a:bodyPr/>
          <a:lstStyle/>
          <a:p>
            <a:fld id="{1153F0DE-4B83-C442-BFAF-2E07D848C22E}" type="slidenum">
              <a:rPr lang="en-US" smtClean="0"/>
              <a:t>2</a:t>
            </a:fld>
            <a:endParaRPr lang="en-US"/>
          </a:p>
        </p:txBody>
      </p:sp>
      <p:grpSp>
        <p:nvGrpSpPr>
          <p:cNvPr id="17" name="Group 16">
            <a:extLst>
              <a:ext uri="{FF2B5EF4-FFF2-40B4-BE49-F238E27FC236}">
                <a16:creationId xmlns:a16="http://schemas.microsoft.com/office/drawing/2014/main" id="{EB72FCC2-3C78-F264-9196-024CDE13D07E}"/>
              </a:ext>
            </a:extLst>
          </p:cNvPr>
          <p:cNvGrpSpPr/>
          <p:nvPr/>
        </p:nvGrpSpPr>
        <p:grpSpPr>
          <a:xfrm>
            <a:off x="838200" y="1882458"/>
            <a:ext cx="10515600" cy="4328160"/>
            <a:chOff x="839788" y="1735819"/>
            <a:chExt cx="10972800" cy="4328160"/>
          </a:xfrm>
        </p:grpSpPr>
        <p:sp>
          <p:nvSpPr>
            <p:cNvPr id="4" name="Shape 1">
              <a:extLst>
                <a:ext uri="{FF2B5EF4-FFF2-40B4-BE49-F238E27FC236}">
                  <a16:creationId xmlns:a16="http://schemas.microsoft.com/office/drawing/2014/main" id="{EECB82BF-366F-38C4-D1F4-1F2DAAE2F748}"/>
                </a:ext>
              </a:extLst>
            </p:cNvPr>
            <p:cNvSpPr/>
            <p:nvPr/>
          </p:nvSpPr>
          <p:spPr>
            <a:xfrm>
              <a:off x="839788" y="1735819"/>
              <a:ext cx="1097280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8FC02FE7-0656-476A-B0B7-409B9B55E033}"/>
                </a:ext>
              </a:extLst>
            </p:cNvPr>
            <p:cNvSpPr/>
            <p:nvPr/>
          </p:nvSpPr>
          <p:spPr>
            <a:xfrm>
              <a:off x="839788" y="1735819"/>
              <a:ext cx="97536" cy="1280160"/>
            </a:xfrm>
            <a:prstGeom prst="rect">
              <a:avLst/>
            </a:prstGeom>
            <a:solidFill>
              <a:srgbClr val="028090"/>
            </a:solidFill>
            <a:ln/>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6" name="Text 3">
              <a:extLst>
                <a:ext uri="{FF2B5EF4-FFF2-40B4-BE49-F238E27FC236}">
                  <a16:creationId xmlns:a16="http://schemas.microsoft.com/office/drawing/2014/main" id="{5EB631A9-E181-466F-02E4-A70250850AEA}"/>
                </a:ext>
              </a:extLst>
            </p:cNvPr>
            <p:cNvSpPr/>
            <p:nvPr/>
          </p:nvSpPr>
          <p:spPr>
            <a:xfrm>
              <a:off x="1266508" y="1882123"/>
              <a:ext cx="2438400" cy="390144"/>
            </a:xfrm>
            <a:prstGeom prst="rect">
              <a:avLst/>
            </a:prstGeom>
            <a:noFill/>
            <a:ln/>
          </p:spPr>
          <p:txBody>
            <a:bodyPr wrap="square" lIns="0" tIns="0" rIns="0" bIns="0" rtlCol="0" anchor="ctr"/>
            <a:lstStyle/>
            <a:p>
              <a:pPr defTabSz="1219170"/>
              <a:r>
                <a:rPr lang="en-US" sz="1467" b="1" kern="0" spc="267">
                  <a:solidFill>
                    <a:srgbClr val="028090"/>
                  </a:solidFill>
                  <a:latin typeface="Arial" panose="020B0604020202020204" pitchFamily="34" charset="0"/>
                  <a:ea typeface="Calibri" pitchFamily="34" charset="-122"/>
                  <a:cs typeface="Arial" panose="020B0604020202020204" pitchFamily="34" charset="0"/>
                </a:rPr>
                <a:t>PRIMARY</a:t>
              </a:r>
              <a:endParaRPr lang="en-US" sz="1467">
                <a:solidFill>
                  <a:prstClr val="black"/>
                </a:solidFill>
                <a:latin typeface="Arial" panose="020B0604020202020204" pitchFamily="34" charset="0"/>
                <a:cs typeface="Arial" panose="020B0604020202020204" pitchFamily="34" charset="0"/>
              </a:endParaRPr>
            </a:p>
          </p:txBody>
        </p:sp>
        <p:sp>
          <p:nvSpPr>
            <p:cNvPr id="8" name="Text 4">
              <a:extLst>
                <a:ext uri="{FF2B5EF4-FFF2-40B4-BE49-F238E27FC236}">
                  <a16:creationId xmlns:a16="http://schemas.microsoft.com/office/drawing/2014/main" id="{78D056B2-35E9-EF80-7705-B71F3254079F}"/>
                </a:ext>
              </a:extLst>
            </p:cNvPr>
            <p:cNvSpPr/>
            <p:nvPr/>
          </p:nvSpPr>
          <p:spPr>
            <a:xfrm>
              <a:off x="1266508" y="2284459"/>
              <a:ext cx="10241280" cy="548640"/>
            </a:xfrm>
            <a:prstGeom prst="rect">
              <a:avLst/>
            </a:prstGeom>
            <a:noFill/>
            <a:ln/>
          </p:spPr>
          <p:txBody>
            <a:bodyPr wrap="square" lIns="0" tIns="0" rIns="0" bIns="0" rtlCol="0" anchor="ctr"/>
            <a:lstStyle/>
            <a:p>
              <a:pPr defTabSz="1219170"/>
              <a:r>
                <a:rPr lang="en-US" sz="1867">
                  <a:solidFill>
                    <a:srgbClr val="1A1A2E"/>
                  </a:solidFill>
                  <a:latin typeface="Arial" panose="020B0604020202020204" pitchFamily="34" charset="0"/>
                  <a:ea typeface="Calibri" pitchFamily="34" charset="-122"/>
                  <a:cs typeface="Arial" panose="020B0604020202020204" pitchFamily="34" charset="0"/>
                </a:rPr>
                <a:t>Surface and build real AI use cases within 24 hours, generating real portfolio P&amp;L impact</a:t>
              </a:r>
              <a:endParaRPr lang="en-US" sz="1867">
                <a:solidFill>
                  <a:prstClr val="black"/>
                </a:solidFill>
                <a:latin typeface="Arial" panose="020B0604020202020204" pitchFamily="34" charset="0"/>
                <a:cs typeface="Arial" panose="020B0604020202020204" pitchFamily="34" charset="0"/>
              </a:endParaRPr>
            </a:p>
          </p:txBody>
        </p:sp>
        <p:sp>
          <p:nvSpPr>
            <p:cNvPr id="9" name="Shape 5">
              <a:extLst>
                <a:ext uri="{FF2B5EF4-FFF2-40B4-BE49-F238E27FC236}">
                  <a16:creationId xmlns:a16="http://schemas.microsoft.com/office/drawing/2014/main" id="{F633E288-208D-4B02-43B4-0FB0518562C0}"/>
                </a:ext>
              </a:extLst>
            </p:cNvPr>
            <p:cNvSpPr/>
            <p:nvPr/>
          </p:nvSpPr>
          <p:spPr>
            <a:xfrm>
              <a:off x="839788" y="3259819"/>
              <a:ext cx="1097280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10" name="Shape 6">
              <a:extLst>
                <a:ext uri="{FF2B5EF4-FFF2-40B4-BE49-F238E27FC236}">
                  <a16:creationId xmlns:a16="http://schemas.microsoft.com/office/drawing/2014/main" id="{F787B3CB-E999-AB6A-8C29-FDD12E6C8EB8}"/>
                </a:ext>
              </a:extLst>
            </p:cNvPr>
            <p:cNvSpPr/>
            <p:nvPr/>
          </p:nvSpPr>
          <p:spPr>
            <a:xfrm>
              <a:off x="839788" y="3259819"/>
              <a:ext cx="97536" cy="1280160"/>
            </a:xfrm>
            <a:prstGeom prst="rect">
              <a:avLst/>
            </a:prstGeom>
            <a:solidFill>
              <a:srgbClr val="00A896"/>
            </a:solidFill>
            <a:ln/>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11" name="Text 7">
              <a:extLst>
                <a:ext uri="{FF2B5EF4-FFF2-40B4-BE49-F238E27FC236}">
                  <a16:creationId xmlns:a16="http://schemas.microsoft.com/office/drawing/2014/main" id="{1CCDC9BB-D912-837B-0F4A-E1D6E72E5745}"/>
                </a:ext>
              </a:extLst>
            </p:cNvPr>
            <p:cNvSpPr/>
            <p:nvPr/>
          </p:nvSpPr>
          <p:spPr>
            <a:xfrm>
              <a:off x="1266508" y="3406123"/>
              <a:ext cx="2438400" cy="390144"/>
            </a:xfrm>
            <a:prstGeom prst="rect">
              <a:avLst/>
            </a:prstGeom>
            <a:noFill/>
            <a:ln/>
          </p:spPr>
          <p:txBody>
            <a:bodyPr wrap="square" lIns="0" tIns="0" rIns="0" bIns="0" rtlCol="0" anchor="ctr"/>
            <a:lstStyle/>
            <a:p>
              <a:pPr defTabSz="1219170"/>
              <a:r>
                <a:rPr lang="en-US" sz="1467" b="1" kern="0" spc="267">
                  <a:solidFill>
                    <a:srgbClr val="00A896"/>
                  </a:solidFill>
                  <a:latin typeface="Arial" panose="020B0604020202020204" pitchFamily="34" charset="0"/>
                  <a:ea typeface="Calibri" pitchFamily="34" charset="-122"/>
                  <a:cs typeface="Arial" panose="020B0604020202020204" pitchFamily="34" charset="0"/>
                </a:rPr>
                <a:t>SECONDARY</a:t>
              </a:r>
              <a:endParaRPr lang="en-US" sz="1467">
                <a:solidFill>
                  <a:prstClr val="black"/>
                </a:solidFill>
                <a:latin typeface="Arial" panose="020B0604020202020204" pitchFamily="34" charset="0"/>
                <a:cs typeface="Arial" panose="020B0604020202020204" pitchFamily="34" charset="0"/>
              </a:endParaRPr>
            </a:p>
          </p:txBody>
        </p:sp>
        <p:sp>
          <p:nvSpPr>
            <p:cNvPr id="12" name="Text 8">
              <a:extLst>
                <a:ext uri="{FF2B5EF4-FFF2-40B4-BE49-F238E27FC236}">
                  <a16:creationId xmlns:a16="http://schemas.microsoft.com/office/drawing/2014/main" id="{90570BD7-64A7-A0B0-C55D-4608EA62C810}"/>
                </a:ext>
              </a:extLst>
            </p:cNvPr>
            <p:cNvSpPr/>
            <p:nvPr/>
          </p:nvSpPr>
          <p:spPr>
            <a:xfrm>
              <a:off x="1266508" y="3808459"/>
              <a:ext cx="10241280" cy="548640"/>
            </a:xfrm>
            <a:prstGeom prst="rect">
              <a:avLst/>
            </a:prstGeom>
            <a:noFill/>
            <a:ln/>
          </p:spPr>
          <p:txBody>
            <a:bodyPr wrap="square" lIns="0" tIns="0" rIns="0" bIns="0" rtlCol="0" anchor="ctr"/>
            <a:lstStyle/>
            <a:p>
              <a:pPr defTabSz="1219170"/>
              <a:r>
                <a:rPr lang="en-US" sz="1867">
                  <a:solidFill>
                    <a:srgbClr val="1A1A2E"/>
                  </a:solidFill>
                  <a:latin typeface="Arial" panose="020B0604020202020204" pitchFamily="34" charset="0"/>
                  <a:ea typeface="Calibri" pitchFamily="34" charset="-122"/>
                  <a:cs typeface="Arial" panose="020B0604020202020204" pitchFamily="34" charset="0"/>
                </a:rPr>
                <a:t>Build cross-portfolio community and shared AI call to action</a:t>
              </a:r>
              <a:endParaRPr lang="en-US" sz="1867">
                <a:solidFill>
                  <a:prstClr val="black"/>
                </a:solidFill>
                <a:latin typeface="Arial" panose="020B0604020202020204" pitchFamily="34" charset="0"/>
                <a:cs typeface="Arial" panose="020B0604020202020204" pitchFamily="34" charset="0"/>
              </a:endParaRPr>
            </a:p>
          </p:txBody>
        </p:sp>
        <p:sp>
          <p:nvSpPr>
            <p:cNvPr id="13" name="Shape 9">
              <a:extLst>
                <a:ext uri="{FF2B5EF4-FFF2-40B4-BE49-F238E27FC236}">
                  <a16:creationId xmlns:a16="http://schemas.microsoft.com/office/drawing/2014/main" id="{3B78F0AC-F1B1-D8E0-5B0C-E53F90B675E4}"/>
                </a:ext>
              </a:extLst>
            </p:cNvPr>
            <p:cNvSpPr/>
            <p:nvPr/>
          </p:nvSpPr>
          <p:spPr>
            <a:xfrm>
              <a:off x="839788" y="4783819"/>
              <a:ext cx="10972800" cy="1280160"/>
            </a:xfrm>
            <a:prstGeom prst="rect">
              <a:avLst/>
            </a:prstGeom>
            <a:solidFill>
              <a:srgbClr val="FFFFFF"/>
            </a:solidFill>
            <a:ln/>
            <a:effectLst>
              <a:outerShdw blurRad="76200" dist="25400" dir="8100000" algn="bl" rotWithShape="0">
                <a:srgbClr val="000000">
                  <a:alpha val="12000"/>
                </a:srgbClr>
              </a:outerShdw>
            </a:effectLst>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16" name="Text 12">
              <a:extLst>
                <a:ext uri="{FF2B5EF4-FFF2-40B4-BE49-F238E27FC236}">
                  <a16:creationId xmlns:a16="http://schemas.microsoft.com/office/drawing/2014/main" id="{CA554E07-FDDA-B161-FEC1-8133F3BC803A}"/>
                </a:ext>
              </a:extLst>
            </p:cNvPr>
            <p:cNvSpPr/>
            <p:nvPr/>
          </p:nvSpPr>
          <p:spPr>
            <a:xfrm>
              <a:off x="1266508" y="5332459"/>
              <a:ext cx="10241280" cy="548640"/>
            </a:xfrm>
            <a:prstGeom prst="rect">
              <a:avLst/>
            </a:prstGeom>
            <a:noFill/>
            <a:ln/>
          </p:spPr>
          <p:txBody>
            <a:bodyPr wrap="square" lIns="0" tIns="0" rIns="0" bIns="0" rtlCol="0" anchor="ctr"/>
            <a:lstStyle/>
            <a:p>
              <a:pPr defTabSz="1219170"/>
              <a:r>
                <a:rPr lang="en-US" sz="1867">
                  <a:solidFill>
                    <a:srgbClr val="1A1A2E"/>
                  </a:solidFill>
                  <a:latin typeface="Arial" panose="020B0604020202020204" pitchFamily="34" charset="0"/>
                  <a:ea typeface="Calibri" pitchFamily="34" charset="-122"/>
                  <a:cs typeface="Arial" panose="020B0604020202020204" pitchFamily="34" charset="0"/>
                </a:rPr>
                <a:t>Generate LP-facing content showcasing AI value creation across the portfolio</a:t>
              </a:r>
              <a:endParaRPr lang="en-US" sz="1867">
                <a:solidFill>
                  <a:prstClr val="black"/>
                </a:solidFill>
                <a:latin typeface="Arial" panose="020B0604020202020204" pitchFamily="34" charset="0"/>
                <a:cs typeface="Arial" panose="020B0604020202020204" pitchFamily="34" charset="0"/>
              </a:endParaRPr>
            </a:p>
          </p:txBody>
        </p:sp>
      </p:grpSp>
      <p:grpSp>
        <p:nvGrpSpPr>
          <p:cNvPr id="20" name="Group 19">
            <a:extLst>
              <a:ext uri="{FF2B5EF4-FFF2-40B4-BE49-F238E27FC236}">
                <a16:creationId xmlns:a16="http://schemas.microsoft.com/office/drawing/2014/main" id="{4483AED0-D854-A5AA-2189-34D18EC9C403}"/>
              </a:ext>
            </a:extLst>
          </p:cNvPr>
          <p:cNvGrpSpPr/>
          <p:nvPr/>
        </p:nvGrpSpPr>
        <p:grpSpPr>
          <a:xfrm>
            <a:off x="835024" y="4928717"/>
            <a:ext cx="2745740" cy="1280160"/>
            <a:chOff x="992188" y="3508016"/>
            <a:chExt cx="2745740" cy="1280160"/>
          </a:xfrm>
        </p:grpSpPr>
        <p:sp>
          <p:nvSpPr>
            <p:cNvPr id="3" name="Shape 6">
              <a:extLst>
                <a:ext uri="{FF2B5EF4-FFF2-40B4-BE49-F238E27FC236}">
                  <a16:creationId xmlns:a16="http://schemas.microsoft.com/office/drawing/2014/main" id="{A1629910-CFF7-F757-F9F0-14C9D30B9835}"/>
                </a:ext>
              </a:extLst>
            </p:cNvPr>
            <p:cNvSpPr/>
            <p:nvPr/>
          </p:nvSpPr>
          <p:spPr>
            <a:xfrm>
              <a:off x="992188" y="3508016"/>
              <a:ext cx="93472" cy="1280160"/>
            </a:xfrm>
            <a:prstGeom prst="rect">
              <a:avLst/>
            </a:prstGeom>
            <a:solidFill>
              <a:srgbClr val="00A896"/>
            </a:solidFill>
            <a:ln/>
          </p:spPr>
          <p:txBody>
            <a:bodyPr/>
            <a:lstStyle/>
            <a:p>
              <a:pPr defTabSz="1219170"/>
              <a:endParaRPr lang="en-US" sz="2400">
                <a:solidFill>
                  <a:prstClr val="black"/>
                </a:solidFill>
                <a:latin typeface="Arial" panose="020B0604020202020204" pitchFamily="34" charset="0"/>
                <a:cs typeface="Arial" panose="020B0604020202020204" pitchFamily="34" charset="0"/>
              </a:endParaRPr>
            </a:p>
          </p:txBody>
        </p:sp>
        <p:sp>
          <p:nvSpPr>
            <p:cNvPr id="19" name="Text 7">
              <a:extLst>
                <a:ext uri="{FF2B5EF4-FFF2-40B4-BE49-F238E27FC236}">
                  <a16:creationId xmlns:a16="http://schemas.microsoft.com/office/drawing/2014/main" id="{DB81AE9E-F4EB-A36E-501A-8BFB78B4E456}"/>
                </a:ext>
              </a:extLst>
            </p:cNvPr>
            <p:cNvSpPr/>
            <p:nvPr/>
          </p:nvSpPr>
          <p:spPr>
            <a:xfrm>
              <a:off x="1401128" y="3654320"/>
              <a:ext cx="2336800" cy="390144"/>
            </a:xfrm>
            <a:prstGeom prst="rect">
              <a:avLst/>
            </a:prstGeom>
            <a:noFill/>
            <a:ln/>
          </p:spPr>
          <p:txBody>
            <a:bodyPr wrap="square" lIns="0" tIns="0" rIns="0" bIns="0" rtlCol="0" anchor="ctr"/>
            <a:lstStyle/>
            <a:p>
              <a:pPr defTabSz="1219170"/>
              <a:r>
                <a:rPr lang="en-US" sz="1467" b="1" kern="0" spc="267">
                  <a:solidFill>
                    <a:srgbClr val="00A896"/>
                  </a:solidFill>
                  <a:latin typeface="Arial" panose="020B0604020202020204" pitchFamily="34" charset="0"/>
                  <a:ea typeface="Calibri" pitchFamily="34" charset="-122"/>
                  <a:cs typeface="Arial" panose="020B0604020202020204" pitchFamily="34" charset="0"/>
                </a:rPr>
                <a:t>SECONDARY</a:t>
              </a:r>
              <a:endParaRPr lang="en-US" sz="1467">
                <a:solidFill>
                  <a:prstClr val="black"/>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9328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DDCD-4F9B-6A49-1985-5B189BD0C7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AC9AC-A347-C2EA-39B7-B2841BCFD058}"/>
              </a:ext>
            </a:extLst>
          </p:cNvPr>
          <p:cNvSpPr>
            <a:spLocks noGrp="1"/>
          </p:cNvSpPr>
          <p:nvPr>
            <p:ph type="title"/>
          </p:nvPr>
        </p:nvSpPr>
        <p:spPr/>
        <p:txBody>
          <a:bodyPr/>
          <a:lstStyle/>
          <a:p>
            <a:r>
              <a:rPr lang="en-US" b="1"/>
              <a:t>AI Product Hackathon</a:t>
            </a:r>
            <a:br>
              <a:rPr lang="en-US" b="1"/>
            </a:br>
            <a:r>
              <a:rPr lang="en-US"/>
              <a:t>Execution To Start In Mid-March, Enabling Late May Event</a:t>
            </a:r>
            <a:endParaRPr lang="en-US" b="1"/>
          </a:p>
        </p:txBody>
      </p:sp>
      <p:sp>
        <p:nvSpPr>
          <p:cNvPr id="7" name="Slide Number Placeholder 6">
            <a:extLst>
              <a:ext uri="{FF2B5EF4-FFF2-40B4-BE49-F238E27FC236}">
                <a16:creationId xmlns:a16="http://schemas.microsoft.com/office/drawing/2014/main" id="{660741D9-388B-4507-9A8E-C49AEC1416F7}"/>
              </a:ext>
            </a:extLst>
          </p:cNvPr>
          <p:cNvSpPr>
            <a:spLocks noGrp="1"/>
          </p:cNvSpPr>
          <p:nvPr>
            <p:ph type="sldNum" sz="quarter" idx="12"/>
          </p:nvPr>
        </p:nvSpPr>
        <p:spPr/>
        <p:txBody>
          <a:bodyPr/>
          <a:lstStyle/>
          <a:p>
            <a:fld id="{1153F0DE-4B83-C442-BFAF-2E07D848C22E}" type="slidenum">
              <a:rPr lang="en-US" smtClean="0"/>
              <a:t>4</a:t>
            </a:fld>
            <a:endParaRPr lang="en-US"/>
          </a:p>
        </p:txBody>
      </p:sp>
      <p:grpSp>
        <p:nvGrpSpPr>
          <p:cNvPr id="50" name="Group 49">
            <a:extLst>
              <a:ext uri="{FF2B5EF4-FFF2-40B4-BE49-F238E27FC236}">
                <a16:creationId xmlns:a16="http://schemas.microsoft.com/office/drawing/2014/main" id="{E82BE068-5E80-E3B0-744B-D95932068383}"/>
              </a:ext>
            </a:extLst>
          </p:cNvPr>
          <p:cNvGrpSpPr/>
          <p:nvPr/>
        </p:nvGrpSpPr>
        <p:grpSpPr>
          <a:xfrm>
            <a:off x="505097" y="1834972"/>
            <a:ext cx="11785600" cy="1515182"/>
            <a:chOff x="304800" y="821618"/>
            <a:chExt cx="11785600" cy="1515182"/>
          </a:xfrm>
        </p:grpSpPr>
        <p:sp>
          <p:nvSpPr>
            <p:cNvPr id="4" name="Line">
              <a:extLst>
                <a:ext uri="{FF2B5EF4-FFF2-40B4-BE49-F238E27FC236}">
                  <a16:creationId xmlns:a16="http://schemas.microsoft.com/office/drawing/2014/main" id="{CE6562A6-19EC-B3FE-0380-D0BB8A599EB7}"/>
                </a:ext>
              </a:extLst>
            </p:cNvPr>
            <p:cNvSpPr/>
            <p:nvPr/>
          </p:nvSpPr>
          <p:spPr>
            <a:xfrm>
              <a:off x="1016000" y="1388533"/>
              <a:ext cx="10363200" cy="0"/>
            </a:xfrm>
            <a:prstGeom prst="line">
              <a:avLst/>
            </a:prstGeom>
            <a:noFill/>
            <a:ln w="15875">
              <a:solidFill>
                <a:srgbClr val="5A6B7D"/>
              </a:solidFill>
              <a:prstDash val="dash"/>
            </a:ln>
          </p:spPr>
          <p:txBody>
            <a:bodyPr/>
            <a:lstStyle/>
            <a:p>
              <a:pPr defTabSz="1219170"/>
              <a:endParaRPr lang="en-US" sz="2400">
                <a:latin typeface="Arial" panose="020B0604020202020204" pitchFamily="34" charset="0"/>
                <a:cs typeface="Arial" panose="020B0604020202020204" pitchFamily="34" charset="0"/>
              </a:endParaRPr>
            </a:p>
          </p:txBody>
        </p:sp>
        <p:sp>
          <p:nvSpPr>
            <p:cNvPr id="5" name="N0">
              <a:extLst>
                <a:ext uri="{FF2B5EF4-FFF2-40B4-BE49-F238E27FC236}">
                  <a16:creationId xmlns:a16="http://schemas.microsoft.com/office/drawing/2014/main" id="{1968040D-2025-E3D2-F1D8-AF0577871F4E}"/>
                </a:ext>
              </a:extLst>
            </p:cNvPr>
            <p:cNvSpPr/>
            <p:nvPr/>
          </p:nvSpPr>
          <p:spPr>
            <a:xfrm>
              <a:off x="694267" y="1066800"/>
              <a:ext cx="643467" cy="643467"/>
            </a:xfrm>
            <a:prstGeom prst="ellipse">
              <a:avLst/>
            </a:prstGeom>
            <a:solidFill>
              <a:srgbClr val="028090"/>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1–2</a:t>
              </a:r>
            </a:p>
          </p:txBody>
        </p:sp>
        <p:sp>
          <p:nvSpPr>
            <p:cNvPr id="6" name="D0">
              <a:extLst>
                <a:ext uri="{FF2B5EF4-FFF2-40B4-BE49-F238E27FC236}">
                  <a16:creationId xmlns:a16="http://schemas.microsoft.com/office/drawing/2014/main" id="{52BA166D-5A42-982E-D199-C11BA8540D50}"/>
                </a:ext>
              </a:extLst>
            </p:cNvPr>
            <p:cNvSpPr/>
            <p:nvPr/>
          </p:nvSpPr>
          <p:spPr>
            <a:xfrm>
              <a:off x="338667"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17–28 Mar</a:t>
              </a:r>
            </a:p>
          </p:txBody>
        </p:sp>
        <p:sp>
          <p:nvSpPr>
            <p:cNvPr id="8" name="T0">
              <a:extLst>
                <a:ext uri="{FF2B5EF4-FFF2-40B4-BE49-F238E27FC236}">
                  <a16:creationId xmlns:a16="http://schemas.microsoft.com/office/drawing/2014/main" id="{162A94AC-51D6-D95F-6740-70CD4469CC83}"/>
                </a:ext>
              </a:extLst>
            </p:cNvPr>
            <p:cNvSpPr/>
            <p:nvPr/>
          </p:nvSpPr>
          <p:spPr>
            <a:xfrm>
              <a:off x="304800"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Lock budget tier
&amp; confirm scope</a:t>
              </a:r>
            </a:p>
          </p:txBody>
        </p:sp>
        <p:sp>
          <p:nvSpPr>
            <p:cNvPr id="9" name="N1">
              <a:extLst>
                <a:ext uri="{FF2B5EF4-FFF2-40B4-BE49-F238E27FC236}">
                  <a16:creationId xmlns:a16="http://schemas.microsoft.com/office/drawing/2014/main" id="{DC0C00C2-1CFE-E8E2-8A27-BF26C1345B5A}"/>
                </a:ext>
              </a:extLst>
            </p:cNvPr>
            <p:cNvSpPr/>
            <p:nvPr/>
          </p:nvSpPr>
          <p:spPr>
            <a:xfrm>
              <a:off x="2174724" y="1066800"/>
              <a:ext cx="643467" cy="643467"/>
            </a:xfrm>
            <a:prstGeom prst="ellipse">
              <a:avLst/>
            </a:prstGeom>
            <a:solidFill>
              <a:srgbClr val="028090"/>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3–4</a:t>
              </a:r>
            </a:p>
          </p:txBody>
        </p:sp>
        <p:sp>
          <p:nvSpPr>
            <p:cNvPr id="10" name="D1">
              <a:extLst>
                <a:ext uri="{FF2B5EF4-FFF2-40B4-BE49-F238E27FC236}">
                  <a16:creationId xmlns:a16="http://schemas.microsoft.com/office/drawing/2014/main" id="{84AF10BF-C21F-FB0D-48EE-8DAFD5F7B788}"/>
                </a:ext>
              </a:extLst>
            </p:cNvPr>
            <p:cNvSpPr/>
            <p:nvPr/>
          </p:nvSpPr>
          <p:spPr>
            <a:xfrm>
              <a:off x="1819124"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31 Mar–11 Apr</a:t>
              </a:r>
            </a:p>
          </p:txBody>
        </p:sp>
        <p:sp>
          <p:nvSpPr>
            <p:cNvPr id="11" name="T1">
              <a:extLst>
                <a:ext uri="{FF2B5EF4-FFF2-40B4-BE49-F238E27FC236}">
                  <a16:creationId xmlns:a16="http://schemas.microsoft.com/office/drawing/2014/main" id="{A9D192FC-4CAD-4E37-2492-3504AFE13716}"/>
                </a:ext>
              </a:extLst>
            </p:cNvPr>
            <p:cNvSpPr/>
            <p:nvPr/>
          </p:nvSpPr>
          <p:spPr>
            <a:xfrm>
              <a:off x="1785257"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Partner outreach
&amp; AI credits</a:t>
              </a:r>
            </a:p>
          </p:txBody>
        </p:sp>
        <p:sp>
          <p:nvSpPr>
            <p:cNvPr id="12" name="N2">
              <a:extLst>
                <a:ext uri="{FF2B5EF4-FFF2-40B4-BE49-F238E27FC236}">
                  <a16:creationId xmlns:a16="http://schemas.microsoft.com/office/drawing/2014/main" id="{45C8D1BF-BFD8-0ECB-1E2A-BDECBA054F35}"/>
                </a:ext>
              </a:extLst>
            </p:cNvPr>
            <p:cNvSpPr/>
            <p:nvPr/>
          </p:nvSpPr>
          <p:spPr>
            <a:xfrm>
              <a:off x="3655181" y="1066800"/>
              <a:ext cx="643467" cy="643467"/>
            </a:xfrm>
            <a:prstGeom prst="ellipse">
              <a:avLst/>
            </a:prstGeom>
            <a:solidFill>
              <a:srgbClr val="028090"/>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5–6</a:t>
              </a:r>
            </a:p>
          </p:txBody>
        </p:sp>
        <p:sp>
          <p:nvSpPr>
            <p:cNvPr id="13" name="D2">
              <a:extLst>
                <a:ext uri="{FF2B5EF4-FFF2-40B4-BE49-F238E27FC236}">
                  <a16:creationId xmlns:a16="http://schemas.microsoft.com/office/drawing/2014/main" id="{3820D2A2-4C75-F393-682E-88E54F4C1083}"/>
                </a:ext>
              </a:extLst>
            </p:cNvPr>
            <p:cNvSpPr/>
            <p:nvPr/>
          </p:nvSpPr>
          <p:spPr>
            <a:xfrm>
              <a:off x="3299581"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14–25 Apr</a:t>
              </a:r>
            </a:p>
          </p:txBody>
        </p:sp>
        <p:sp>
          <p:nvSpPr>
            <p:cNvPr id="14" name="T2">
              <a:extLst>
                <a:ext uri="{FF2B5EF4-FFF2-40B4-BE49-F238E27FC236}">
                  <a16:creationId xmlns:a16="http://schemas.microsoft.com/office/drawing/2014/main" id="{0ECDFA71-8AD1-3438-34BA-55B50B4B945C}"/>
                </a:ext>
              </a:extLst>
            </p:cNvPr>
            <p:cNvSpPr/>
            <p:nvPr/>
          </p:nvSpPr>
          <p:spPr>
            <a:xfrm>
              <a:off x="3265715"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Company invitations
&amp; challenge design</a:t>
              </a:r>
            </a:p>
          </p:txBody>
        </p:sp>
        <p:sp>
          <p:nvSpPr>
            <p:cNvPr id="15" name="N3">
              <a:extLst>
                <a:ext uri="{FF2B5EF4-FFF2-40B4-BE49-F238E27FC236}">
                  <a16:creationId xmlns:a16="http://schemas.microsoft.com/office/drawing/2014/main" id="{0A4F8552-8260-4CED-567D-3EA0A7EAB842}"/>
                </a:ext>
              </a:extLst>
            </p:cNvPr>
            <p:cNvSpPr/>
            <p:nvPr/>
          </p:nvSpPr>
          <p:spPr>
            <a:xfrm>
              <a:off x="5135639" y="1066800"/>
              <a:ext cx="643467" cy="643467"/>
            </a:xfrm>
            <a:prstGeom prst="ellipse">
              <a:avLst/>
            </a:prstGeom>
            <a:solidFill>
              <a:srgbClr val="028090"/>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7–8</a:t>
              </a:r>
            </a:p>
          </p:txBody>
        </p:sp>
        <p:sp>
          <p:nvSpPr>
            <p:cNvPr id="16" name="D3">
              <a:extLst>
                <a:ext uri="{FF2B5EF4-FFF2-40B4-BE49-F238E27FC236}">
                  <a16:creationId xmlns:a16="http://schemas.microsoft.com/office/drawing/2014/main" id="{1F9D8DA1-A4B4-5606-1E3C-5E97DBC584F7}"/>
                </a:ext>
              </a:extLst>
            </p:cNvPr>
            <p:cNvSpPr/>
            <p:nvPr/>
          </p:nvSpPr>
          <p:spPr>
            <a:xfrm>
              <a:off x="4780039"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28 Apr–9 May</a:t>
              </a:r>
            </a:p>
          </p:txBody>
        </p:sp>
        <p:sp>
          <p:nvSpPr>
            <p:cNvPr id="17" name="T3">
              <a:extLst>
                <a:ext uri="{FF2B5EF4-FFF2-40B4-BE49-F238E27FC236}">
                  <a16:creationId xmlns:a16="http://schemas.microsoft.com/office/drawing/2014/main" id="{7C5EE6E7-3B4B-6A36-DA69-189932A4B037}"/>
                </a:ext>
              </a:extLst>
            </p:cNvPr>
            <p:cNvSpPr/>
            <p:nvPr/>
          </p:nvSpPr>
          <p:spPr>
            <a:xfrm>
              <a:off x="4746172"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Registration, teams
&amp; enablement</a:t>
              </a:r>
            </a:p>
          </p:txBody>
        </p:sp>
        <p:sp>
          <p:nvSpPr>
            <p:cNvPr id="18" name="N4">
              <a:extLst>
                <a:ext uri="{FF2B5EF4-FFF2-40B4-BE49-F238E27FC236}">
                  <a16:creationId xmlns:a16="http://schemas.microsoft.com/office/drawing/2014/main" id="{9347FE06-856C-4325-F5B4-233C26D6E000}"/>
                </a:ext>
              </a:extLst>
            </p:cNvPr>
            <p:cNvSpPr/>
            <p:nvPr/>
          </p:nvSpPr>
          <p:spPr>
            <a:xfrm>
              <a:off x="6616095" y="1066800"/>
              <a:ext cx="643467" cy="643467"/>
            </a:xfrm>
            <a:prstGeom prst="ellipse">
              <a:avLst/>
            </a:prstGeom>
            <a:solidFill>
              <a:srgbClr val="028090"/>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9</a:t>
              </a:r>
            </a:p>
          </p:txBody>
        </p:sp>
        <p:sp>
          <p:nvSpPr>
            <p:cNvPr id="19" name="D4">
              <a:extLst>
                <a:ext uri="{FF2B5EF4-FFF2-40B4-BE49-F238E27FC236}">
                  <a16:creationId xmlns:a16="http://schemas.microsoft.com/office/drawing/2014/main" id="{8878E3EC-C6C9-CB65-438C-31B5E108B7E0}"/>
                </a:ext>
              </a:extLst>
            </p:cNvPr>
            <p:cNvSpPr/>
            <p:nvPr/>
          </p:nvSpPr>
          <p:spPr>
            <a:xfrm>
              <a:off x="6260495"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12–16 May</a:t>
              </a:r>
            </a:p>
          </p:txBody>
        </p:sp>
        <p:sp>
          <p:nvSpPr>
            <p:cNvPr id="20" name="T4">
              <a:extLst>
                <a:ext uri="{FF2B5EF4-FFF2-40B4-BE49-F238E27FC236}">
                  <a16:creationId xmlns:a16="http://schemas.microsoft.com/office/drawing/2014/main" id="{2801453C-85AB-B81E-2C23-0D3260A80B36}"/>
                </a:ext>
              </a:extLst>
            </p:cNvPr>
            <p:cNvSpPr/>
            <p:nvPr/>
          </p:nvSpPr>
          <p:spPr>
            <a:xfrm>
              <a:off x="6226628"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Final logistics
&amp; dry run</a:t>
              </a:r>
            </a:p>
          </p:txBody>
        </p:sp>
        <p:sp>
          <p:nvSpPr>
            <p:cNvPr id="21" name="N5">
              <a:extLst>
                <a:ext uri="{FF2B5EF4-FFF2-40B4-BE49-F238E27FC236}">
                  <a16:creationId xmlns:a16="http://schemas.microsoft.com/office/drawing/2014/main" id="{8E5C9B3B-2E8F-C704-BE64-58487513EAE1}"/>
                </a:ext>
              </a:extLst>
            </p:cNvPr>
            <p:cNvSpPr/>
            <p:nvPr/>
          </p:nvSpPr>
          <p:spPr>
            <a:xfrm>
              <a:off x="8045752" y="1016000"/>
              <a:ext cx="745067" cy="745067"/>
            </a:xfrm>
            <a:prstGeom prst="ellipse">
              <a:avLst/>
            </a:prstGeom>
            <a:solidFill>
              <a:srgbClr val="D4A843"/>
            </a:solidFill>
            <a:ln w="19050">
              <a:solidFill>
                <a:srgbClr val="D4A843"/>
              </a:solidFill>
            </a:ln>
            <a:effectLst>
              <a:outerShdw blurRad="50800" dist="12700" dir="5400000" algn="t" rotWithShape="0">
                <a:srgbClr val="D4A843">
                  <a:alpha val="25000"/>
                </a:srgbClr>
              </a:outerShdw>
            </a:effectLst>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EVENT</a:t>
              </a:r>
            </a:p>
          </p:txBody>
        </p:sp>
        <p:sp>
          <p:nvSpPr>
            <p:cNvPr id="22" name="D5">
              <a:extLst>
                <a:ext uri="{FF2B5EF4-FFF2-40B4-BE49-F238E27FC236}">
                  <a16:creationId xmlns:a16="http://schemas.microsoft.com/office/drawing/2014/main" id="{760F41FE-A11F-7E25-DD50-BF0A9A6A2B2E}"/>
                </a:ext>
              </a:extLst>
            </p:cNvPr>
            <p:cNvSpPr/>
            <p:nvPr/>
          </p:nvSpPr>
          <p:spPr>
            <a:xfrm>
              <a:off x="7740952"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18–22 May</a:t>
              </a:r>
            </a:p>
          </p:txBody>
        </p:sp>
        <p:sp>
          <p:nvSpPr>
            <p:cNvPr id="23" name="T5">
              <a:extLst>
                <a:ext uri="{FF2B5EF4-FFF2-40B4-BE49-F238E27FC236}">
                  <a16:creationId xmlns:a16="http://schemas.microsoft.com/office/drawing/2014/main" id="{3485826D-2805-D421-760B-3826EEF7485F}"/>
                </a:ext>
              </a:extLst>
            </p:cNvPr>
            <p:cNvSpPr/>
            <p:nvPr/>
          </p:nvSpPr>
          <p:spPr>
            <a:xfrm>
              <a:off x="7707085" y="18288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24-Hour Hackathon
Kick-off → Judging</a:t>
              </a:r>
            </a:p>
          </p:txBody>
        </p:sp>
        <p:sp>
          <p:nvSpPr>
            <p:cNvPr id="24" name="N6">
              <a:extLst>
                <a:ext uri="{FF2B5EF4-FFF2-40B4-BE49-F238E27FC236}">
                  <a16:creationId xmlns:a16="http://schemas.microsoft.com/office/drawing/2014/main" id="{3B2E0E21-06DD-11D8-3721-DB4015311F66}"/>
                </a:ext>
              </a:extLst>
            </p:cNvPr>
            <p:cNvSpPr/>
            <p:nvPr/>
          </p:nvSpPr>
          <p:spPr>
            <a:xfrm>
              <a:off x="9577009" y="1066800"/>
              <a:ext cx="643467" cy="643467"/>
            </a:xfrm>
            <a:prstGeom prst="ellipse">
              <a:avLst/>
            </a:prstGeom>
            <a:solidFill>
              <a:schemeClr val="accent4"/>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11</a:t>
              </a:r>
            </a:p>
          </p:txBody>
        </p:sp>
        <p:sp>
          <p:nvSpPr>
            <p:cNvPr id="25" name="D6">
              <a:extLst>
                <a:ext uri="{FF2B5EF4-FFF2-40B4-BE49-F238E27FC236}">
                  <a16:creationId xmlns:a16="http://schemas.microsoft.com/office/drawing/2014/main" id="{9628D085-0C18-7E91-E2F6-09764A812760}"/>
                </a:ext>
              </a:extLst>
            </p:cNvPr>
            <p:cNvSpPr/>
            <p:nvPr/>
          </p:nvSpPr>
          <p:spPr>
            <a:xfrm>
              <a:off x="9221409"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23–30 May</a:t>
              </a:r>
            </a:p>
          </p:txBody>
        </p:sp>
        <p:sp>
          <p:nvSpPr>
            <p:cNvPr id="26" name="T6">
              <a:extLst>
                <a:ext uri="{FF2B5EF4-FFF2-40B4-BE49-F238E27FC236}">
                  <a16:creationId xmlns:a16="http://schemas.microsoft.com/office/drawing/2014/main" id="{D49B0E6A-34E6-F2DA-3B78-C63B53C2CF21}"/>
                </a:ext>
              </a:extLst>
            </p:cNvPr>
            <p:cNvSpPr/>
            <p:nvPr/>
          </p:nvSpPr>
          <p:spPr>
            <a:xfrm>
              <a:off x="9187543"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Post-event survey
&amp; follow-up</a:t>
              </a:r>
            </a:p>
          </p:txBody>
        </p:sp>
        <p:sp>
          <p:nvSpPr>
            <p:cNvPr id="27" name="N7">
              <a:extLst>
                <a:ext uri="{FF2B5EF4-FFF2-40B4-BE49-F238E27FC236}">
                  <a16:creationId xmlns:a16="http://schemas.microsoft.com/office/drawing/2014/main" id="{3D3EE7BF-3032-C839-9674-EAEC1B57481E}"/>
                </a:ext>
              </a:extLst>
            </p:cNvPr>
            <p:cNvSpPr/>
            <p:nvPr/>
          </p:nvSpPr>
          <p:spPr>
            <a:xfrm>
              <a:off x="11057467" y="1066800"/>
              <a:ext cx="643467" cy="643467"/>
            </a:xfrm>
            <a:prstGeom prst="ellipse">
              <a:avLst/>
            </a:prstGeom>
            <a:solidFill>
              <a:schemeClr val="accent4"/>
            </a:solidFill>
            <a:ln>
              <a:noFill/>
            </a:ln>
          </p:spPr>
          <p:txBody>
            <a:bodyPr wrap="square" lIns="0" tIns="0" rIns="0" bIns="0" anchor="ctr"/>
            <a:lstStyle/>
            <a:p>
              <a:pPr algn="ctr" defTabSz="1219170"/>
              <a:r>
                <a:rPr lang="en-US" sz="933" b="1">
                  <a:solidFill>
                    <a:schemeClr val="bg1"/>
                  </a:solidFill>
                  <a:latin typeface="Arial" panose="020B0604020202020204" pitchFamily="34" charset="0"/>
                  <a:cs typeface="Arial" panose="020B0604020202020204" pitchFamily="34" charset="0"/>
                </a:rPr>
                <a:t>WK 12+</a:t>
              </a:r>
            </a:p>
          </p:txBody>
        </p:sp>
        <p:sp>
          <p:nvSpPr>
            <p:cNvPr id="28" name="D7">
              <a:extLst>
                <a:ext uri="{FF2B5EF4-FFF2-40B4-BE49-F238E27FC236}">
                  <a16:creationId xmlns:a16="http://schemas.microsoft.com/office/drawing/2014/main" id="{D3C2535C-DC28-E2FE-5A8A-7B0320D207C6}"/>
                </a:ext>
              </a:extLst>
            </p:cNvPr>
            <p:cNvSpPr/>
            <p:nvPr/>
          </p:nvSpPr>
          <p:spPr>
            <a:xfrm>
              <a:off x="10701867" y="821618"/>
              <a:ext cx="1354667" cy="152667"/>
            </a:xfrm>
            <a:prstGeom prst="rect">
              <a:avLst/>
            </a:prstGeom>
            <a:noFill/>
            <a:ln>
              <a:noFill/>
            </a:ln>
          </p:spPr>
          <p:txBody>
            <a:bodyPr wrap="square" lIns="0" tIns="0" rIns="0" bIns="0" anchor="ctr"/>
            <a:lstStyle/>
            <a:p>
              <a:pPr algn="ctr" defTabSz="1219170"/>
              <a:r>
                <a:rPr lang="en-US" sz="933" b="1">
                  <a:latin typeface="Arial" panose="020B0604020202020204" pitchFamily="34" charset="0"/>
                  <a:cs typeface="Arial" panose="020B0604020202020204" pitchFamily="34" charset="0"/>
                </a:rPr>
                <a:t>Jun–Nov</a:t>
              </a:r>
            </a:p>
          </p:txBody>
        </p:sp>
        <p:sp>
          <p:nvSpPr>
            <p:cNvPr id="29" name="T7">
              <a:extLst>
                <a:ext uri="{FF2B5EF4-FFF2-40B4-BE49-F238E27FC236}">
                  <a16:creationId xmlns:a16="http://schemas.microsoft.com/office/drawing/2014/main" id="{ADB0F0FF-4BCE-D08F-8012-35B4BADF085F}"/>
                </a:ext>
              </a:extLst>
            </p:cNvPr>
            <p:cNvSpPr/>
            <p:nvPr/>
          </p:nvSpPr>
          <p:spPr>
            <a:xfrm>
              <a:off x="10668000" y="1778000"/>
              <a:ext cx="1422400" cy="508000"/>
            </a:xfrm>
            <a:prstGeom prst="rect">
              <a:avLst/>
            </a:prstGeom>
            <a:noFill/>
            <a:ln>
              <a:noFill/>
            </a:ln>
          </p:spPr>
          <p:txBody>
            <a:bodyPr wrap="square" lIns="0" tIns="0" rIns="0" bIns="0" anchor="t"/>
            <a:lstStyle/>
            <a:p>
              <a:pPr algn="ctr" defTabSz="1219170">
                <a:lnSpc>
                  <a:spcPts val="1200"/>
                </a:lnSpc>
              </a:pPr>
              <a:r>
                <a:rPr lang="en-US" sz="933">
                  <a:latin typeface="Arial" panose="020B0604020202020204" pitchFamily="34" charset="0"/>
                  <a:cs typeface="Arial" panose="020B0604020202020204" pitchFamily="34" charset="0"/>
                </a:rPr>
                <a:t>90/180-day impact
tracking</a:t>
              </a:r>
            </a:p>
          </p:txBody>
        </p:sp>
      </p:grpSp>
      <p:grpSp>
        <p:nvGrpSpPr>
          <p:cNvPr id="49" name="Group 48">
            <a:extLst>
              <a:ext uri="{FF2B5EF4-FFF2-40B4-BE49-F238E27FC236}">
                <a16:creationId xmlns:a16="http://schemas.microsoft.com/office/drawing/2014/main" id="{BF0F4176-B6A3-E283-FC0D-F2678062CCF5}"/>
              </a:ext>
            </a:extLst>
          </p:cNvPr>
          <p:cNvGrpSpPr/>
          <p:nvPr/>
        </p:nvGrpSpPr>
        <p:grpSpPr>
          <a:xfrm>
            <a:off x="845698" y="3377483"/>
            <a:ext cx="11155688" cy="3122987"/>
            <a:chOff x="880534" y="2794000"/>
            <a:chExt cx="11155688" cy="3122987"/>
          </a:xfrm>
        </p:grpSpPr>
        <p:sp>
          <p:nvSpPr>
            <p:cNvPr id="31" name="H0">
              <a:extLst>
                <a:ext uri="{FF2B5EF4-FFF2-40B4-BE49-F238E27FC236}">
                  <a16:creationId xmlns:a16="http://schemas.microsoft.com/office/drawing/2014/main" id="{75728CE4-594A-17BD-42A0-BA570E3C69F1}"/>
                </a:ext>
              </a:extLst>
            </p:cNvPr>
            <p:cNvSpPr/>
            <p:nvPr/>
          </p:nvSpPr>
          <p:spPr>
            <a:xfrm>
              <a:off x="880534" y="2794000"/>
              <a:ext cx="3318933" cy="237067"/>
            </a:xfrm>
            <a:prstGeom prst="rect">
              <a:avLst/>
            </a:prstGeom>
            <a:noFill/>
            <a:ln>
              <a:noFill/>
            </a:ln>
          </p:spPr>
          <p:txBody>
            <a:bodyPr wrap="square" lIns="0" tIns="0" rIns="0" bIns="0" anchor="ctr"/>
            <a:lstStyle/>
            <a:p>
              <a:pPr defTabSz="1219170"/>
              <a:r>
                <a:rPr lang="en-US" sz="1067" b="1" spc="200">
                  <a:latin typeface="Arial" panose="020B0604020202020204" pitchFamily="34" charset="0"/>
                  <a:cs typeface="Arial" panose="020B0604020202020204" pitchFamily="34" charset="0"/>
                </a:rPr>
                <a:t>PRE-EVENT PREPARATION</a:t>
              </a:r>
            </a:p>
          </p:txBody>
        </p:sp>
        <p:sp>
          <p:nvSpPr>
            <p:cNvPr id="32" name="S0">
              <a:extLst>
                <a:ext uri="{FF2B5EF4-FFF2-40B4-BE49-F238E27FC236}">
                  <a16:creationId xmlns:a16="http://schemas.microsoft.com/office/drawing/2014/main" id="{38DC1B20-F6FD-71BC-6A65-667B339B079A}"/>
                </a:ext>
              </a:extLst>
            </p:cNvPr>
            <p:cNvSpPr/>
            <p:nvPr/>
          </p:nvSpPr>
          <p:spPr>
            <a:xfrm>
              <a:off x="880534" y="3064933"/>
              <a:ext cx="3318933" cy="0"/>
            </a:xfrm>
            <a:prstGeom prst="line">
              <a:avLst/>
            </a:prstGeom>
            <a:noFill/>
            <a:ln w="28575">
              <a:solidFill>
                <a:srgbClr val="1E8090"/>
              </a:solidFill>
            </a:ln>
          </p:spPr>
          <p:txBody>
            <a:bodyPr/>
            <a:lstStyle/>
            <a:p>
              <a:pPr defTabSz="1219170"/>
              <a:endParaRPr lang="en-US" sz="2400">
                <a:latin typeface="Arial" panose="020B0604020202020204" pitchFamily="34" charset="0"/>
                <a:cs typeface="Arial" panose="020B0604020202020204" pitchFamily="34" charset="0"/>
              </a:endParaRPr>
            </a:p>
          </p:txBody>
        </p:sp>
        <p:sp>
          <p:nvSpPr>
            <p:cNvPr id="33" name="I00">
              <a:extLst>
                <a:ext uri="{FF2B5EF4-FFF2-40B4-BE49-F238E27FC236}">
                  <a16:creationId xmlns:a16="http://schemas.microsoft.com/office/drawing/2014/main" id="{0B058842-59E1-D90E-3FAE-260FCC9B76B3}"/>
                </a:ext>
              </a:extLst>
            </p:cNvPr>
            <p:cNvSpPr/>
            <p:nvPr/>
          </p:nvSpPr>
          <p:spPr>
            <a:xfrm>
              <a:off x="880534" y="3166533"/>
              <a:ext cx="3318933" cy="640080"/>
            </a:xfrm>
            <a:prstGeom prst="rect">
              <a:avLst/>
            </a:prstGeom>
            <a:noFill/>
            <a:ln>
              <a:noFill/>
            </a:ln>
          </p:spPr>
          <p:txBody>
            <a:bodyPr wrap="square" lIns="0" tIns="0" rIns="0" bIns="0" anchor="t"/>
            <a:lstStyle/>
            <a:p>
              <a:pPr defTabSz="1219170">
                <a:lnSpc>
                  <a:spcPts val="1333"/>
                </a:lnSpc>
              </a:pPr>
              <a:r>
                <a:rPr lang="en-US" sz="1067" b="1" err="1">
                  <a:latin typeface="Arial" panose="020B0604020202020204" pitchFamily="34" charset="0"/>
                  <a:cs typeface="Arial" panose="020B0604020202020204" pitchFamily="34" charset="0"/>
                </a:rPr>
                <a:t>Wk</a:t>
              </a:r>
              <a:r>
                <a:rPr lang="en-US" sz="1067" b="1">
                  <a:latin typeface="Arial" panose="020B0604020202020204" pitchFamily="34" charset="0"/>
                  <a:cs typeface="Arial" panose="020B0604020202020204" pitchFamily="34" charset="0"/>
                </a:rPr>
                <a:t> 1–2  </a:t>
              </a:r>
              <a:r>
                <a:rPr lang="en-US" sz="1067">
                  <a:latin typeface="Arial" panose="020B0604020202020204" pitchFamily="34" charset="0"/>
                  <a:cs typeface="Arial" panose="020B0604020202020204" pitchFamily="34" charset="0"/>
                </a:rPr>
                <a:t>Lock budget tier (Gold / Silver / Bronze), confirm May date, approve partner outreach list</a:t>
              </a:r>
            </a:p>
          </p:txBody>
        </p:sp>
        <p:sp>
          <p:nvSpPr>
            <p:cNvPr id="34" name="I01">
              <a:extLst>
                <a:ext uri="{FF2B5EF4-FFF2-40B4-BE49-F238E27FC236}">
                  <a16:creationId xmlns:a16="http://schemas.microsoft.com/office/drawing/2014/main" id="{4C978126-C628-2879-AB3B-C1BD2F8D2CE9}"/>
                </a:ext>
              </a:extLst>
            </p:cNvPr>
            <p:cNvSpPr/>
            <p:nvPr/>
          </p:nvSpPr>
          <p:spPr>
            <a:xfrm>
              <a:off x="880534" y="3694127"/>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Wk 3–4  </a:t>
              </a:r>
              <a:r>
                <a:rPr lang="en-US" sz="1067">
                  <a:latin typeface="Arial" panose="020B0604020202020204" pitchFamily="34" charset="0"/>
                  <a:cs typeface="Arial" panose="020B0604020202020204" pitchFamily="34" charset="0"/>
                </a:rPr>
                <a:t>Secure AWS, Microsoft &amp; OpenAI credits and begin sponsor negotiations</a:t>
              </a:r>
            </a:p>
          </p:txBody>
        </p:sp>
        <p:sp>
          <p:nvSpPr>
            <p:cNvPr id="35" name="I02">
              <a:extLst>
                <a:ext uri="{FF2B5EF4-FFF2-40B4-BE49-F238E27FC236}">
                  <a16:creationId xmlns:a16="http://schemas.microsoft.com/office/drawing/2014/main" id="{D99F55E1-C5CA-9970-916C-20391617D786}"/>
                </a:ext>
              </a:extLst>
            </p:cNvPr>
            <p:cNvSpPr/>
            <p:nvPr/>
          </p:nvSpPr>
          <p:spPr>
            <a:xfrm>
              <a:off x="880534" y="4221721"/>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Wk 5–6  </a:t>
              </a:r>
              <a:r>
                <a:rPr lang="en-US" sz="1067">
                  <a:latin typeface="Arial" panose="020B0604020202020204" pitchFamily="34" charset="0"/>
                  <a:cs typeface="Arial" panose="020B0604020202020204" pitchFamily="34" charset="0"/>
                </a:rPr>
                <a:t>Send portfolio company invitations, design challenge briefs, open registration</a:t>
              </a:r>
            </a:p>
          </p:txBody>
        </p:sp>
        <p:sp>
          <p:nvSpPr>
            <p:cNvPr id="36" name="I03">
              <a:extLst>
                <a:ext uri="{FF2B5EF4-FFF2-40B4-BE49-F238E27FC236}">
                  <a16:creationId xmlns:a16="http://schemas.microsoft.com/office/drawing/2014/main" id="{4988680A-9696-468F-E110-A8DA163734FB}"/>
                </a:ext>
              </a:extLst>
            </p:cNvPr>
            <p:cNvSpPr/>
            <p:nvPr/>
          </p:nvSpPr>
          <p:spPr>
            <a:xfrm>
              <a:off x="880534" y="4749315"/>
              <a:ext cx="3318933" cy="640080"/>
            </a:xfrm>
            <a:prstGeom prst="rect">
              <a:avLst/>
            </a:prstGeom>
            <a:noFill/>
            <a:ln>
              <a:noFill/>
            </a:ln>
          </p:spPr>
          <p:txBody>
            <a:bodyPr wrap="square" lIns="0" tIns="0" rIns="0" bIns="0" anchor="t"/>
            <a:lstStyle/>
            <a:p>
              <a:pPr defTabSz="1219170">
                <a:lnSpc>
                  <a:spcPts val="1333"/>
                </a:lnSpc>
              </a:pPr>
              <a:r>
                <a:rPr lang="en-US" sz="1067" b="1" err="1">
                  <a:latin typeface="Arial" panose="020B0604020202020204" pitchFamily="34" charset="0"/>
                  <a:cs typeface="Arial" panose="020B0604020202020204" pitchFamily="34" charset="0"/>
                </a:rPr>
                <a:t>Wk</a:t>
              </a:r>
              <a:r>
                <a:rPr lang="en-US" sz="1067" b="1">
                  <a:latin typeface="Arial" panose="020B0604020202020204" pitchFamily="34" charset="0"/>
                  <a:cs typeface="Arial" panose="020B0604020202020204" pitchFamily="34" charset="0"/>
                </a:rPr>
                <a:t> 7–8  </a:t>
              </a:r>
              <a:r>
                <a:rPr lang="en-US" sz="1067">
                  <a:latin typeface="Arial" panose="020B0604020202020204" pitchFamily="34" charset="0"/>
                  <a:cs typeface="Arial" panose="020B0604020202020204" pitchFamily="34" charset="0"/>
                </a:rPr>
                <a:t>Team formation (4–6 per company), partner-led enablement, hype communications</a:t>
              </a:r>
            </a:p>
          </p:txBody>
        </p:sp>
        <p:sp>
          <p:nvSpPr>
            <p:cNvPr id="37" name="I04">
              <a:extLst>
                <a:ext uri="{FF2B5EF4-FFF2-40B4-BE49-F238E27FC236}">
                  <a16:creationId xmlns:a16="http://schemas.microsoft.com/office/drawing/2014/main" id="{7CA2434D-A879-FD6B-200B-0003AF7BDB19}"/>
                </a:ext>
              </a:extLst>
            </p:cNvPr>
            <p:cNvSpPr/>
            <p:nvPr/>
          </p:nvSpPr>
          <p:spPr>
            <a:xfrm>
              <a:off x="880534" y="5276907"/>
              <a:ext cx="3318933" cy="640080"/>
            </a:xfrm>
            <a:prstGeom prst="rect">
              <a:avLst/>
            </a:prstGeom>
            <a:noFill/>
            <a:ln>
              <a:noFill/>
            </a:ln>
          </p:spPr>
          <p:txBody>
            <a:bodyPr wrap="square" lIns="0" tIns="0" rIns="0" bIns="0" anchor="t"/>
            <a:lstStyle/>
            <a:p>
              <a:pPr defTabSz="1219170">
                <a:lnSpc>
                  <a:spcPts val="1333"/>
                </a:lnSpc>
              </a:pPr>
              <a:r>
                <a:rPr lang="en-US" sz="1067" b="1" err="1">
                  <a:latin typeface="Arial" panose="020B0604020202020204" pitchFamily="34" charset="0"/>
                  <a:cs typeface="Arial" panose="020B0604020202020204" pitchFamily="34" charset="0"/>
                </a:rPr>
                <a:t>Wk</a:t>
              </a:r>
              <a:r>
                <a:rPr lang="en-US" sz="1067" b="1">
                  <a:latin typeface="Arial" panose="020B0604020202020204" pitchFamily="34" charset="0"/>
                  <a:cs typeface="Arial" panose="020B0604020202020204" pitchFamily="34" charset="0"/>
                </a:rPr>
                <a:t> 9  </a:t>
              </a:r>
              <a:r>
                <a:rPr lang="en-US" sz="1067">
                  <a:latin typeface="Arial" panose="020B0604020202020204" pitchFamily="34" charset="0"/>
                  <a:cs typeface="Arial" panose="020B0604020202020204" pitchFamily="34" charset="0"/>
                </a:rPr>
                <a:t>Final logistics, rehearsal dry run, speaker &amp; partner prep meetings</a:t>
              </a:r>
            </a:p>
          </p:txBody>
        </p:sp>
        <p:sp>
          <p:nvSpPr>
            <p:cNvPr id="38" name="H1">
              <a:extLst>
                <a:ext uri="{FF2B5EF4-FFF2-40B4-BE49-F238E27FC236}">
                  <a16:creationId xmlns:a16="http://schemas.microsoft.com/office/drawing/2014/main" id="{7F2CA94A-7BBC-6068-8820-4DF16AA632CD}"/>
                </a:ext>
              </a:extLst>
            </p:cNvPr>
            <p:cNvSpPr/>
            <p:nvPr/>
          </p:nvSpPr>
          <p:spPr>
            <a:xfrm>
              <a:off x="4785847" y="2794000"/>
              <a:ext cx="3318933" cy="237067"/>
            </a:xfrm>
            <a:prstGeom prst="rect">
              <a:avLst/>
            </a:prstGeom>
            <a:noFill/>
            <a:ln>
              <a:noFill/>
            </a:ln>
          </p:spPr>
          <p:txBody>
            <a:bodyPr wrap="square" lIns="0" tIns="0" rIns="0" bIns="0" anchor="ctr"/>
            <a:lstStyle/>
            <a:p>
              <a:pPr defTabSz="1219170"/>
              <a:r>
                <a:rPr lang="en-US" sz="1067" b="1" spc="200">
                  <a:latin typeface="Arial" panose="020B0604020202020204" pitchFamily="34" charset="0"/>
                  <a:cs typeface="Arial" panose="020B0604020202020204" pitchFamily="34" charset="0"/>
                </a:rPr>
                <a:t>EVENT WEEK (18–22 MAY)</a:t>
              </a:r>
            </a:p>
          </p:txBody>
        </p:sp>
        <p:sp>
          <p:nvSpPr>
            <p:cNvPr id="39" name="S1">
              <a:extLst>
                <a:ext uri="{FF2B5EF4-FFF2-40B4-BE49-F238E27FC236}">
                  <a16:creationId xmlns:a16="http://schemas.microsoft.com/office/drawing/2014/main" id="{1A37315A-3407-6331-3ECD-996ADF8D0220}"/>
                </a:ext>
              </a:extLst>
            </p:cNvPr>
            <p:cNvSpPr/>
            <p:nvPr/>
          </p:nvSpPr>
          <p:spPr>
            <a:xfrm>
              <a:off x="4785847" y="3064933"/>
              <a:ext cx="3318933" cy="0"/>
            </a:xfrm>
            <a:prstGeom prst="line">
              <a:avLst/>
            </a:prstGeom>
            <a:noFill/>
            <a:ln w="28575">
              <a:solidFill>
                <a:srgbClr val="D4A843"/>
              </a:solidFill>
            </a:ln>
          </p:spPr>
          <p:txBody>
            <a:bodyPr/>
            <a:lstStyle/>
            <a:p>
              <a:pPr defTabSz="1219170"/>
              <a:endParaRPr lang="en-US" sz="2400">
                <a:latin typeface="Arial" panose="020B0604020202020204" pitchFamily="34" charset="0"/>
                <a:cs typeface="Arial" panose="020B0604020202020204" pitchFamily="34" charset="0"/>
              </a:endParaRPr>
            </a:p>
          </p:txBody>
        </p:sp>
        <p:sp>
          <p:nvSpPr>
            <p:cNvPr id="40" name="I10">
              <a:extLst>
                <a:ext uri="{FF2B5EF4-FFF2-40B4-BE49-F238E27FC236}">
                  <a16:creationId xmlns:a16="http://schemas.microsoft.com/office/drawing/2014/main" id="{78266DF3-31A4-5C06-103E-773894AD183E}"/>
                </a:ext>
              </a:extLst>
            </p:cNvPr>
            <p:cNvSpPr/>
            <p:nvPr/>
          </p:nvSpPr>
          <p:spPr>
            <a:xfrm>
              <a:off x="4785847" y="3166533"/>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Mon  </a:t>
              </a:r>
              <a:r>
                <a:rPr lang="en-US" sz="1067">
                  <a:latin typeface="Arial" panose="020B0604020202020204" pitchFamily="34" charset="0"/>
                  <a:cs typeface="Arial" panose="020B0604020202020204" pitchFamily="34" charset="0"/>
                </a:rPr>
                <a:t>Hype email sent; final prep meetings with kick-off speakers &amp; partners</a:t>
              </a:r>
            </a:p>
          </p:txBody>
        </p:sp>
        <p:sp>
          <p:nvSpPr>
            <p:cNvPr id="41" name="I11">
              <a:extLst>
                <a:ext uri="{FF2B5EF4-FFF2-40B4-BE49-F238E27FC236}">
                  <a16:creationId xmlns:a16="http://schemas.microsoft.com/office/drawing/2014/main" id="{DDF6388B-A98F-6644-556C-E6FDA665804F}"/>
                </a:ext>
              </a:extLst>
            </p:cNvPr>
            <p:cNvSpPr/>
            <p:nvPr/>
          </p:nvSpPr>
          <p:spPr>
            <a:xfrm>
              <a:off x="4785847" y="3857413"/>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Tue  </a:t>
              </a:r>
              <a:r>
                <a:rPr lang="en-US" sz="1067">
                  <a:latin typeface="Arial" panose="020B0604020202020204" pitchFamily="34" charset="0"/>
                  <a:cs typeface="Arial" panose="020B0604020202020204" pitchFamily="34" charset="0"/>
                </a:rPr>
                <a:t>Kick-off opening &amp; welcome; hackathon begins with ongoing partner support</a:t>
              </a:r>
            </a:p>
          </p:txBody>
        </p:sp>
        <p:sp>
          <p:nvSpPr>
            <p:cNvPr id="42" name="I12">
              <a:extLst>
                <a:ext uri="{FF2B5EF4-FFF2-40B4-BE49-F238E27FC236}">
                  <a16:creationId xmlns:a16="http://schemas.microsoft.com/office/drawing/2014/main" id="{2063379D-7CDD-B30A-EB6A-34F6EA9F22E3}"/>
                </a:ext>
              </a:extLst>
            </p:cNvPr>
            <p:cNvSpPr/>
            <p:nvPr/>
          </p:nvSpPr>
          <p:spPr>
            <a:xfrm>
              <a:off x="4785847" y="4548293"/>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Wed  </a:t>
              </a:r>
              <a:r>
                <a:rPr lang="en-US" sz="1067">
                  <a:latin typeface="Arial" panose="020B0604020202020204" pitchFamily="34" charset="0"/>
                  <a:cs typeface="Arial" panose="020B0604020202020204" pitchFamily="34" charset="0"/>
                </a:rPr>
                <a:t>24-hr hacking continues; celebration lunch; team presentations &amp; judging</a:t>
              </a:r>
            </a:p>
          </p:txBody>
        </p:sp>
        <p:sp>
          <p:nvSpPr>
            <p:cNvPr id="43" name="I13">
              <a:extLst>
                <a:ext uri="{FF2B5EF4-FFF2-40B4-BE49-F238E27FC236}">
                  <a16:creationId xmlns:a16="http://schemas.microsoft.com/office/drawing/2014/main" id="{A478977B-1538-5FED-4D3C-A610F63F83F9}"/>
                </a:ext>
              </a:extLst>
            </p:cNvPr>
            <p:cNvSpPr/>
            <p:nvPr/>
          </p:nvSpPr>
          <p:spPr>
            <a:xfrm>
              <a:off x="4785847" y="5239173"/>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Thu  </a:t>
              </a:r>
              <a:r>
                <a:rPr lang="en-US" sz="1067">
                  <a:latin typeface="Arial" panose="020B0604020202020204" pitchFamily="34" charset="0"/>
                  <a:cs typeface="Arial" panose="020B0604020202020204" pitchFamily="34" charset="0"/>
                </a:rPr>
                <a:t>Event summary distributed; post-event survey &amp; feedback capture launched</a:t>
              </a:r>
            </a:p>
          </p:txBody>
        </p:sp>
        <p:sp>
          <p:nvSpPr>
            <p:cNvPr id="44" name="H2">
              <a:extLst>
                <a:ext uri="{FF2B5EF4-FFF2-40B4-BE49-F238E27FC236}">
                  <a16:creationId xmlns:a16="http://schemas.microsoft.com/office/drawing/2014/main" id="{7BF4491B-3FBB-551A-B0FB-6303DEC8A76F}"/>
                </a:ext>
              </a:extLst>
            </p:cNvPr>
            <p:cNvSpPr/>
            <p:nvPr/>
          </p:nvSpPr>
          <p:spPr>
            <a:xfrm>
              <a:off x="8717289" y="2802672"/>
              <a:ext cx="3318933" cy="237067"/>
            </a:xfrm>
            <a:prstGeom prst="rect">
              <a:avLst/>
            </a:prstGeom>
            <a:noFill/>
            <a:ln>
              <a:noFill/>
            </a:ln>
          </p:spPr>
          <p:txBody>
            <a:bodyPr wrap="square" lIns="0" tIns="0" rIns="0" bIns="0" anchor="ctr"/>
            <a:lstStyle/>
            <a:p>
              <a:pPr defTabSz="1219170"/>
              <a:r>
                <a:rPr lang="en-US" sz="1067" b="1" spc="200">
                  <a:latin typeface="Arial" panose="020B0604020202020204" pitchFamily="34" charset="0"/>
                  <a:cs typeface="Arial" panose="020B0604020202020204" pitchFamily="34" charset="0"/>
                </a:rPr>
                <a:t>POST-EVENT TRACKING</a:t>
              </a:r>
            </a:p>
          </p:txBody>
        </p:sp>
        <p:sp>
          <p:nvSpPr>
            <p:cNvPr id="45" name="S2">
              <a:extLst>
                <a:ext uri="{FF2B5EF4-FFF2-40B4-BE49-F238E27FC236}">
                  <a16:creationId xmlns:a16="http://schemas.microsoft.com/office/drawing/2014/main" id="{2DCB1CD0-F3A3-BCCF-FABF-148FA2FBBB10}"/>
                </a:ext>
              </a:extLst>
            </p:cNvPr>
            <p:cNvSpPr/>
            <p:nvPr/>
          </p:nvSpPr>
          <p:spPr>
            <a:xfrm>
              <a:off x="8717289" y="3073605"/>
              <a:ext cx="3318933" cy="0"/>
            </a:xfrm>
            <a:prstGeom prst="line">
              <a:avLst/>
            </a:prstGeom>
            <a:noFill/>
            <a:ln w="28575">
              <a:solidFill>
                <a:srgbClr val="299ED5"/>
              </a:solidFill>
            </a:ln>
          </p:spPr>
          <p:txBody>
            <a:bodyPr/>
            <a:lstStyle/>
            <a:p>
              <a:pPr defTabSz="1219170"/>
              <a:endParaRPr lang="en-US" sz="2400">
                <a:latin typeface="Arial" panose="020B0604020202020204" pitchFamily="34" charset="0"/>
                <a:cs typeface="Arial" panose="020B0604020202020204" pitchFamily="34" charset="0"/>
              </a:endParaRPr>
            </a:p>
          </p:txBody>
        </p:sp>
        <p:sp>
          <p:nvSpPr>
            <p:cNvPr id="46" name="I20">
              <a:extLst>
                <a:ext uri="{FF2B5EF4-FFF2-40B4-BE49-F238E27FC236}">
                  <a16:creationId xmlns:a16="http://schemas.microsoft.com/office/drawing/2014/main" id="{0B5CBBC8-89E3-EEDF-591C-957DA033EDBC}"/>
                </a:ext>
              </a:extLst>
            </p:cNvPr>
            <p:cNvSpPr/>
            <p:nvPr/>
          </p:nvSpPr>
          <p:spPr>
            <a:xfrm>
              <a:off x="8717289" y="3175205"/>
              <a:ext cx="3318933" cy="640080"/>
            </a:xfrm>
            <a:prstGeom prst="rect">
              <a:avLst/>
            </a:prstGeom>
            <a:noFill/>
            <a:ln>
              <a:noFill/>
            </a:ln>
          </p:spPr>
          <p:txBody>
            <a:bodyPr wrap="square" lIns="0" tIns="0" rIns="0" bIns="0" anchor="t"/>
            <a:lstStyle/>
            <a:p>
              <a:pPr defTabSz="1219170">
                <a:lnSpc>
                  <a:spcPts val="1333"/>
                </a:lnSpc>
              </a:pPr>
              <a:r>
                <a:rPr lang="en-US" sz="1067" b="1" err="1">
                  <a:latin typeface="Arial" panose="020B0604020202020204" pitchFamily="34" charset="0"/>
                  <a:cs typeface="Arial" panose="020B0604020202020204" pitchFamily="34" charset="0"/>
                </a:rPr>
                <a:t>Wk</a:t>
              </a:r>
              <a:r>
                <a:rPr lang="en-US" sz="1067" b="1">
                  <a:latin typeface="Arial" panose="020B0604020202020204" pitchFamily="34" charset="0"/>
                  <a:cs typeface="Arial" panose="020B0604020202020204" pitchFamily="34" charset="0"/>
                </a:rPr>
                <a:t> 11  </a:t>
              </a:r>
              <a:r>
                <a:rPr lang="en-US" sz="1067">
                  <a:latin typeface="Arial" panose="020B0604020202020204" pitchFamily="34" charset="0"/>
                  <a:cs typeface="Arial" panose="020B0604020202020204" pitchFamily="34" charset="0"/>
                </a:rPr>
                <a:t>Follow-up tracking emails sent; post-event survey &amp; feedback analysis</a:t>
              </a:r>
            </a:p>
          </p:txBody>
        </p:sp>
        <p:sp>
          <p:nvSpPr>
            <p:cNvPr id="47" name="I21">
              <a:extLst>
                <a:ext uri="{FF2B5EF4-FFF2-40B4-BE49-F238E27FC236}">
                  <a16:creationId xmlns:a16="http://schemas.microsoft.com/office/drawing/2014/main" id="{C5FA23CA-3AF2-3E51-F5C1-4F280CB896FC}"/>
                </a:ext>
              </a:extLst>
            </p:cNvPr>
            <p:cNvSpPr/>
            <p:nvPr/>
          </p:nvSpPr>
          <p:spPr>
            <a:xfrm>
              <a:off x="8717289" y="3866085"/>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+90 days  </a:t>
              </a:r>
              <a:r>
                <a:rPr lang="en-US" sz="1067">
                  <a:latin typeface="Arial" panose="020B0604020202020204" pitchFamily="34" charset="0"/>
                  <a:cs typeface="Arial" panose="020B0604020202020204" pitchFamily="34" charset="0"/>
                </a:rPr>
                <a:t>First impact checkpoint — entry / exit criteria assessment per project</a:t>
              </a:r>
            </a:p>
          </p:txBody>
        </p:sp>
        <p:sp>
          <p:nvSpPr>
            <p:cNvPr id="48" name="I22">
              <a:extLst>
                <a:ext uri="{FF2B5EF4-FFF2-40B4-BE49-F238E27FC236}">
                  <a16:creationId xmlns:a16="http://schemas.microsoft.com/office/drawing/2014/main" id="{F7176B22-DC78-EFD3-F74B-40A07597C18E}"/>
                </a:ext>
              </a:extLst>
            </p:cNvPr>
            <p:cNvSpPr/>
            <p:nvPr/>
          </p:nvSpPr>
          <p:spPr>
            <a:xfrm>
              <a:off x="8717289" y="4556965"/>
              <a:ext cx="3318933" cy="640080"/>
            </a:xfrm>
            <a:prstGeom prst="rect">
              <a:avLst/>
            </a:prstGeom>
            <a:noFill/>
            <a:ln>
              <a:noFill/>
            </a:ln>
          </p:spPr>
          <p:txBody>
            <a:bodyPr wrap="square" lIns="0" tIns="0" rIns="0" bIns="0" anchor="t"/>
            <a:lstStyle/>
            <a:p>
              <a:pPr defTabSz="1219170">
                <a:lnSpc>
                  <a:spcPts val="1333"/>
                </a:lnSpc>
              </a:pPr>
              <a:r>
                <a:rPr lang="en-US" sz="1067" b="1">
                  <a:latin typeface="Arial" panose="020B0604020202020204" pitchFamily="34" charset="0"/>
                  <a:cs typeface="Arial" panose="020B0604020202020204" pitchFamily="34" charset="0"/>
                </a:rPr>
                <a:t>+180 days  </a:t>
              </a:r>
              <a:r>
                <a:rPr lang="en-US" sz="1067">
                  <a:latin typeface="Arial" panose="020B0604020202020204" pitchFamily="34" charset="0"/>
                  <a:cs typeface="Arial" panose="020B0604020202020204" pitchFamily="34" charset="0"/>
                </a:rPr>
                <a:t>Final impact report — sustained enterprise value measurement &amp; LP comms</a:t>
              </a:r>
            </a:p>
          </p:txBody>
        </p:sp>
      </p:grpSp>
    </p:spTree>
    <p:extLst>
      <p:ext uri="{BB962C8B-B14F-4D97-AF65-F5344CB8AC3E}">
        <p14:creationId xmlns:p14="http://schemas.microsoft.com/office/powerpoint/2010/main" val="2989179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
          <p:cNvSpPr/>
          <p:nvPr/>
        </p:nvSpPr>
        <p:spPr>
          <a:xfrm>
            <a:off x="838200" y="2355668"/>
            <a:ext cx="3063240" cy="327877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sz="2400"/>
          </a:p>
        </p:txBody>
      </p:sp>
      <p:sp>
        <p:nvSpPr>
          <p:cNvPr id="5" name="Shape 2"/>
          <p:cNvSpPr/>
          <p:nvPr/>
        </p:nvSpPr>
        <p:spPr>
          <a:xfrm>
            <a:off x="838200" y="2355669"/>
            <a:ext cx="3063240" cy="85344"/>
          </a:xfrm>
          <a:prstGeom prst="rect">
            <a:avLst/>
          </a:prstGeom>
          <a:solidFill>
            <a:srgbClr val="028090"/>
          </a:solidFill>
          <a:ln/>
        </p:spPr>
        <p:txBody>
          <a:bodyPr/>
          <a:lstStyle/>
          <a:p>
            <a:endParaRPr lang="en-US" sz="2400"/>
          </a:p>
        </p:txBody>
      </p:sp>
      <p:sp>
        <p:nvSpPr>
          <p:cNvPr id="6" name="Text 3"/>
          <p:cNvSpPr/>
          <p:nvPr/>
        </p:nvSpPr>
        <p:spPr>
          <a:xfrm>
            <a:off x="1082040" y="2599509"/>
            <a:ext cx="2647885" cy="426720"/>
          </a:xfrm>
          <a:prstGeom prst="rect">
            <a:avLst/>
          </a:prstGeom>
          <a:noFill/>
          <a:ln/>
        </p:spPr>
        <p:txBody>
          <a:bodyPr wrap="square" lIns="0" tIns="0" rIns="0" bIns="0" rtlCol="0" anchor="ctr"/>
          <a:lstStyle/>
          <a:p>
            <a:r>
              <a:rPr lang="en-US" sz="1867" b="1" kern="0" spc="400">
                <a:solidFill>
                  <a:srgbClr val="028090"/>
                </a:solidFill>
                <a:latin typeface="Arial" panose="020B0604020202020204" pitchFamily="34" charset="0"/>
                <a:ea typeface="Calibri" pitchFamily="34" charset="-122"/>
                <a:cs typeface="Arial" panose="020B0604020202020204" pitchFamily="34" charset="0"/>
              </a:rPr>
              <a:t>GOLD</a:t>
            </a:r>
            <a:endParaRPr lang="en-US" sz="1867">
              <a:latin typeface="Arial" panose="020B0604020202020204" pitchFamily="34" charset="0"/>
              <a:cs typeface="Arial" panose="020B0604020202020204" pitchFamily="34" charset="0"/>
            </a:endParaRPr>
          </a:p>
        </p:txBody>
      </p:sp>
      <p:sp>
        <p:nvSpPr>
          <p:cNvPr id="7" name="Text 4"/>
          <p:cNvSpPr/>
          <p:nvPr/>
        </p:nvSpPr>
        <p:spPr>
          <a:xfrm>
            <a:off x="1082040" y="3026229"/>
            <a:ext cx="2647885" cy="487680"/>
          </a:xfrm>
          <a:prstGeom prst="rect">
            <a:avLst/>
          </a:prstGeom>
          <a:noFill/>
          <a:ln/>
        </p:spPr>
        <p:txBody>
          <a:bodyPr wrap="square" lIns="0" tIns="0" rIns="0" bIns="0" rtlCol="0" anchor="ctr"/>
          <a:lstStyle/>
          <a:p>
            <a:r>
              <a:rPr lang="en-US" sz="2800" b="1">
                <a:solidFill>
                  <a:srgbClr val="1A1A2E"/>
                </a:solidFill>
                <a:latin typeface="Arial" panose="020B0604020202020204" pitchFamily="34" charset="0"/>
                <a:ea typeface="Georgia" pitchFamily="34" charset="-122"/>
                <a:cs typeface="Arial" panose="020B0604020202020204" pitchFamily="34" charset="0"/>
              </a:rPr>
              <a:t>€253k</a:t>
            </a:r>
            <a:endParaRPr lang="en-US" sz="2800">
              <a:latin typeface="Arial" panose="020B0604020202020204" pitchFamily="34" charset="0"/>
              <a:cs typeface="Arial" panose="020B0604020202020204" pitchFamily="34" charset="0"/>
            </a:endParaRPr>
          </a:p>
        </p:txBody>
      </p:sp>
      <p:sp>
        <p:nvSpPr>
          <p:cNvPr id="9" name="Shape 6"/>
          <p:cNvSpPr/>
          <p:nvPr/>
        </p:nvSpPr>
        <p:spPr>
          <a:xfrm>
            <a:off x="4564380" y="2355668"/>
            <a:ext cx="3063240" cy="327877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sz="2400"/>
          </a:p>
        </p:txBody>
      </p:sp>
      <p:sp>
        <p:nvSpPr>
          <p:cNvPr id="10" name="Shape 7"/>
          <p:cNvSpPr/>
          <p:nvPr/>
        </p:nvSpPr>
        <p:spPr>
          <a:xfrm>
            <a:off x="4564380" y="2355669"/>
            <a:ext cx="3063240" cy="85344"/>
          </a:xfrm>
          <a:prstGeom prst="rect">
            <a:avLst/>
          </a:prstGeom>
          <a:solidFill>
            <a:srgbClr val="00A896"/>
          </a:solidFill>
          <a:ln/>
        </p:spPr>
        <p:txBody>
          <a:bodyPr/>
          <a:lstStyle/>
          <a:p>
            <a:endParaRPr lang="en-US" sz="2400"/>
          </a:p>
        </p:txBody>
      </p:sp>
      <p:sp>
        <p:nvSpPr>
          <p:cNvPr id="11" name="Text 8"/>
          <p:cNvSpPr/>
          <p:nvPr/>
        </p:nvSpPr>
        <p:spPr>
          <a:xfrm>
            <a:off x="4808220" y="2599509"/>
            <a:ext cx="2647885" cy="426720"/>
          </a:xfrm>
          <a:prstGeom prst="rect">
            <a:avLst/>
          </a:prstGeom>
          <a:noFill/>
          <a:ln/>
        </p:spPr>
        <p:txBody>
          <a:bodyPr wrap="square" lIns="0" tIns="0" rIns="0" bIns="0" rtlCol="0" anchor="ctr"/>
          <a:lstStyle/>
          <a:p>
            <a:r>
              <a:rPr lang="en-US" sz="1867" b="1" kern="0" spc="400">
                <a:solidFill>
                  <a:srgbClr val="00A896"/>
                </a:solidFill>
                <a:latin typeface="Arial" panose="020B0604020202020204" pitchFamily="34" charset="0"/>
                <a:ea typeface="Calibri" pitchFamily="34" charset="-122"/>
                <a:cs typeface="Arial" panose="020B0604020202020204" pitchFamily="34" charset="0"/>
              </a:rPr>
              <a:t>SILVER</a:t>
            </a:r>
            <a:endParaRPr lang="en-US" sz="1867">
              <a:latin typeface="Arial" panose="020B0604020202020204" pitchFamily="34" charset="0"/>
              <a:cs typeface="Arial" panose="020B0604020202020204" pitchFamily="34" charset="0"/>
            </a:endParaRPr>
          </a:p>
        </p:txBody>
      </p:sp>
      <p:sp>
        <p:nvSpPr>
          <p:cNvPr id="12" name="Text 9"/>
          <p:cNvSpPr/>
          <p:nvPr/>
        </p:nvSpPr>
        <p:spPr>
          <a:xfrm>
            <a:off x="4808220" y="3026229"/>
            <a:ext cx="2647885" cy="487680"/>
          </a:xfrm>
          <a:prstGeom prst="rect">
            <a:avLst/>
          </a:prstGeom>
          <a:noFill/>
          <a:ln/>
        </p:spPr>
        <p:txBody>
          <a:bodyPr wrap="square" lIns="0" tIns="0" rIns="0" bIns="0" rtlCol="0" anchor="ctr"/>
          <a:lstStyle/>
          <a:p>
            <a:r>
              <a:rPr lang="en-US" sz="2800" b="1">
                <a:solidFill>
                  <a:srgbClr val="1A1A2E"/>
                </a:solidFill>
                <a:latin typeface="Arial" panose="020B0604020202020204" pitchFamily="34" charset="0"/>
                <a:cs typeface="Arial" panose="020B0604020202020204" pitchFamily="34" charset="0"/>
              </a:rPr>
              <a:t>€173k</a:t>
            </a:r>
          </a:p>
        </p:txBody>
      </p:sp>
      <p:sp>
        <p:nvSpPr>
          <p:cNvPr id="14" name="Shape 11"/>
          <p:cNvSpPr/>
          <p:nvPr/>
        </p:nvSpPr>
        <p:spPr>
          <a:xfrm>
            <a:off x="8290560" y="2355668"/>
            <a:ext cx="3063240" cy="327877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sz="2400"/>
          </a:p>
        </p:txBody>
      </p:sp>
      <p:sp>
        <p:nvSpPr>
          <p:cNvPr id="15" name="Shape 12"/>
          <p:cNvSpPr/>
          <p:nvPr/>
        </p:nvSpPr>
        <p:spPr>
          <a:xfrm>
            <a:off x="8290560" y="2355669"/>
            <a:ext cx="3063240" cy="85344"/>
          </a:xfrm>
          <a:prstGeom prst="rect">
            <a:avLst/>
          </a:prstGeom>
          <a:solidFill>
            <a:srgbClr val="02C39A"/>
          </a:solidFill>
          <a:ln/>
        </p:spPr>
        <p:txBody>
          <a:bodyPr/>
          <a:lstStyle/>
          <a:p>
            <a:endParaRPr lang="en-US" sz="2400"/>
          </a:p>
        </p:txBody>
      </p:sp>
      <p:sp>
        <p:nvSpPr>
          <p:cNvPr id="16" name="Text 13"/>
          <p:cNvSpPr/>
          <p:nvPr/>
        </p:nvSpPr>
        <p:spPr>
          <a:xfrm>
            <a:off x="8534400" y="2599509"/>
            <a:ext cx="2647885" cy="426720"/>
          </a:xfrm>
          <a:prstGeom prst="rect">
            <a:avLst/>
          </a:prstGeom>
          <a:noFill/>
          <a:ln/>
        </p:spPr>
        <p:txBody>
          <a:bodyPr wrap="square" lIns="0" tIns="0" rIns="0" bIns="0" rtlCol="0" anchor="ctr"/>
          <a:lstStyle/>
          <a:p>
            <a:r>
              <a:rPr lang="en-US" sz="1867" b="1" kern="0" spc="400">
                <a:solidFill>
                  <a:srgbClr val="02C39A"/>
                </a:solidFill>
                <a:latin typeface="Arial" panose="020B0604020202020204" pitchFamily="34" charset="0"/>
                <a:ea typeface="Calibri" pitchFamily="34" charset="-122"/>
                <a:cs typeface="Arial" panose="020B0604020202020204" pitchFamily="34" charset="0"/>
              </a:rPr>
              <a:t>BRONZE</a:t>
            </a:r>
            <a:endParaRPr lang="en-US" sz="1867">
              <a:latin typeface="Arial" panose="020B0604020202020204" pitchFamily="34" charset="0"/>
              <a:cs typeface="Arial" panose="020B0604020202020204" pitchFamily="34" charset="0"/>
            </a:endParaRPr>
          </a:p>
        </p:txBody>
      </p:sp>
      <p:sp>
        <p:nvSpPr>
          <p:cNvPr id="17" name="Text 14"/>
          <p:cNvSpPr/>
          <p:nvPr/>
        </p:nvSpPr>
        <p:spPr>
          <a:xfrm>
            <a:off x="8534400" y="3026229"/>
            <a:ext cx="2647885" cy="487680"/>
          </a:xfrm>
          <a:prstGeom prst="rect">
            <a:avLst/>
          </a:prstGeom>
          <a:noFill/>
          <a:ln/>
        </p:spPr>
        <p:txBody>
          <a:bodyPr wrap="square" lIns="0" tIns="0" rIns="0" bIns="0" rtlCol="0" anchor="ctr"/>
          <a:lstStyle/>
          <a:p>
            <a:r>
              <a:rPr lang="en-US" sz="2800" b="1">
                <a:solidFill>
                  <a:srgbClr val="1A1A2E"/>
                </a:solidFill>
                <a:latin typeface="Arial" panose="020B0604020202020204" pitchFamily="34" charset="0"/>
                <a:cs typeface="Arial" panose="020B0604020202020204" pitchFamily="34" charset="0"/>
              </a:rPr>
              <a:t>€109k</a:t>
            </a:r>
          </a:p>
        </p:txBody>
      </p:sp>
      <p:sp>
        <p:nvSpPr>
          <p:cNvPr id="22" name="Title 1">
            <a:extLst>
              <a:ext uri="{FF2B5EF4-FFF2-40B4-BE49-F238E27FC236}">
                <a16:creationId xmlns:a16="http://schemas.microsoft.com/office/drawing/2014/main" id="{0F83FF48-8FB4-DD4A-323E-B3F7318F604B}"/>
              </a:ext>
            </a:extLst>
          </p:cNvPr>
          <p:cNvSpPr txBox="1">
            <a:spLocks/>
          </p:cNvSpPr>
          <p:nvPr/>
        </p:nvSpPr>
        <p:spPr>
          <a:xfrm>
            <a:off x="839788"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AI Product Hackathon</a:t>
            </a:r>
            <a:br>
              <a:rPr lang="en-US" b="1"/>
            </a:br>
            <a:r>
              <a:rPr lang="en-US"/>
              <a:t>Budget Summary</a:t>
            </a:r>
            <a:endParaRPr lang="en-US" b="1"/>
          </a:p>
        </p:txBody>
      </p:sp>
      <p:sp>
        <p:nvSpPr>
          <p:cNvPr id="33" name="Text 4">
            <a:extLst>
              <a:ext uri="{FF2B5EF4-FFF2-40B4-BE49-F238E27FC236}">
                <a16:creationId xmlns:a16="http://schemas.microsoft.com/office/drawing/2014/main" id="{6E296C5D-6493-DF0A-DB39-C55FCCDD96D2}"/>
              </a:ext>
            </a:extLst>
          </p:cNvPr>
          <p:cNvSpPr/>
          <p:nvPr/>
        </p:nvSpPr>
        <p:spPr>
          <a:xfrm>
            <a:off x="1045877" y="3596749"/>
            <a:ext cx="2647885" cy="1954856"/>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a:solidFill>
                  <a:srgbClr val="1A1A2E"/>
                </a:solidFill>
                <a:latin typeface="Arial" panose="020B0604020202020204" pitchFamily="34" charset="0"/>
                <a:ea typeface="Georgia" pitchFamily="34" charset="-122"/>
                <a:cs typeface="Arial" panose="020B0604020202020204" pitchFamily="34" charset="0"/>
              </a:rPr>
              <a:t>Text </a:t>
            </a:r>
          </a:p>
          <a:p>
            <a:pPr marL="285750" indent="-285750">
              <a:buFont typeface="Arial" panose="020B0604020202020204" pitchFamily="34" charset="0"/>
              <a:buChar char="•"/>
            </a:pPr>
            <a:r>
              <a:rPr lang="en-US" sz="1600">
                <a:solidFill>
                  <a:srgbClr val="1A1A2E"/>
                </a:solidFill>
                <a:latin typeface="Arial" panose="020B0604020202020204" pitchFamily="34" charset="0"/>
                <a:cs typeface="Arial" panose="020B0604020202020204" pitchFamily="34" charset="0"/>
              </a:rPr>
              <a:t>Text</a:t>
            </a:r>
            <a:endParaRPr lang="en-US" sz="1600">
              <a:latin typeface="Arial" panose="020B0604020202020204" pitchFamily="34" charset="0"/>
              <a:cs typeface="Arial" panose="020B0604020202020204" pitchFamily="34" charset="0"/>
            </a:endParaRPr>
          </a:p>
        </p:txBody>
      </p:sp>
      <p:sp>
        <p:nvSpPr>
          <p:cNvPr id="34" name="Text 4">
            <a:extLst>
              <a:ext uri="{FF2B5EF4-FFF2-40B4-BE49-F238E27FC236}">
                <a16:creationId xmlns:a16="http://schemas.microsoft.com/office/drawing/2014/main" id="{4C3AA297-60EF-FFFE-CE13-41273B37D438}"/>
              </a:ext>
            </a:extLst>
          </p:cNvPr>
          <p:cNvSpPr/>
          <p:nvPr/>
        </p:nvSpPr>
        <p:spPr>
          <a:xfrm>
            <a:off x="4790139" y="3596749"/>
            <a:ext cx="2647885" cy="1954856"/>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a:solidFill>
                  <a:srgbClr val="1A1A2E"/>
                </a:solidFill>
                <a:latin typeface="Arial" panose="020B0604020202020204" pitchFamily="34" charset="0"/>
                <a:ea typeface="Georgia" pitchFamily="34" charset="-122"/>
                <a:cs typeface="Arial" panose="020B0604020202020204" pitchFamily="34" charset="0"/>
              </a:rPr>
              <a:t>Text </a:t>
            </a:r>
          </a:p>
          <a:p>
            <a:pPr marL="285750" indent="-285750">
              <a:buFont typeface="Arial" panose="020B0604020202020204" pitchFamily="34" charset="0"/>
              <a:buChar char="•"/>
            </a:pPr>
            <a:r>
              <a:rPr lang="en-US" sz="1600">
                <a:solidFill>
                  <a:srgbClr val="1A1A2E"/>
                </a:solidFill>
                <a:latin typeface="Arial" panose="020B0604020202020204" pitchFamily="34" charset="0"/>
                <a:cs typeface="Arial" panose="020B0604020202020204" pitchFamily="34" charset="0"/>
              </a:rPr>
              <a:t>Text</a:t>
            </a:r>
            <a:endParaRPr lang="en-US" sz="1600">
              <a:latin typeface="Arial" panose="020B0604020202020204" pitchFamily="34" charset="0"/>
              <a:cs typeface="Arial" panose="020B0604020202020204" pitchFamily="34" charset="0"/>
            </a:endParaRPr>
          </a:p>
        </p:txBody>
      </p:sp>
      <p:sp>
        <p:nvSpPr>
          <p:cNvPr id="35" name="Text 4">
            <a:extLst>
              <a:ext uri="{FF2B5EF4-FFF2-40B4-BE49-F238E27FC236}">
                <a16:creationId xmlns:a16="http://schemas.microsoft.com/office/drawing/2014/main" id="{3052528B-BC6F-E67C-DDB4-9E2498E5E265}"/>
              </a:ext>
            </a:extLst>
          </p:cNvPr>
          <p:cNvSpPr/>
          <p:nvPr/>
        </p:nvSpPr>
        <p:spPr>
          <a:xfrm>
            <a:off x="8534400" y="3596749"/>
            <a:ext cx="2647885" cy="1954856"/>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a:solidFill>
                  <a:srgbClr val="1A1A2E"/>
                </a:solidFill>
                <a:latin typeface="Arial" panose="020B0604020202020204" pitchFamily="34" charset="0"/>
                <a:ea typeface="Georgia" pitchFamily="34" charset="-122"/>
                <a:cs typeface="Arial" panose="020B0604020202020204" pitchFamily="34" charset="0"/>
              </a:rPr>
              <a:t>Text </a:t>
            </a:r>
          </a:p>
          <a:p>
            <a:pPr marL="285750" indent="-285750">
              <a:buFont typeface="Arial" panose="020B0604020202020204" pitchFamily="34" charset="0"/>
              <a:buChar char="•"/>
            </a:pPr>
            <a:r>
              <a:rPr lang="en-US" sz="1600">
                <a:solidFill>
                  <a:srgbClr val="1A1A2E"/>
                </a:solidFill>
                <a:latin typeface="Arial" panose="020B0604020202020204" pitchFamily="34" charset="0"/>
                <a:cs typeface="Arial" panose="020B0604020202020204" pitchFamily="34" charset="0"/>
              </a:rPr>
              <a:t>Text</a:t>
            </a:r>
            <a:endParaRPr lang="en-US" sz="16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14C47-5915-684A-96B5-692D99EE214F}"/>
              </a:ext>
            </a:extLst>
          </p:cNvPr>
          <p:cNvSpPr>
            <a:spLocks noGrp="1"/>
          </p:cNvSpPr>
          <p:nvPr>
            <p:ph type="title"/>
          </p:nvPr>
        </p:nvSpPr>
        <p:spPr/>
        <p:txBody>
          <a:bodyPr/>
          <a:lstStyle/>
          <a:p>
            <a:r>
              <a:rPr lang="en-US" b="1"/>
              <a:t>AI Product Hackathon</a:t>
            </a:r>
            <a:br>
              <a:rPr lang="en-US" b="1"/>
            </a:br>
            <a:r>
              <a:rPr lang="en-US"/>
              <a:t>Budget Breakdown by Tier</a:t>
            </a:r>
          </a:p>
        </p:txBody>
      </p:sp>
      <p:sp>
        <p:nvSpPr>
          <p:cNvPr id="3" name="Slide Number Placeholder 2">
            <a:extLst>
              <a:ext uri="{FF2B5EF4-FFF2-40B4-BE49-F238E27FC236}">
                <a16:creationId xmlns:a16="http://schemas.microsoft.com/office/drawing/2014/main" id="{CA63230C-1201-5666-76E0-A496EEED3C0D}"/>
              </a:ext>
            </a:extLst>
          </p:cNvPr>
          <p:cNvSpPr>
            <a:spLocks noGrp="1"/>
          </p:cNvSpPr>
          <p:nvPr>
            <p:ph type="sldNum" sz="quarter" idx="12"/>
          </p:nvPr>
        </p:nvSpPr>
        <p:spPr/>
        <p:txBody>
          <a:bodyPr/>
          <a:lstStyle/>
          <a:p>
            <a:fld id="{1153F0DE-4B83-C442-BFAF-2E07D848C22E}" type="slidenum">
              <a:rPr lang="en-US" smtClean="0"/>
              <a:t>6</a:t>
            </a:fld>
            <a:endParaRPr lang="en-US"/>
          </a:p>
        </p:txBody>
      </p:sp>
      <p:graphicFrame>
        <p:nvGraphicFramePr>
          <p:cNvPr id="4" name="Table 3">
            <a:extLst>
              <a:ext uri="{FF2B5EF4-FFF2-40B4-BE49-F238E27FC236}">
                <a16:creationId xmlns:a16="http://schemas.microsoft.com/office/drawing/2014/main" id="{1EEA5E2F-5205-DAFF-9B63-735C5948E2AD}"/>
              </a:ext>
            </a:extLst>
          </p:cNvPr>
          <p:cNvGraphicFramePr>
            <a:graphicFrameLocks noGrp="1"/>
          </p:cNvGraphicFramePr>
          <p:nvPr>
            <p:extLst>
              <p:ext uri="{D42A27DB-BD31-4B8C-83A1-F6EECF244321}">
                <p14:modId xmlns:p14="http://schemas.microsoft.com/office/powerpoint/2010/main" val="3474887017"/>
              </p:ext>
            </p:extLst>
          </p:nvPr>
        </p:nvGraphicFramePr>
        <p:xfrm>
          <a:off x="838200" y="1828800"/>
          <a:ext cx="10515599" cy="4267200"/>
        </p:xfrm>
        <a:graphic>
          <a:graphicData uri="http://schemas.openxmlformats.org/drawingml/2006/table">
            <a:tbl>
              <a:tblPr>
                <a:tableStyleId>{5C22544A-7EE6-4342-B048-85BDC9FD1C3A}</a:tableStyleId>
              </a:tblPr>
              <a:tblGrid>
                <a:gridCol w="4604657">
                  <a:extLst>
                    <a:ext uri="{9D8B030D-6E8A-4147-A177-3AD203B41FA5}">
                      <a16:colId xmlns:a16="http://schemas.microsoft.com/office/drawing/2014/main" val="1898605517"/>
                    </a:ext>
                  </a:extLst>
                </a:gridCol>
                <a:gridCol w="1970314">
                  <a:extLst>
                    <a:ext uri="{9D8B030D-6E8A-4147-A177-3AD203B41FA5}">
                      <a16:colId xmlns:a16="http://schemas.microsoft.com/office/drawing/2014/main" val="3135716665"/>
                    </a:ext>
                  </a:extLst>
                </a:gridCol>
                <a:gridCol w="1970314">
                  <a:extLst>
                    <a:ext uri="{9D8B030D-6E8A-4147-A177-3AD203B41FA5}">
                      <a16:colId xmlns:a16="http://schemas.microsoft.com/office/drawing/2014/main" val="4041409782"/>
                    </a:ext>
                  </a:extLst>
                </a:gridCol>
                <a:gridCol w="1970314">
                  <a:extLst>
                    <a:ext uri="{9D8B030D-6E8A-4147-A177-3AD203B41FA5}">
                      <a16:colId xmlns:a16="http://schemas.microsoft.com/office/drawing/2014/main" val="1635710463"/>
                    </a:ext>
                  </a:extLst>
                </a:gridCol>
              </a:tblGrid>
              <a:tr h="304800">
                <a:tc>
                  <a:txBody>
                    <a:bodyPr/>
                    <a:lstStyle/>
                    <a:p>
                      <a:pPr algn="l" fontAlgn="b">
                        <a:buNone/>
                      </a:pPr>
                      <a:r>
                        <a:rPr lang="en-US" sz="1400" b="1" u="none" strike="noStrike">
                          <a:solidFill>
                            <a:schemeClr val="bg1"/>
                          </a:solidFill>
                          <a:effectLst/>
                          <a:latin typeface="Arial" panose="020B0604020202020204" pitchFamily="34" charset="0"/>
                          <a:cs typeface="Arial" panose="020B0604020202020204" pitchFamily="34" charset="0"/>
                        </a:rPr>
                        <a:t>Category</a:t>
                      </a:r>
                      <a:endParaRPr lang="en-US" sz="1400" b="1" i="0" u="none" strike="noStrike">
                        <a:solidFill>
                          <a:schemeClr val="bg1"/>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B"/>
                    </a:solidFill>
                  </a:tcPr>
                </a:tc>
                <a:tc>
                  <a:txBody>
                    <a:bodyPr/>
                    <a:lstStyle/>
                    <a:p>
                      <a:pPr algn="r" fontAlgn="b">
                        <a:buNone/>
                      </a:pPr>
                      <a:r>
                        <a:rPr lang="en-US" sz="1400" b="1" u="none" strike="noStrike">
                          <a:solidFill>
                            <a:schemeClr val="bg1"/>
                          </a:solidFill>
                          <a:effectLst/>
                          <a:latin typeface="Arial" panose="020B0604020202020204" pitchFamily="34" charset="0"/>
                          <a:cs typeface="Arial" panose="020B0604020202020204" pitchFamily="34" charset="0"/>
                        </a:rPr>
                        <a:t>Gold</a:t>
                      </a:r>
                      <a:endParaRPr lang="en-US" sz="1400" b="1" i="0" u="none" strike="noStrike">
                        <a:solidFill>
                          <a:schemeClr val="bg1"/>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B"/>
                    </a:solidFill>
                  </a:tcPr>
                </a:tc>
                <a:tc>
                  <a:txBody>
                    <a:bodyPr/>
                    <a:lstStyle/>
                    <a:p>
                      <a:pPr algn="r" fontAlgn="b">
                        <a:buNone/>
                      </a:pPr>
                      <a:r>
                        <a:rPr lang="en-US" sz="1400" b="1" u="none" strike="noStrike">
                          <a:solidFill>
                            <a:schemeClr val="bg1"/>
                          </a:solidFill>
                          <a:effectLst/>
                          <a:latin typeface="Arial" panose="020B0604020202020204" pitchFamily="34" charset="0"/>
                          <a:cs typeface="Arial" panose="020B0604020202020204" pitchFamily="34" charset="0"/>
                        </a:rPr>
                        <a:t>Silver</a:t>
                      </a:r>
                      <a:endParaRPr lang="en-US" sz="1400" b="1" i="0" u="none" strike="noStrike">
                        <a:solidFill>
                          <a:schemeClr val="bg1"/>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B"/>
                    </a:solidFill>
                  </a:tcPr>
                </a:tc>
                <a:tc>
                  <a:txBody>
                    <a:bodyPr/>
                    <a:lstStyle/>
                    <a:p>
                      <a:pPr algn="r" fontAlgn="b">
                        <a:buNone/>
                      </a:pPr>
                      <a:r>
                        <a:rPr lang="en-US" sz="1400" b="1" u="none" strike="noStrike">
                          <a:solidFill>
                            <a:schemeClr val="bg1"/>
                          </a:solidFill>
                          <a:effectLst/>
                          <a:latin typeface="Arial" panose="020B0604020202020204" pitchFamily="34" charset="0"/>
                          <a:cs typeface="Arial" panose="020B0604020202020204" pitchFamily="34" charset="0"/>
                        </a:rPr>
                        <a:t>Bronze</a:t>
                      </a:r>
                      <a:endParaRPr lang="en-US" sz="1400" b="1" i="0" u="none" strike="noStrike">
                        <a:solidFill>
                          <a:schemeClr val="bg1"/>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B"/>
                    </a:solidFill>
                  </a:tcPr>
                </a:tc>
                <a:extLst>
                  <a:ext uri="{0D108BD9-81ED-4DB2-BD59-A6C34878D82A}">
                    <a16:rowId xmlns:a16="http://schemas.microsoft.com/office/drawing/2014/main" val="232264777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Venue (Note: </a:t>
                      </a:r>
                      <a:r>
                        <a:rPr lang="en-US" sz="1400" b="0" i="1" u="none" strike="noStrike">
                          <a:effectLst/>
                          <a:latin typeface="Arial" panose="020B0604020202020204" pitchFamily="34" charset="0"/>
                          <a:cs typeface="Arial" panose="020B0604020202020204" pitchFamily="34" charset="0"/>
                        </a:rPr>
                        <a:t>may need to pay overtime costs</a:t>
                      </a:r>
                      <a:r>
                        <a:rPr lang="en-US" sz="1400" b="1" u="none" strike="noStrike">
                          <a:effectLst/>
                          <a:latin typeface="Arial" panose="020B0604020202020204" pitchFamily="34" charset="0"/>
                          <a:cs typeface="Arial" panose="020B0604020202020204" pitchFamily="34" charset="0"/>
                        </a:rPr>
                        <a:t>)</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652876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Catering (meals + overnight)</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€ 30,000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32699453"/>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Travel &amp; Hotels (subsidized)</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€ 50,000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3514697"/>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Technology / Partner Setup</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€ 7,000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262857"/>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Video Production (LP content)</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€ 12,000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1549491"/>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Awards / Prizes</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273116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Yelin.io Program Fees</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€ 90,000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€ 80,000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€ 75,000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52672138"/>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Contingency</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5622956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Estimated Total</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€ 253,000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€ 172,700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€ 109,140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5028937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Estimated Count of Companies</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660644"/>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Estimated Cost per Company</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€ 10,120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€ 6,908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€ 4,365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67419073"/>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Estimated Attendees per Company</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69714899"/>
                  </a:ext>
                </a:extLst>
              </a:tr>
              <a:tr h="304800">
                <a:tc>
                  <a:txBody>
                    <a:bodyPr/>
                    <a:lstStyle/>
                    <a:p>
                      <a:pPr algn="l" fontAlgn="b">
                        <a:buNone/>
                      </a:pPr>
                      <a:r>
                        <a:rPr lang="en-US" sz="1400" b="1" u="none" strike="noStrike">
                          <a:effectLst/>
                          <a:latin typeface="Arial" panose="020B0604020202020204" pitchFamily="34" charset="0"/>
                          <a:cs typeface="Arial" panose="020B0604020202020204" pitchFamily="34" charset="0"/>
                        </a:rPr>
                        <a:t>Estimated Cost per Attendee</a:t>
                      </a:r>
                      <a:endParaRPr lang="en-US" sz="1400" b="1"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€ 2,024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€ 1,381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b">
                        <a:buNone/>
                      </a:pPr>
                      <a:r>
                        <a:rPr lang="en-US" sz="1400" u="none" strike="noStrike">
                          <a:effectLst/>
                          <a:latin typeface="Arial" panose="020B0604020202020204" pitchFamily="34" charset="0"/>
                          <a:cs typeface="Arial" panose="020B0604020202020204" pitchFamily="34" charset="0"/>
                        </a:rPr>
                        <a:t>€ 873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7168455"/>
                  </a:ext>
                </a:extLst>
              </a:tr>
            </a:tbl>
          </a:graphicData>
        </a:graphic>
      </p:graphicFrame>
    </p:spTree>
    <p:extLst>
      <p:ext uri="{BB962C8B-B14F-4D97-AF65-F5344CB8AC3E}">
        <p14:creationId xmlns:p14="http://schemas.microsoft.com/office/powerpoint/2010/main" val="200650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FD53B-79AC-6510-F50F-9B272728801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F998E8F-EC9E-141B-A5A8-7D8714250C5D}"/>
              </a:ext>
            </a:extLst>
          </p:cNvPr>
          <p:cNvSpPr>
            <a:spLocks noGrp="1"/>
          </p:cNvSpPr>
          <p:nvPr>
            <p:ph type="sldNum" sz="quarter" idx="12"/>
          </p:nvPr>
        </p:nvSpPr>
        <p:spPr/>
        <p:txBody>
          <a:bodyPr/>
          <a:lstStyle/>
          <a:p>
            <a:fld id="{1153F0DE-4B83-C442-BFAF-2E07D848C22E}" type="slidenum">
              <a:rPr lang="en-US" smtClean="0"/>
              <a:t>7</a:t>
            </a:fld>
            <a:endParaRPr lang="en-US"/>
          </a:p>
        </p:txBody>
      </p:sp>
      <p:sp>
        <p:nvSpPr>
          <p:cNvPr id="3" name="Content Placeholder 2">
            <a:extLst>
              <a:ext uri="{FF2B5EF4-FFF2-40B4-BE49-F238E27FC236}">
                <a16:creationId xmlns:a16="http://schemas.microsoft.com/office/drawing/2014/main" id="{8F0CA6B4-9E7E-3F38-CFBF-FF1DF66741CB}"/>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graphicFrame>
        <p:nvGraphicFramePr>
          <p:cNvPr id="11" name="Table 10">
            <a:extLst>
              <a:ext uri="{FF2B5EF4-FFF2-40B4-BE49-F238E27FC236}">
                <a16:creationId xmlns:a16="http://schemas.microsoft.com/office/drawing/2014/main" id="{D1ADA978-6015-049A-AC43-D1CB2D2B502F}"/>
              </a:ext>
            </a:extLst>
          </p:cNvPr>
          <p:cNvGraphicFramePr>
            <a:graphicFrameLocks noGrp="1"/>
          </p:cNvGraphicFramePr>
          <p:nvPr/>
        </p:nvGraphicFramePr>
        <p:xfrm>
          <a:off x="838199" y="1821317"/>
          <a:ext cx="10515600" cy="3579881"/>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357093805"/>
                    </a:ext>
                  </a:extLst>
                </a:gridCol>
                <a:gridCol w="3505200">
                  <a:extLst>
                    <a:ext uri="{9D8B030D-6E8A-4147-A177-3AD203B41FA5}">
                      <a16:colId xmlns:a16="http://schemas.microsoft.com/office/drawing/2014/main" val="2592038127"/>
                    </a:ext>
                  </a:extLst>
                </a:gridCol>
                <a:gridCol w="3505200">
                  <a:extLst>
                    <a:ext uri="{9D8B030D-6E8A-4147-A177-3AD203B41FA5}">
                      <a16:colId xmlns:a16="http://schemas.microsoft.com/office/drawing/2014/main" val="4134765905"/>
                    </a:ext>
                  </a:extLst>
                </a:gridCol>
              </a:tblGrid>
              <a:tr h="416786">
                <a:tc>
                  <a:txBody>
                    <a:bodyPr/>
                    <a:lstStyle/>
                    <a:p>
                      <a:pPr>
                        <a:buNone/>
                      </a:pPr>
                      <a:r>
                        <a:rPr lang="en-US" sz="1400" b="1" err="1">
                          <a:solidFill>
                            <a:srgbClr val="FFFFFF"/>
                          </a:solidFill>
                          <a:effectLst/>
                          <a:latin typeface="Arial" panose="020B0604020202020204" pitchFamily="34" charset="0"/>
                          <a:ea typeface="Arial" panose="020B0604020202020204" pitchFamily="34" charset="0"/>
                        </a:rPr>
                        <a:t>Yelin.io</a:t>
                      </a:r>
                      <a:r>
                        <a:rPr lang="en-US" sz="1400" b="1">
                          <a:solidFill>
                            <a:srgbClr val="FFFFFF"/>
                          </a:solidFill>
                          <a:effectLst/>
                          <a:latin typeface="Arial" panose="020B0604020202020204" pitchFamily="34" charset="0"/>
                          <a:ea typeface="Arial" panose="020B0604020202020204" pitchFamily="34" charset="0"/>
                        </a:rPr>
                        <a:t> Provides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A"/>
                    </a:solidFill>
                  </a:tcPr>
                </a:tc>
                <a:tc>
                  <a:txBody>
                    <a:bodyPr/>
                    <a:lstStyle/>
                    <a:p>
                      <a:pPr>
                        <a:buNone/>
                      </a:pPr>
                      <a:r>
                        <a:rPr lang="en-US" sz="1400" b="1">
                          <a:solidFill>
                            <a:srgbClr val="FFFFFF"/>
                          </a:solidFill>
                          <a:effectLst/>
                          <a:latin typeface="Arial" panose="020B0604020202020204" pitchFamily="34" charset="0"/>
                          <a:ea typeface="Arial" panose="020B0604020202020204" pitchFamily="34" charset="0"/>
                        </a:rPr>
                        <a:t>Partners Provide </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A"/>
                    </a:solidFill>
                  </a:tcPr>
                </a:tc>
                <a:tc>
                  <a:txBody>
                    <a:bodyPr/>
                    <a:lstStyle/>
                    <a:p>
                      <a:pPr>
                        <a:buNone/>
                      </a:pPr>
                      <a:r>
                        <a:rPr lang="en-US" sz="1400" b="1">
                          <a:solidFill>
                            <a:srgbClr val="FFFFFF"/>
                          </a:solidFill>
                          <a:effectLst/>
                          <a:latin typeface="Arial" panose="020B0604020202020204" pitchFamily="34" charset="0"/>
                          <a:ea typeface="Arial" panose="020B0604020202020204" pitchFamily="34" charset="0"/>
                        </a:rPr>
                        <a:t>Eurazeo Provides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215F9A"/>
                    </a:solidFill>
                  </a:tcPr>
                </a:tc>
                <a:extLst>
                  <a:ext uri="{0D108BD9-81ED-4DB2-BD59-A6C34878D82A}">
                    <a16:rowId xmlns:a16="http://schemas.microsoft.com/office/drawing/2014/main" val="1912504502"/>
                  </a:ext>
                </a:extLst>
              </a:tr>
              <a:tr h="632619">
                <a:tc>
                  <a:txBody>
                    <a:bodyPr/>
                    <a:lstStyle/>
                    <a:p>
                      <a:pPr>
                        <a:buNone/>
                      </a:pPr>
                      <a:r>
                        <a:rPr lang="en-US" sz="1400">
                          <a:solidFill>
                            <a:srgbClr val="000000"/>
                          </a:solidFill>
                          <a:effectLst/>
                          <a:latin typeface="Arial" panose="020B0604020202020204" pitchFamily="34" charset="0"/>
                          <a:ea typeface="Arial" panose="020B0604020202020204" pitchFamily="34" charset="0"/>
                        </a:rPr>
                        <a:t>Program design &amp; facilitation</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Free API credits &amp; software seats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Venue selection &amp; booking   </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7101876"/>
                  </a:ext>
                </a:extLst>
              </a:tr>
              <a:tr h="632619">
                <a:tc>
                  <a:txBody>
                    <a:bodyPr/>
                    <a:lstStyle/>
                    <a:p>
                      <a:pPr>
                        <a:buNone/>
                      </a:pPr>
                      <a:r>
                        <a:rPr lang="en-US" sz="1400">
                          <a:effectLst/>
                          <a:latin typeface="Arial" panose="020B0604020202020204" pitchFamily="34" charset="0"/>
                          <a:ea typeface="Arial" panose="020B0604020202020204" pitchFamily="34" charset="0"/>
                        </a:rPr>
                        <a:t>Project proposal review &amp; coaching</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effectLst/>
                          <a:latin typeface="Arial" panose="020B0604020202020204" pitchFamily="34" charset="0"/>
                          <a:ea typeface="Arial" panose="020B0604020202020204" pitchFamily="34" charset="0"/>
                        </a:rPr>
                        <a:t>Technical mentors on-site</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effectLst/>
                          <a:latin typeface="Arial" panose="020B0604020202020204" pitchFamily="34" charset="0"/>
                          <a:ea typeface="Arial" panose="020B0604020202020204" pitchFamily="34" charset="0"/>
                        </a:rPr>
                        <a:t>Portfolio company communications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17247446"/>
                  </a:ext>
                </a:extLst>
              </a:tr>
              <a:tr h="632619">
                <a:tc>
                  <a:txBody>
                    <a:bodyPr/>
                    <a:lstStyle/>
                    <a:p>
                      <a:pPr>
                        <a:buNone/>
                      </a:pPr>
                      <a:r>
                        <a:rPr lang="en-US" sz="1400">
                          <a:solidFill>
                            <a:srgbClr val="000000"/>
                          </a:solidFill>
                          <a:effectLst/>
                          <a:latin typeface="Arial" panose="020B0604020202020204" pitchFamily="34" charset="0"/>
                          <a:ea typeface="Arial" panose="020B0604020202020204" pitchFamily="34" charset="0"/>
                        </a:rPr>
                        <a:t>Pre-event prep workshops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Swag &amp; branded materials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Internal budget approval</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93373653"/>
                  </a:ext>
                </a:extLst>
              </a:tr>
              <a:tr h="632619">
                <a:tc>
                  <a:txBody>
                    <a:bodyPr/>
                    <a:lstStyle/>
                    <a:p>
                      <a:pPr>
                        <a:buNone/>
                      </a:pPr>
                      <a:r>
                        <a:rPr lang="en-US" sz="1400">
                          <a:effectLst/>
                          <a:latin typeface="Arial" panose="020B0604020202020204" pitchFamily="34" charset="0"/>
                          <a:ea typeface="Arial" panose="020B0604020202020204" pitchFamily="34" charset="0"/>
                        </a:rPr>
                        <a:t>Day-of event management</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effectLst/>
                          <a:latin typeface="Arial" panose="020B0604020202020204" pitchFamily="34" charset="0"/>
                          <a:ea typeface="Arial" panose="020B0604020202020204" pitchFamily="34" charset="0"/>
                        </a:rPr>
                        <a:t>Best practice sessions</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effectLst/>
                          <a:latin typeface="Arial" panose="020B0604020202020204" pitchFamily="34" charset="0"/>
                          <a:ea typeface="Arial" panose="020B0604020202020204" pitchFamily="34" charset="0"/>
                        </a:rPr>
                        <a:t>LP/investor audience (optional)</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0100967"/>
                  </a:ext>
                </a:extLst>
              </a:tr>
              <a:tr h="632619">
                <a:tc>
                  <a:txBody>
                    <a:bodyPr/>
                    <a:lstStyle/>
                    <a:p>
                      <a:pPr>
                        <a:buNone/>
                      </a:pPr>
                      <a:r>
                        <a:rPr lang="en-US" sz="1400">
                          <a:solidFill>
                            <a:srgbClr val="000000"/>
                          </a:solidFill>
                          <a:effectLst/>
                          <a:latin typeface="Arial" panose="020B0604020202020204" pitchFamily="34" charset="0"/>
                          <a:ea typeface="Arial" panose="020B0604020202020204" pitchFamily="34" charset="0"/>
                        </a:rPr>
                        <a:t>Post-event tracking &amp; reporting</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Post-event technical support</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buNone/>
                      </a:pPr>
                      <a:r>
                        <a:rPr lang="en-US" sz="1400">
                          <a:solidFill>
                            <a:srgbClr val="000000"/>
                          </a:solidFill>
                          <a:effectLst/>
                          <a:latin typeface="Arial" panose="020B0604020202020204" pitchFamily="34" charset="0"/>
                          <a:ea typeface="Arial" panose="020B0604020202020204" pitchFamily="34" charset="0"/>
                        </a:rPr>
                        <a:t>Video production vendor (Gold tier) </a:t>
                      </a:r>
                      <a:endParaRPr lang="en-GB" sz="1400">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4780056"/>
                  </a:ext>
                </a:extLst>
              </a:tr>
            </a:tbl>
          </a:graphicData>
        </a:graphic>
      </p:graphicFrame>
      <p:sp>
        <p:nvSpPr>
          <p:cNvPr id="4" name="Title 1">
            <a:extLst>
              <a:ext uri="{FF2B5EF4-FFF2-40B4-BE49-F238E27FC236}">
                <a16:creationId xmlns:a16="http://schemas.microsoft.com/office/drawing/2014/main" id="{9402583A-D519-9C90-9A63-6C202A3F4199}"/>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AI Product Hackathon</a:t>
            </a:r>
            <a:br>
              <a:rPr lang="en-US" b="1"/>
            </a:br>
            <a:r>
              <a:rPr lang="en-US"/>
              <a:t>Summary of Roles for Participating Parties</a:t>
            </a:r>
          </a:p>
        </p:txBody>
      </p:sp>
    </p:spTree>
    <p:extLst>
      <p:ext uri="{BB962C8B-B14F-4D97-AF65-F5344CB8AC3E}">
        <p14:creationId xmlns:p14="http://schemas.microsoft.com/office/powerpoint/2010/main" val="2940016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5F5D-B299-0DA4-CDAD-6CBE4B9805B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940BB27-4913-670E-D7A9-450C414B0A68}"/>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427FB5-ADE0-7DB7-CB6D-73AF87C7AFE5}"/>
              </a:ext>
            </a:extLst>
          </p:cNvPr>
          <p:cNvSpPr>
            <a:spLocks noGrp="1"/>
          </p:cNvSpPr>
          <p:nvPr>
            <p:ph type="ctrTitle"/>
          </p:nvPr>
        </p:nvSpPr>
        <p:spPr>
          <a:xfrm>
            <a:off x="846992" y="1837592"/>
            <a:ext cx="5005168" cy="2387600"/>
          </a:xfrm>
        </p:spPr>
        <p:txBody>
          <a:bodyPr anchor="t"/>
          <a:lstStyle/>
          <a:p>
            <a:pPr algn="l"/>
            <a:r>
              <a:rPr lang="en-US" sz="3600" b="1">
                <a:solidFill>
                  <a:schemeClr val="bg1"/>
                </a:solidFill>
              </a:rPr>
              <a:t>Portfolio Archetypes</a:t>
            </a:r>
            <a:endParaRPr lang="en-US" sz="3600">
              <a:solidFill>
                <a:schemeClr val="bg1"/>
              </a:solidFill>
            </a:endParaRPr>
          </a:p>
        </p:txBody>
      </p:sp>
      <p:sp>
        <p:nvSpPr>
          <p:cNvPr id="4" name="Slide Number Placeholder 3">
            <a:extLst>
              <a:ext uri="{FF2B5EF4-FFF2-40B4-BE49-F238E27FC236}">
                <a16:creationId xmlns:a16="http://schemas.microsoft.com/office/drawing/2014/main" id="{E7073893-8FF7-7DEF-4CB3-65F92232C0C4}"/>
              </a:ext>
            </a:extLst>
          </p:cNvPr>
          <p:cNvSpPr>
            <a:spLocks noGrp="1"/>
          </p:cNvSpPr>
          <p:nvPr>
            <p:ph type="sldNum" sz="quarter" idx="12"/>
          </p:nvPr>
        </p:nvSpPr>
        <p:spPr/>
        <p:txBody>
          <a:bodyPr/>
          <a:lstStyle/>
          <a:p>
            <a:fld id="{1153F0DE-4B83-C442-BFAF-2E07D848C22E}" type="slidenum">
              <a:rPr lang="en-US" smtClean="0"/>
              <a:t>9</a:t>
            </a:fld>
            <a:endParaRPr lang="en-US"/>
          </a:p>
        </p:txBody>
      </p:sp>
    </p:spTree>
    <p:extLst>
      <p:ext uri="{BB962C8B-B14F-4D97-AF65-F5344CB8AC3E}">
        <p14:creationId xmlns:p14="http://schemas.microsoft.com/office/powerpoint/2010/main" val="3379242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E5CB-22AD-0335-8297-423503876F7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DA5822-9726-F7FE-AECE-EA5B3599969C}"/>
              </a:ext>
            </a:extLst>
          </p:cNvPr>
          <p:cNvSpPr>
            <a:spLocks noGrp="1"/>
          </p:cNvSpPr>
          <p:nvPr>
            <p:ph type="sldNum" sz="quarter" idx="12"/>
          </p:nvPr>
        </p:nvSpPr>
        <p:spPr/>
        <p:txBody>
          <a:bodyPr/>
          <a:lstStyle/>
          <a:p>
            <a:fld id="{1153F0DE-4B83-C442-BFAF-2E07D848C22E}" type="slidenum">
              <a:rPr lang="en-US" smtClean="0"/>
              <a:t>9</a:t>
            </a:fld>
            <a:endParaRPr lang="en-US"/>
          </a:p>
        </p:txBody>
      </p:sp>
      <p:sp>
        <p:nvSpPr>
          <p:cNvPr id="3" name="Content Placeholder 2">
            <a:extLst>
              <a:ext uri="{FF2B5EF4-FFF2-40B4-BE49-F238E27FC236}">
                <a16:creationId xmlns:a16="http://schemas.microsoft.com/office/drawing/2014/main" id="{F7D8974E-FCF7-1812-E81B-7DB0C8403DB4}"/>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1783A046-7949-F80C-A42E-389C6A333198}"/>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Portfolio Archetypes</a:t>
            </a:r>
          </a:p>
          <a:p>
            <a:r>
              <a:rPr lang="en-US"/>
              <a:t>SaaS…</a:t>
            </a:r>
          </a:p>
        </p:txBody>
      </p:sp>
    </p:spTree>
    <p:extLst>
      <p:ext uri="{BB962C8B-B14F-4D97-AF65-F5344CB8AC3E}">
        <p14:creationId xmlns:p14="http://schemas.microsoft.com/office/powerpoint/2010/main" val="2861870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8DEF8-7314-6F1C-8A97-E84785896A9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C6C4C4A-C32C-F6EB-94C8-F3D305CC36FB}"/>
              </a:ext>
            </a:extLst>
          </p:cNvPr>
          <p:cNvSpPr>
            <a:spLocks noGrp="1"/>
          </p:cNvSpPr>
          <p:nvPr>
            <p:ph type="sldNum" sz="quarter" idx="12"/>
          </p:nvPr>
        </p:nvSpPr>
        <p:spPr/>
        <p:txBody>
          <a:bodyPr/>
          <a:lstStyle/>
          <a:p>
            <a:fld id="{1153F0DE-4B83-C442-BFAF-2E07D848C22E}" type="slidenum">
              <a:rPr lang="en-US" smtClean="0"/>
              <a:t>10</a:t>
            </a:fld>
            <a:endParaRPr lang="en-US"/>
          </a:p>
        </p:txBody>
      </p:sp>
      <p:sp>
        <p:nvSpPr>
          <p:cNvPr id="3" name="Content Placeholder 2">
            <a:extLst>
              <a:ext uri="{FF2B5EF4-FFF2-40B4-BE49-F238E27FC236}">
                <a16:creationId xmlns:a16="http://schemas.microsoft.com/office/drawing/2014/main" id="{1A55500C-3BF1-F993-077E-E71A6E5DC65B}"/>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846A1071-4E8F-0D80-DB7E-77923CBB0CE1}"/>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Portfolio Archetypes</a:t>
            </a:r>
          </a:p>
          <a:p>
            <a:r>
              <a:rPr lang="en-US"/>
              <a:t>Services…</a:t>
            </a:r>
          </a:p>
        </p:txBody>
      </p:sp>
    </p:spTree>
    <p:extLst>
      <p:ext uri="{BB962C8B-B14F-4D97-AF65-F5344CB8AC3E}">
        <p14:creationId xmlns:p14="http://schemas.microsoft.com/office/powerpoint/2010/main" val="3344886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DC883-9B5B-6FA4-B699-285012B8FD6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F974D66-A835-3165-DB38-38C38DBF60B3}"/>
              </a:ext>
            </a:extLst>
          </p:cNvPr>
          <p:cNvSpPr>
            <a:spLocks noGrp="1"/>
          </p:cNvSpPr>
          <p:nvPr>
            <p:ph type="sldNum" sz="quarter" idx="12"/>
          </p:nvPr>
        </p:nvSpPr>
        <p:spPr/>
        <p:txBody>
          <a:bodyPr/>
          <a:lstStyle/>
          <a:p>
            <a:fld id="{1153F0DE-4B83-C442-BFAF-2E07D848C22E}" type="slidenum">
              <a:rPr lang="en-US" smtClean="0"/>
              <a:t>11</a:t>
            </a:fld>
            <a:endParaRPr lang="en-US"/>
          </a:p>
        </p:txBody>
      </p:sp>
      <p:sp>
        <p:nvSpPr>
          <p:cNvPr id="3" name="Content Placeholder 2">
            <a:extLst>
              <a:ext uri="{FF2B5EF4-FFF2-40B4-BE49-F238E27FC236}">
                <a16:creationId xmlns:a16="http://schemas.microsoft.com/office/drawing/2014/main" id="{87D66941-A619-970A-E248-EA8A5F9E142B}"/>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1B53AAA3-51A0-791D-3F62-5CA54C69833B}"/>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Portfolio Archetypes</a:t>
            </a:r>
          </a:p>
          <a:p>
            <a:r>
              <a:rPr lang="en-US"/>
              <a:t>Manufacturing…</a:t>
            </a:r>
          </a:p>
        </p:txBody>
      </p:sp>
      <p:pic>
        <p:nvPicPr>
          <p:cNvPr id="2" name="Picture 1">
            <a:extLst>
              <a:ext uri="{FF2B5EF4-FFF2-40B4-BE49-F238E27FC236}">
                <a16:creationId xmlns:a16="http://schemas.microsoft.com/office/drawing/2014/main" id="{391395AA-5527-3E90-1EA6-247230D3518A}"/>
              </a:ext>
            </a:extLst>
          </p:cNvPr>
          <p:cNvPicPr>
            <a:picLocks noChangeAspect="1"/>
          </p:cNvPicPr>
          <p:nvPr/>
        </p:nvPicPr>
        <p:blipFill>
          <a:blip r:embed="rId2"/>
          <a:stretch>
            <a:fillRect/>
          </a:stretch>
        </p:blipFill>
        <p:spPr>
          <a:xfrm>
            <a:off x="2209800" y="1968325"/>
            <a:ext cx="7772400" cy="2921350"/>
          </a:xfrm>
          <a:prstGeom prst="rect">
            <a:avLst/>
          </a:prstGeom>
        </p:spPr>
      </p:pic>
    </p:spTree>
    <p:extLst>
      <p:ext uri="{BB962C8B-B14F-4D97-AF65-F5344CB8AC3E}">
        <p14:creationId xmlns:p14="http://schemas.microsoft.com/office/powerpoint/2010/main" val="3556795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D251E-D499-BBA8-1555-E79B52DCFE9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F0A338-C6D5-0258-0FE6-FA8868C2F39A}"/>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3929E8-BBAF-28F5-8A15-636E0AFD62A5}"/>
              </a:ext>
            </a:extLst>
          </p:cNvPr>
          <p:cNvSpPr>
            <a:spLocks noGrp="1"/>
          </p:cNvSpPr>
          <p:nvPr>
            <p:ph type="ctrTitle"/>
          </p:nvPr>
        </p:nvSpPr>
        <p:spPr>
          <a:xfrm>
            <a:off x="846992" y="1837592"/>
            <a:ext cx="5005168" cy="2387600"/>
          </a:xfrm>
        </p:spPr>
        <p:txBody>
          <a:bodyPr anchor="t"/>
          <a:lstStyle/>
          <a:p>
            <a:pPr algn="l"/>
            <a:r>
              <a:rPr lang="en-US" sz="3600" b="1">
                <a:solidFill>
                  <a:schemeClr val="bg1"/>
                </a:solidFill>
              </a:rPr>
              <a:t>Event Value by Stakeholder</a:t>
            </a:r>
            <a:endParaRPr lang="en-US" sz="3600">
              <a:solidFill>
                <a:schemeClr val="bg1"/>
              </a:solidFill>
            </a:endParaRPr>
          </a:p>
        </p:txBody>
      </p:sp>
      <p:sp>
        <p:nvSpPr>
          <p:cNvPr id="4" name="Slide Number Placeholder 3">
            <a:extLst>
              <a:ext uri="{FF2B5EF4-FFF2-40B4-BE49-F238E27FC236}">
                <a16:creationId xmlns:a16="http://schemas.microsoft.com/office/drawing/2014/main" id="{E6F10774-9470-D325-E56C-E2D54E956BE8}"/>
              </a:ext>
            </a:extLst>
          </p:cNvPr>
          <p:cNvSpPr>
            <a:spLocks noGrp="1"/>
          </p:cNvSpPr>
          <p:nvPr>
            <p:ph type="sldNum" sz="quarter" idx="12"/>
          </p:nvPr>
        </p:nvSpPr>
        <p:spPr/>
        <p:txBody>
          <a:bodyPr/>
          <a:lstStyle/>
          <a:p>
            <a:fld id="{1153F0DE-4B83-C442-BFAF-2E07D848C22E}" type="slidenum">
              <a:rPr lang="en-US" smtClean="0"/>
              <a:t>12</a:t>
            </a:fld>
            <a:endParaRPr lang="en-US"/>
          </a:p>
        </p:txBody>
      </p:sp>
    </p:spTree>
    <p:extLst>
      <p:ext uri="{BB962C8B-B14F-4D97-AF65-F5344CB8AC3E}">
        <p14:creationId xmlns:p14="http://schemas.microsoft.com/office/powerpoint/2010/main" val="3393744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1CEF-2760-4C9D-1182-FE24FEAC121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B1FF9F-995A-929E-1375-8F886B51919D}"/>
              </a:ext>
            </a:extLst>
          </p:cNvPr>
          <p:cNvSpPr>
            <a:spLocks noGrp="1"/>
          </p:cNvSpPr>
          <p:nvPr>
            <p:ph type="sldNum" sz="quarter" idx="12"/>
          </p:nvPr>
        </p:nvSpPr>
        <p:spPr/>
        <p:txBody>
          <a:bodyPr/>
          <a:lstStyle/>
          <a:p>
            <a:fld id="{1153F0DE-4B83-C442-BFAF-2E07D848C22E}" type="slidenum">
              <a:rPr lang="en-US" smtClean="0"/>
              <a:t>13</a:t>
            </a:fld>
            <a:endParaRPr lang="en-US"/>
          </a:p>
        </p:txBody>
      </p:sp>
      <p:sp>
        <p:nvSpPr>
          <p:cNvPr id="3" name="Content Placeholder 2">
            <a:extLst>
              <a:ext uri="{FF2B5EF4-FFF2-40B4-BE49-F238E27FC236}">
                <a16:creationId xmlns:a16="http://schemas.microsoft.com/office/drawing/2014/main" id="{45F31913-6FC9-AFCB-A4A3-E4A1D52D2797}"/>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E4879785-4AD9-0E4E-3E36-216EBECA33E3}"/>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Event Value by Stakeholder</a:t>
            </a:r>
          </a:p>
          <a:p>
            <a:r>
              <a:rPr lang="en-US"/>
              <a:t>Portfolio Company Value Proposition</a:t>
            </a:r>
          </a:p>
        </p:txBody>
      </p:sp>
    </p:spTree>
    <p:extLst>
      <p:ext uri="{BB962C8B-B14F-4D97-AF65-F5344CB8AC3E}">
        <p14:creationId xmlns:p14="http://schemas.microsoft.com/office/powerpoint/2010/main" val="112908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1383-1531-BE95-68F0-02F29EF2EC8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43D5439-6C85-0FD2-82DD-B170AE6CD7D2}"/>
              </a:ext>
            </a:extLst>
          </p:cNvPr>
          <p:cNvSpPr>
            <a:spLocks noGrp="1"/>
          </p:cNvSpPr>
          <p:nvPr>
            <p:ph type="sldNum" sz="quarter" idx="12"/>
          </p:nvPr>
        </p:nvSpPr>
        <p:spPr/>
        <p:txBody>
          <a:bodyPr/>
          <a:lstStyle/>
          <a:p>
            <a:fld id="{1153F0DE-4B83-C442-BFAF-2E07D848C22E}" type="slidenum">
              <a:rPr lang="en-US" smtClean="0"/>
              <a:t>14</a:t>
            </a:fld>
            <a:endParaRPr lang="en-US"/>
          </a:p>
        </p:txBody>
      </p:sp>
      <p:sp>
        <p:nvSpPr>
          <p:cNvPr id="3" name="Content Placeholder 2">
            <a:extLst>
              <a:ext uri="{FF2B5EF4-FFF2-40B4-BE49-F238E27FC236}">
                <a16:creationId xmlns:a16="http://schemas.microsoft.com/office/drawing/2014/main" id="{A72B53EC-D952-F2F9-821B-617D7637E660}"/>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C210A064-B322-1F8B-C6BB-9CB5FC2AA400}"/>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Event Value by Stakeholder</a:t>
            </a:r>
          </a:p>
          <a:p>
            <a:r>
              <a:rPr lang="en-US"/>
              <a:t>Eurazeo Value Proposition</a:t>
            </a:r>
          </a:p>
        </p:txBody>
      </p:sp>
    </p:spTree>
    <p:extLst>
      <p:ext uri="{BB962C8B-B14F-4D97-AF65-F5344CB8AC3E}">
        <p14:creationId xmlns:p14="http://schemas.microsoft.com/office/powerpoint/2010/main" val="1726314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C2A83-1B67-8566-1BAE-5D314AE8022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7551B40-E5E1-0538-0762-28E18FEAF7F4}"/>
              </a:ext>
            </a:extLst>
          </p:cNvPr>
          <p:cNvSpPr>
            <a:spLocks noGrp="1"/>
          </p:cNvSpPr>
          <p:nvPr>
            <p:ph type="sldNum" sz="quarter" idx="12"/>
          </p:nvPr>
        </p:nvSpPr>
        <p:spPr/>
        <p:txBody>
          <a:bodyPr/>
          <a:lstStyle/>
          <a:p>
            <a:fld id="{1153F0DE-4B83-C442-BFAF-2E07D848C22E}" type="slidenum">
              <a:rPr lang="en-US" smtClean="0"/>
              <a:t>15</a:t>
            </a:fld>
            <a:endParaRPr lang="en-US"/>
          </a:p>
        </p:txBody>
      </p:sp>
      <p:sp>
        <p:nvSpPr>
          <p:cNvPr id="3" name="Content Placeholder 2">
            <a:extLst>
              <a:ext uri="{FF2B5EF4-FFF2-40B4-BE49-F238E27FC236}">
                <a16:creationId xmlns:a16="http://schemas.microsoft.com/office/drawing/2014/main" id="{9D6D05B6-D36F-74C1-F31D-EB9EAC249497}"/>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85625819-CA99-FD36-6B8B-C7250C01BE53}"/>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Event Value by Stakeholder</a:t>
            </a:r>
          </a:p>
          <a:p>
            <a:r>
              <a:rPr lang="en-US"/>
              <a:t>LP Value Proposition</a:t>
            </a:r>
          </a:p>
        </p:txBody>
      </p:sp>
    </p:spTree>
    <p:extLst>
      <p:ext uri="{BB962C8B-B14F-4D97-AF65-F5344CB8AC3E}">
        <p14:creationId xmlns:p14="http://schemas.microsoft.com/office/powerpoint/2010/main" val="2413167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0E8E0-96A5-4725-51E6-F20F1472E59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8E4D15F-7EE6-AC91-4291-F33231A8367A}"/>
              </a:ext>
            </a:extLst>
          </p:cNvPr>
          <p:cNvSpPr>
            <a:spLocks noGrp="1"/>
          </p:cNvSpPr>
          <p:nvPr>
            <p:ph type="sldNum" sz="quarter" idx="12"/>
          </p:nvPr>
        </p:nvSpPr>
        <p:spPr/>
        <p:txBody>
          <a:bodyPr/>
          <a:lstStyle/>
          <a:p>
            <a:fld id="{1153F0DE-4B83-C442-BFAF-2E07D848C22E}" type="slidenum">
              <a:rPr lang="en-US" smtClean="0"/>
              <a:t>16</a:t>
            </a:fld>
            <a:endParaRPr lang="en-US"/>
          </a:p>
        </p:txBody>
      </p:sp>
      <p:sp>
        <p:nvSpPr>
          <p:cNvPr id="3" name="Content Placeholder 2">
            <a:extLst>
              <a:ext uri="{FF2B5EF4-FFF2-40B4-BE49-F238E27FC236}">
                <a16:creationId xmlns:a16="http://schemas.microsoft.com/office/drawing/2014/main" id="{80FAB17F-87EB-5D63-5A31-8F75E69F880D}"/>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sz="1800" b="0"/>
          </a:p>
        </p:txBody>
      </p:sp>
      <p:sp>
        <p:nvSpPr>
          <p:cNvPr id="4" name="Title 1">
            <a:extLst>
              <a:ext uri="{FF2B5EF4-FFF2-40B4-BE49-F238E27FC236}">
                <a16:creationId xmlns:a16="http://schemas.microsoft.com/office/drawing/2014/main" id="{FD33A732-5C21-9030-3BCE-F2D8BB2075CE}"/>
              </a:ext>
            </a:extLst>
          </p:cNvPr>
          <p:cNvSpPr txBox="1">
            <a:spLocks/>
          </p:cNvSpPr>
          <p:nvPr/>
        </p:nvSpPr>
        <p:spPr>
          <a:xfrm>
            <a:off x="838200" y="365125"/>
            <a:ext cx="10515600" cy="1325563"/>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a:lstStyle>
          <a:p>
            <a:r>
              <a:rPr lang="en-US" b="1"/>
              <a:t>Event Value by Stakeholder</a:t>
            </a:r>
          </a:p>
          <a:p>
            <a:r>
              <a:rPr lang="en-US"/>
              <a:t>3</a:t>
            </a:r>
            <a:r>
              <a:rPr lang="en-US" baseline="30000"/>
              <a:t>rd</a:t>
            </a:r>
            <a:r>
              <a:rPr lang="en-US"/>
              <a:t> Party Partner Value Proposition</a:t>
            </a:r>
          </a:p>
        </p:txBody>
      </p:sp>
    </p:spTree>
    <p:extLst>
      <p:ext uri="{BB962C8B-B14F-4D97-AF65-F5344CB8AC3E}">
        <p14:creationId xmlns:p14="http://schemas.microsoft.com/office/powerpoint/2010/main" val="1696594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4599-9E23-CED7-D099-1A50F8BFDDF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1B3C7C0-A7F9-E62A-AF20-2247FD847158}"/>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6E723-0E38-3386-15F6-FBAA5DCD9D6F}"/>
              </a:ext>
            </a:extLst>
          </p:cNvPr>
          <p:cNvSpPr>
            <a:spLocks noGrp="1"/>
          </p:cNvSpPr>
          <p:nvPr>
            <p:ph type="ctrTitle"/>
          </p:nvPr>
        </p:nvSpPr>
        <p:spPr>
          <a:xfrm>
            <a:off x="846992" y="1837592"/>
            <a:ext cx="5005168" cy="2387600"/>
          </a:xfrm>
        </p:spPr>
        <p:txBody>
          <a:bodyPr anchor="t"/>
          <a:lstStyle/>
          <a:p>
            <a:pPr algn="l"/>
            <a:r>
              <a:rPr lang="en-US" sz="3600" b="1">
                <a:solidFill>
                  <a:schemeClr val="bg1"/>
                </a:solidFill>
              </a:rPr>
              <a:t>Example Across</a:t>
            </a:r>
            <a:br>
              <a:rPr lang="en-US" sz="3600" b="1">
                <a:solidFill>
                  <a:schemeClr val="bg1"/>
                </a:solidFill>
              </a:rPr>
            </a:br>
            <a:r>
              <a:rPr lang="en-US" sz="3600" b="1">
                <a:solidFill>
                  <a:schemeClr val="bg1"/>
                </a:solidFill>
              </a:rPr>
              <a:t>Entry / Exit / Future</a:t>
            </a:r>
            <a:endParaRPr lang="en-US" sz="3600">
              <a:solidFill>
                <a:schemeClr val="bg1"/>
              </a:solidFill>
            </a:endParaRPr>
          </a:p>
        </p:txBody>
      </p:sp>
      <p:sp>
        <p:nvSpPr>
          <p:cNvPr id="4" name="Slide Number Placeholder 3">
            <a:extLst>
              <a:ext uri="{FF2B5EF4-FFF2-40B4-BE49-F238E27FC236}">
                <a16:creationId xmlns:a16="http://schemas.microsoft.com/office/drawing/2014/main" id="{AA2BA9B9-DF2B-BCC1-F43F-B172B32912DA}"/>
              </a:ext>
            </a:extLst>
          </p:cNvPr>
          <p:cNvSpPr>
            <a:spLocks noGrp="1"/>
          </p:cNvSpPr>
          <p:nvPr>
            <p:ph type="sldNum" sz="quarter" idx="12"/>
          </p:nvPr>
        </p:nvSpPr>
        <p:spPr/>
        <p:txBody>
          <a:bodyPr/>
          <a:lstStyle/>
          <a:p>
            <a:fld id="{1153F0DE-4B83-C442-BFAF-2E07D848C22E}" type="slidenum">
              <a:rPr lang="en-US" smtClean="0"/>
              <a:t>17</a:t>
            </a:fld>
            <a:endParaRPr lang="en-US"/>
          </a:p>
        </p:txBody>
      </p:sp>
    </p:spTree>
    <p:extLst>
      <p:ext uri="{BB962C8B-B14F-4D97-AF65-F5344CB8AC3E}">
        <p14:creationId xmlns:p14="http://schemas.microsoft.com/office/powerpoint/2010/main" val="2545166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689C9-0F7E-0E70-9E42-FAC40E9A3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A8F74-5F57-AD09-2433-2B5E53ED4812}"/>
              </a:ext>
            </a:extLst>
          </p:cNvPr>
          <p:cNvSpPr>
            <a:spLocks noGrp="1"/>
          </p:cNvSpPr>
          <p:nvPr>
            <p:ph type="title"/>
          </p:nvPr>
        </p:nvSpPr>
        <p:spPr/>
        <p:txBody>
          <a:bodyPr/>
          <a:lstStyle/>
          <a:p>
            <a:r>
              <a:rPr lang="en-US" b="1"/>
              <a:t>AI Product Hackathon</a:t>
            </a:r>
            <a:br>
              <a:rPr lang="en-US" b="1"/>
            </a:br>
            <a:r>
              <a:rPr lang="en-US"/>
              <a:t>Portfolio Company Example of Entry / Exit / Future </a:t>
            </a:r>
            <a:endParaRPr lang="en-US" b="1"/>
          </a:p>
        </p:txBody>
      </p:sp>
      <p:sp>
        <p:nvSpPr>
          <p:cNvPr id="7" name="Slide Number Placeholder 6">
            <a:extLst>
              <a:ext uri="{FF2B5EF4-FFF2-40B4-BE49-F238E27FC236}">
                <a16:creationId xmlns:a16="http://schemas.microsoft.com/office/drawing/2014/main" id="{55556585-6A24-0B58-6BA8-2A1575960A38}"/>
              </a:ext>
            </a:extLst>
          </p:cNvPr>
          <p:cNvSpPr>
            <a:spLocks noGrp="1"/>
          </p:cNvSpPr>
          <p:nvPr>
            <p:ph type="sldNum" sz="quarter" idx="12"/>
          </p:nvPr>
        </p:nvSpPr>
        <p:spPr/>
        <p:txBody>
          <a:bodyPr/>
          <a:lstStyle/>
          <a:p>
            <a:fld id="{1153F0DE-4B83-C442-BFAF-2E07D848C22E}" type="slidenum">
              <a:rPr lang="en-US" smtClean="0"/>
              <a:t>10</a:t>
            </a:fld>
            <a:endParaRPr lang="en-US"/>
          </a:p>
        </p:txBody>
      </p:sp>
      <p:sp>
        <p:nvSpPr>
          <p:cNvPr id="3" name="Content Placeholder 2">
            <a:extLst>
              <a:ext uri="{FF2B5EF4-FFF2-40B4-BE49-F238E27FC236}">
                <a16:creationId xmlns:a16="http://schemas.microsoft.com/office/drawing/2014/main" id="{D609C2A4-1D87-C060-3645-EFFECD3C97BC}"/>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a:solidFill>
                  <a:schemeClr val="accent2"/>
                </a:solidFill>
              </a:rPr>
              <a:t>Entry: </a:t>
            </a:r>
            <a:r>
              <a:rPr lang="en-US" sz="1800" b="0"/>
              <a:t>Team Registration and Project Proposal</a:t>
            </a:r>
          </a:p>
        </p:txBody>
      </p:sp>
      <p:graphicFrame>
        <p:nvGraphicFramePr>
          <p:cNvPr id="5" name="Table 4">
            <a:extLst>
              <a:ext uri="{FF2B5EF4-FFF2-40B4-BE49-F238E27FC236}">
                <a16:creationId xmlns:a16="http://schemas.microsoft.com/office/drawing/2014/main" id="{0B0C5D97-2188-0E59-4C69-9A5D478EE7AE}"/>
              </a:ext>
            </a:extLst>
          </p:cNvPr>
          <p:cNvGraphicFramePr>
            <a:graphicFrameLocks noGrp="1"/>
          </p:cNvGraphicFramePr>
          <p:nvPr>
            <p:extLst>
              <p:ext uri="{D42A27DB-BD31-4B8C-83A1-F6EECF244321}">
                <p14:modId xmlns:p14="http://schemas.microsoft.com/office/powerpoint/2010/main" val="2151548440"/>
              </p:ext>
            </p:extLst>
          </p:nvPr>
        </p:nvGraphicFramePr>
        <p:xfrm>
          <a:off x="838199" y="2381250"/>
          <a:ext cx="10515600" cy="3790950"/>
        </p:xfrm>
        <a:graphic>
          <a:graphicData uri="http://schemas.openxmlformats.org/drawingml/2006/table">
            <a:tbl>
              <a:tblPr/>
              <a:tblGrid>
                <a:gridCol w="2503714">
                  <a:extLst>
                    <a:ext uri="{9D8B030D-6E8A-4147-A177-3AD203B41FA5}">
                      <a16:colId xmlns:a16="http://schemas.microsoft.com/office/drawing/2014/main" val="1869153556"/>
                    </a:ext>
                  </a:extLst>
                </a:gridCol>
                <a:gridCol w="8011886">
                  <a:extLst>
                    <a:ext uri="{9D8B030D-6E8A-4147-A177-3AD203B41FA5}">
                      <a16:colId xmlns:a16="http://schemas.microsoft.com/office/drawing/2014/main" val="2466540031"/>
                    </a:ext>
                  </a:extLst>
                </a:gridCol>
              </a:tblGrid>
              <a:tr h="332905">
                <a:tc>
                  <a:txBody>
                    <a:bodyPr/>
                    <a:lstStyle/>
                    <a:p>
                      <a:pPr algn="l" fontAlgn="t">
                        <a:buNone/>
                      </a:pPr>
                      <a:r>
                        <a:rPr lang="en-US" sz="1400" b="1" i="0" u="none" strike="noStrike">
                          <a:solidFill>
                            <a:srgbClr val="FFFFFF"/>
                          </a:solidFill>
                          <a:effectLst/>
                          <a:latin typeface="Arial" panose="020B0604020202020204" pitchFamily="34" charset="0"/>
                        </a:rPr>
                        <a:t>Field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tc>
                  <a:txBody>
                    <a:bodyPr/>
                    <a:lstStyle/>
                    <a:p>
                      <a:pPr algn="l" fontAlgn="t">
                        <a:buNone/>
                      </a:pPr>
                      <a:r>
                        <a:rPr lang="en-US" sz="1400" b="1" i="0" u="none" strike="noStrike">
                          <a:solidFill>
                            <a:srgbClr val="FFFFFF"/>
                          </a:solidFill>
                          <a:effectLst/>
                          <a:latin typeface="Arial" panose="020B0604020202020204" pitchFamily="34" charset="0"/>
                        </a:rPr>
                        <a:t>Details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extLst>
                  <a:ext uri="{0D108BD9-81ED-4DB2-BD59-A6C34878D82A}">
                    <a16:rowId xmlns:a16="http://schemas.microsoft.com/office/drawing/2014/main" val="2883262839"/>
                  </a:ext>
                </a:extLst>
              </a:tr>
              <a:tr h="466066">
                <a:tc>
                  <a:txBody>
                    <a:bodyPr/>
                    <a:lstStyle/>
                    <a:p>
                      <a:pPr algn="l" fontAlgn="t">
                        <a:buNone/>
                      </a:pPr>
                      <a:r>
                        <a:rPr lang="en-US" sz="1400" b="1" i="0" u="none" strike="noStrike">
                          <a:solidFill>
                            <a:srgbClr val="000000"/>
                          </a:solidFill>
                          <a:effectLst/>
                          <a:latin typeface="Arial" panose="020B0604020202020204" pitchFamily="34" charset="0"/>
                        </a:rPr>
                        <a:t>Company</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Portfolio Co. (B2B SaaS, 200 employees)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0897371"/>
                  </a:ext>
                </a:extLst>
              </a:tr>
              <a:tr h="466066">
                <a:tc>
                  <a:txBody>
                    <a:bodyPr/>
                    <a:lstStyle/>
                    <a:p>
                      <a:pPr algn="l" fontAlgn="t">
                        <a:buNone/>
                      </a:pPr>
                      <a:r>
                        <a:rPr lang="en-US" sz="1400" b="1" i="0" u="none" strike="noStrike">
                          <a:solidFill>
                            <a:srgbClr val="000000"/>
                          </a:solidFill>
                          <a:effectLst/>
                          <a:latin typeface="Arial" panose="020B0604020202020204" pitchFamily="34" charset="0"/>
                        </a:rPr>
                        <a:t>Team</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5 people: 2 engineers, 1 product manager, 1 customer success lead, 1 data analyst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530783"/>
                  </a:ext>
                </a:extLst>
              </a:tr>
              <a:tr h="466066">
                <a:tc>
                  <a:txBody>
                    <a:bodyPr/>
                    <a:lstStyle/>
                    <a:p>
                      <a:pPr algn="l" fontAlgn="t">
                        <a:buNone/>
                      </a:pPr>
                      <a:r>
                        <a:rPr lang="en-US" sz="1400" b="1" i="0" u="none" strike="noStrike">
                          <a:solidFill>
                            <a:srgbClr val="000000"/>
                          </a:solidFill>
                          <a:effectLst/>
                          <a:latin typeface="Arial" panose="020B0604020202020204" pitchFamily="34" charset="0"/>
                        </a:rPr>
                        <a:t>Project Idea</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AI-powered configuration assistant for new customer onboarding</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954440"/>
                  </a:ext>
                </a:extLst>
              </a:tr>
              <a:tr h="565938">
                <a:tc>
                  <a:txBody>
                    <a:bodyPr/>
                    <a:lstStyle/>
                    <a:p>
                      <a:pPr algn="l" fontAlgn="t">
                        <a:buNone/>
                      </a:pPr>
                      <a:r>
                        <a:rPr lang="en-US" sz="1400" b="1" i="0" u="none" strike="noStrike">
                          <a:solidFill>
                            <a:srgbClr val="000000"/>
                          </a:solidFill>
                          <a:effectLst/>
                          <a:latin typeface="Arial" panose="020B0604020202020204" pitchFamily="34" charset="0"/>
                        </a:rPr>
                        <a:t>Customer Pain Point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Customers take 3-6 weeks to fully configure the platform; 40% of support tickets in the first 90 days are setup-related. Churn risk is highest during onboarding.</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6278864"/>
                  </a:ext>
                </a:extLst>
              </a:tr>
              <a:tr h="565938">
                <a:tc>
                  <a:txBody>
                    <a:bodyPr/>
                    <a:lstStyle/>
                    <a:p>
                      <a:pPr algn="l" fontAlgn="t">
                        <a:buNone/>
                      </a:pPr>
                      <a:r>
                        <a:rPr lang="en-US" sz="1400" b="1" i="0" u="none" strike="noStrike">
                          <a:solidFill>
                            <a:srgbClr val="000000"/>
                          </a:solidFill>
                          <a:effectLst/>
                          <a:latin typeface="Arial" panose="020B0604020202020204" pitchFamily="34" charset="0"/>
                        </a:rPr>
                        <a:t>Planned Approach</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Build a conversational AI assistant that reads the customer's existing data/preferences and recommends configuration settings, reducing manual setup from days to minutes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768920"/>
                  </a:ext>
                </a:extLst>
              </a:tr>
              <a:tr h="466066">
                <a:tc>
                  <a:txBody>
                    <a:bodyPr/>
                    <a:lstStyle/>
                    <a:p>
                      <a:pPr algn="l" fontAlgn="t">
                        <a:buNone/>
                      </a:pPr>
                      <a:r>
                        <a:rPr lang="en-US" sz="1400" b="1" i="0" u="none" strike="noStrike">
                          <a:solidFill>
                            <a:srgbClr val="000000"/>
                          </a:solidFill>
                          <a:effectLst/>
                          <a:latin typeface="Arial" panose="020B0604020202020204" pitchFamily="34" charset="0"/>
                        </a:rPr>
                        <a:t>Tools &amp; Resources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OpenAI API credits (provided by partner), existing product APIs, sample anonymized customer data</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5349113"/>
                  </a:ext>
                </a:extLst>
              </a:tr>
              <a:tr h="461905">
                <a:tc>
                  <a:txBody>
                    <a:bodyPr/>
                    <a:lstStyle/>
                    <a:p>
                      <a:pPr algn="l" fontAlgn="t">
                        <a:buNone/>
                      </a:pPr>
                      <a:r>
                        <a:rPr lang="en-US" sz="1400" b="1" i="0" u="none" strike="noStrike">
                          <a:solidFill>
                            <a:srgbClr val="000000"/>
                          </a:solidFill>
                          <a:effectLst/>
                          <a:latin typeface="Arial" panose="020B0604020202020204" pitchFamily="34" charset="0"/>
                        </a:rPr>
                        <a:t>Success Criteria</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Working prototype that can auto-configure 70%+ of a standard customer setup</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763749"/>
                  </a:ext>
                </a:extLst>
              </a:tr>
            </a:tbl>
          </a:graphicData>
        </a:graphic>
      </p:graphicFrame>
    </p:spTree>
    <p:extLst>
      <p:ext uri="{BB962C8B-B14F-4D97-AF65-F5344CB8AC3E}">
        <p14:creationId xmlns:p14="http://schemas.microsoft.com/office/powerpoint/2010/main" val="30702880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A4C26-51AF-518B-197B-BF3C087A5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9F7D2-A332-F722-7756-19D81AE136E6}"/>
              </a:ext>
            </a:extLst>
          </p:cNvPr>
          <p:cNvSpPr>
            <a:spLocks noGrp="1"/>
          </p:cNvSpPr>
          <p:nvPr>
            <p:ph type="title"/>
          </p:nvPr>
        </p:nvSpPr>
        <p:spPr/>
        <p:txBody>
          <a:bodyPr/>
          <a:lstStyle/>
          <a:p>
            <a:r>
              <a:rPr lang="en-US" b="1"/>
              <a:t>AI Product Hackathon</a:t>
            </a:r>
            <a:br>
              <a:rPr lang="en-US" b="1"/>
            </a:br>
            <a:r>
              <a:rPr lang="en-US"/>
              <a:t>Portfolio Company Example of Entry / Exit / Future </a:t>
            </a:r>
            <a:endParaRPr lang="en-US" b="1"/>
          </a:p>
        </p:txBody>
      </p:sp>
      <p:sp>
        <p:nvSpPr>
          <p:cNvPr id="7" name="Slide Number Placeholder 6">
            <a:extLst>
              <a:ext uri="{FF2B5EF4-FFF2-40B4-BE49-F238E27FC236}">
                <a16:creationId xmlns:a16="http://schemas.microsoft.com/office/drawing/2014/main" id="{C596FCA1-646B-FC38-5160-6F2200BF96D9}"/>
              </a:ext>
            </a:extLst>
          </p:cNvPr>
          <p:cNvSpPr>
            <a:spLocks noGrp="1"/>
          </p:cNvSpPr>
          <p:nvPr>
            <p:ph type="sldNum" sz="quarter" idx="12"/>
          </p:nvPr>
        </p:nvSpPr>
        <p:spPr/>
        <p:txBody>
          <a:bodyPr/>
          <a:lstStyle/>
          <a:p>
            <a:fld id="{1153F0DE-4B83-C442-BFAF-2E07D848C22E}" type="slidenum">
              <a:rPr lang="en-US" smtClean="0"/>
              <a:t>11</a:t>
            </a:fld>
            <a:endParaRPr lang="en-US"/>
          </a:p>
        </p:txBody>
      </p:sp>
      <p:sp>
        <p:nvSpPr>
          <p:cNvPr id="3" name="Content Placeholder 2">
            <a:extLst>
              <a:ext uri="{FF2B5EF4-FFF2-40B4-BE49-F238E27FC236}">
                <a16:creationId xmlns:a16="http://schemas.microsoft.com/office/drawing/2014/main" id="{2C2BCA71-A9FE-D822-7E39-A4EB10FDC10A}"/>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a:solidFill>
                  <a:schemeClr val="accent2"/>
                </a:solidFill>
              </a:rPr>
              <a:t>Exit:</a:t>
            </a:r>
            <a:r>
              <a:rPr lang="en-US" sz="1800"/>
              <a:t> </a:t>
            </a:r>
            <a:r>
              <a:rPr lang="en-US" sz="1800" b="0"/>
              <a:t>24 Hours Later - Demo &amp; Results</a:t>
            </a:r>
          </a:p>
        </p:txBody>
      </p:sp>
      <p:graphicFrame>
        <p:nvGraphicFramePr>
          <p:cNvPr id="5" name="Table 4">
            <a:extLst>
              <a:ext uri="{FF2B5EF4-FFF2-40B4-BE49-F238E27FC236}">
                <a16:creationId xmlns:a16="http://schemas.microsoft.com/office/drawing/2014/main" id="{3A4E774C-CA73-DFEF-E426-2538182AEEF1}"/>
              </a:ext>
            </a:extLst>
          </p:cNvPr>
          <p:cNvGraphicFramePr>
            <a:graphicFrameLocks noGrp="1"/>
          </p:cNvGraphicFramePr>
          <p:nvPr>
            <p:extLst>
              <p:ext uri="{D42A27DB-BD31-4B8C-83A1-F6EECF244321}">
                <p14:modId xmlns:p14="http://schemas.microsoft.com/office/powerpoint/2010/main" val="912252575"/>
              </p:ext>
            </p:extLst>
          </p:nvPr>
        </p:nvGraphicFramePr>
        <p:xfrm>
          <a:off x="838199" y="2381250"/>
          <a:ext cx="10515600" cy="3843044"/>
        </p:xfrm>
        <a:graphic>
          <a:graphicData uri="http://schemas.openxmlformats.org/drawingml/2006/table">
            <a:tbl>
              <a:tblPr/>
              <a:tblGrid>
                <a:gridCol w="2503714">
                  <a:extLst>
                    <a:ext uri="{9D8B030D-6E8A-4147-A177-3AD203B41FA5}">
                      <a16:colId xmlns:a16="http://schemas.microsoft.com/office/drawing/2014/main" val="1869153556"/>
                    </a:ext>
                  </a:extLst>
                </a:gridCol>
                <a:gridCol w="8011886">
                  <a:extLst>
                    <a:ext uri="{9D8B030D-6E8A-4147-A177-3AD203B41FA5}">
                      <a16:colId xmlns:a16="http://schemas.microsoft.com/office/drawing/2014/main" val="2466540031"/>
                    </a:ext>
                  </a:extLst>
                </a:gridCol>
              </a:tblGrid>
              <a:tr h="332905">
                <a:tc>
                  <a:txBody>
                    <a:bodyPr/>
                    <a:lstStyle/>
                    <a:p>
                      <a:pPr algn="l" fontAlgn="t">
                        <a:buNone/>
                      </a:pPr>
                      <a:r>
                        <a:rPr lang="en-US" sz="1400" b="1" i="0" u="none" strike="noStrike">
                          <a:solidFill>
                            <a:srgbClr val="FFFFFF"/>
                          </a:solidFill>
                          <a:effectLst/>
                          <a:latin typeface="Arial" panose="020B0604020202020204" pitchFamily="34" charset="0"/>
                        </a:rPr>
                        <a:t>Field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tc>
                  <a:txBody>
                    <a:bodyPr/>
                    <a:lstStyle/>
                    <a:p>
                      <a:pPr algn="l" fontAlgn="t">
                        <a:buNone/>
                      </a:pPr>
                      <a:r>
                        <a:rPr lang="en-US" sz="1400" b="1" i="0" u="none" strike="noStrike">
                          <a:solidFill>
                            <a:srgbClr val="FFFFFF"/>
                          </a:solidFill>
                          <a:effectLst/>
                          <a:latin typeface="Arial" panose="020B0604020202020204" pitchFamily="34" charset="0"/>
                        </a:rPr>
                        <a:t>Details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extLst>
                  <a:ext uri="{0D108BD9-81ED-4DB2-BD59-A6C34878D82A}">
                    <a16:rowId xmlns:a16="http://schemas.microsoft.com/office/drawing/2014/main" val="2883262839"/>
                  </a:ext>
                </a:extLst>
              </a:tr>
              <a:tr h="466066">
                <a:tc>
                  <a:txBody>
                    <a:bodyPr/>
                    <a:lstStyle/>
                    <a:p>
                      <a:pPr algn="l" fontAlgn="t">
                        <a:buNone/>
                      </a:pPr>
                      <a:r>
                        <a:rPr lang="en-US" sz="1400" b="1" i="0" u="none" strike="noStrike">
                          <a:solidFill>
                            <a:srgbClr val="000000"/>
                          </a:solidFill>
                          <a:effectLst/>
                          <a:latin typeface="Arial" panose="020B0604020202020204" pitchFamily="34" charset="0"/>
                        </a:rPr>
                        <a:t>Deliverable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Live demo of a working chatbot embedded in the product's onboarding flow</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0897371"/>
                  </a:ext>
                </a:extLst>
              </a:tr>
              <a:tr h="466066">
                <a:tc>
                  <a:txBody>
                    <a:bodyPr/>
                    <a:lstStyle/>
                    <a:p>
                      <a:pPr algn="l" fontAlgn="t">
                        <a:buNone/>
                      </a:pPr>
                      <a:r>
                        <a:rPr lang="en-US" sz="1400" b="1" i="0" u="none" strike="noStrike">
                          <a:solidFill>
                            <a:srgbClr val="000000"/>
                          </a:solidFill>
                          <a:effectLst/>
                          <a:latin typeface="Arial" panose="020B0604020202020204" pitchFamily="34" charset="0"/>
                        </a:rPr>
                        <a:t>What It Does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Ingests customer profile data &gt; asks 5-7 clarifying questions &gt; generates a recommended configuration &gt; applies it with one click</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530783"/>
                  </a:ext>
                </a:extLst>
              </a:tr>
              <a:tr h="466066">
                <a:tc>
                  <a:txBody>
                    <a:bodyPr/>
                    <a:lstStyle/>
                    <a:p>
                      <a:pPr algn="l" fontAlgn="t">
                        <a:buNone/>
                      </a:pPr>
                      <a:r>
                        <a:rPr lang="en-US" sz="1400" b="1" i="0" u="none" strike="noStrike">
                          <a:solidFill>
                            <a:srgbClr val="000000"/>
                          </a:solidFill>
                          <a:effectLst/>
                          <a:latin typeface="Arial" panose="020B0604020202020204" pitchFamily="34" charset="0"/>
                        </a:rPr>
                        <a:t>Demo Scenario</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Simulated new customer onboarded in ~8 minutes vs. current 2-week average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954440"/>
                  </a:ext>
                </a:extLst>
              </a:tr>
              <a:tr h="565938">
                <a:tc>
                  <a:txBody>
                    <a:bodyPr/>
                    <a:lstStyle/>
                    <a:p>
                      <a:pPr algn="l" fontAlgn="t">
                        <a:buNone/>
                      </a:pPr>
                      <a:r>
                        <a:rPr lang="en-US" sz="1400" b="1" i="0" u="none" strike="noStrike">
                          <a:solidFill>
                            <a:srgbClr val="000000"/>
                          </a:solidFill>
                          <a:effectLst/>
                          <a:latin typeface="Arial" panose="020B0604020202020204" pitchFamily="34" charset="0"/>
                        </a:rPr>
                        <a:t>Target ICP</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Mid-market customers (50-500 seats) with standard use cases, ~60% of new bookings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6278864"/>
                  </a:ext>
                </a:extLst>
              </a:tr>
              <a:tr h="565938">
                <a:tc>
                  <a:txBody>
                    <a:bodyPr/>
                    <a:lstStyle/>
                    <a:p>
                      <a:pPr algn="l" fontAlgn="t">
                        <a:buNone/>
                      </a:pPr>
                      <a:r>
                        <a:rPr lang="en-US" sz="1400" b="1" i="0" u="none" strike="noStrike">
                          <a:solidFill>
                            <a:srgbClr val="000000"/>
                          </a:solidFill>
                          <a:effectLst/>
                          <a:latin typeface="Arial" panose="020B0604020202020204" pitchFamily="34" charset="0"/>
                        </a:rPr>
                        <a:t>Estimated Impact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50% reduction in onboarding time, 30% fewer early-stage support tickets, measurable improvement in time-to-value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768920"/>
                  </a:ext>
                </a:extLst>
              </a:tr>
              <a:tr h="466066">
                <a:tc>
                  <a:txBody>
                    <a:bodyPr/>
                    <a:lstStyle/>
                    <a:p>
                      <a:pPr algn="l" fontAlgn="t">
                        <a:buNone/>
                      </a:pPr>
                      <a:r>
                        <a:rPr lang="en-US" sz="1400" b="1" i="0" u="none" strike="noStrike">
                          <a:solidFill>
                            <a:srgbClr val="000000"/>
                          </a:solidFill>
                          <a:effectLst/>
                          <a:latin typeface="Arial" panose="020B0604020202020204" pitchFamily="34" charset="0"/>
                        </a:rPr>
                        <a:t>Go/No-Go Decision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 Proceed: team validated feasibility; next step is a 6-week pilot with 5 real customers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5349113"/>
                  </a:ext>
                </a:extLst>
              </a:tr>
              <a:tr h="461905">
                <a:tc>
                  <a:txBody>
                    <a:bodyPr/>
                    <a:lstStyle/>
                    <a:p>
                      <a:pPr algn="l" fontAlgn="t">
                        <a:buNone/>
                      </a:pPr>
                      <a:r>
                        <a:rPr lang="en-US" sz="1400" b="1" i="0" u="none" strike="noStrike">
                          <a:solidFill>
                            <a:srgbClr val="000000"/>
                          </a:solidFill>
                          <a:effectLst/>
                          <a:latin typeface="Arial" panose="020B0604020202020204" pitchFamily="34" charset="0"/>
                        </a:rPr>
                        <a:t>Open Questions Identified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Edge cases for complex enterprise configs, data privacy review needed, cost per API call at scale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763749"/>
                  </a:ext>
                </a:extLst>
              </a:tr>
            </a:tbl>
          </a:graphicData>
        </a:graphic>
      </p:graphicFrame>
    </p:spTree>
    <p:extLst>
      <p:ext uri="{BB962C8B-B14F-4D97-AF65-F5344CB8AC3E}">
        <p14:creationId xmlns:p14="http://schemas.microsoft.com/office/powerpoint/2010/main" val="1668230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68ABE-5588-0249-ADD0-47EA6DD4E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F6619-3510-34A7-D2B2-F0AF77F43C67}"/>
              </a:ext>
            </a:extLst>
          </p:cNvPr>
          <p:cNvSpPr>
            <a:spLocks noGrp="1"/>
          </p:cNvSpPr>
          <p:nvPr>
            <p:ph type="title"/>
          </p:nvPr>
        </p:nvSpPr>
        <p:spPr/>
        <p:txBody>
          <a:bodyPr/>
          <a:lstStyle/>
          <a:p>
            <a:r>
              <a:rPr lang="en-US" b="1"/>
              <a:t>AI Product Hackathon</a:t>
            </a:r>
            <a:br>
              <a:rPr lang="en-US" b="1"/>
            </a:br>
            <a:r>
              <a:rPr lang="en-US"/>
              <a:t>Portfolio Company Example of Entry / Exit / Future </a:t>
            </a:r>
            <a:endParaRPr lang="en-US" b="1"/>
          </a:p>
        </p:txBody>
      </p:sp>
      <p:sp>
        <p:nvSpPr>
          <p:cNvPr id="7" name="Slide Number Placeholder 6">
            <a:extLst>
              <a:ext uri="{FF2B5EF4-FFF2-40B4-BE49-F238E27FC236}">
                <a16:creationId xmlns:a16="http://schemas.microsoft.com/office/drawing/2014/main" id="{8BB27B37-EA4C-6C22-57C9-246CE35EC483}"/>
              </a:ext>
            </a:extLst>
          </p:cNvPr>
          <p:cNvSpPr>
            <a:spLocks noGrp="1"/>
          </p:cNvSpPr>
          <p:nvPr>
            <p:ph type="sldNum" sz="quarter" idx="12"/>
          </p:nvPr>
        </p:nvSpPr>
        <p:spPr/>
        <p:txBody>
          <a:bodyPr/>
          <a:lstStyle/>
          <a:p>
            <a:fld id="{1153F0DE-4B83-C442-BFAF-2E07D848C22E}" type="slidenum">
              <a:rPr lang="en-US" smtClean="0"/>
              <a:t>12</a:t>
            </a:fld>
            <a:endParaRPr lang="en-US"/>
          </a:p>
        </p:txBody>
      </p:sp>
      <p:sp>
        <p:nvSpPr>
          <p:cNvPr id="3" name="Content Placeholder 2">
            <a:extLst>
              <a:ext uri="{FF2B5EF4-FFF2-40B4-BE49-F238E27FC236}">
                <a16:creationId xmlns:a16="http://schemas.microsoft.com/office/drawing/2014/main" id="{9AFAF4FD-2DB5-6C53-B2C6-0F235EB55D7E}"/>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a:solidFill>
                  <a:schemeClr val="accent2"/>
                </a:solidFill>
              </a:rPr>
              <a:t>Future:</a:t>
            </a:r>
            <a:r>
              <a:rPr lang="en-US" sz="1800"/>
              <a:t> </a:t>
            </a:r>
            <a:r>
              <a:rPr lang="en-US" sz="1800" b="0"/>
              <a:t>6 months post-hackathon</a:t>
            </a:r>
          </a:p>
        </p:txBody>
      </p:sp>
      <p:graphicFrame>
        <p:nvGraphicFramePr>
          <p:cNvPr id="5" name="Table 4">
            <a:extLst>
              <a:ext uri="{FF2B5EF4-FFF2-40B4-BE49-F238E27FC236}">
                <a16:creationId xmlns:a16="http://schemas.microsoft.com/office/drawing/2014/main" id="{D16240E0-6729-D782-7B56-F5EC3B377C9C}"/>
              </a:ext>
            </a:extLst>
          </p:cNvPr>
          <p:cNvGraphicFramePr>
            <a:graphicFrameLocks noGrp="1"/>
          </p:cNvGraphicFramePr>
          <p:nvPr>
            <p:extLst>
              <p:ext uri="{D42A27DB-BD31-4B8C-83A1-F6EECF244321}">
                <p14:modId xmlns:p14="http://schemas.microsoft.com/office/powerpoint/2010/main" val="49688599"/>
              </p:ext>
            </p:extLst>
          </p:nvPr>
        </p:nvGraphicFramePr>
        <p:xfrm>
          <a:off x="838199" y="2381250"/>
          <a:ext cx="10515600" cy="3749465"/>
        </p:xfrm>
        <a:graphic>
          <a:graphicData uri="http://schemas.openxmlformats.org/drawingml/2006/table">
            <a:tbl>
              <a:tblPr/>
              <a:tblGrid>
                <a:gridCol w="2503714">
                  <a:extLst>
                    <a:ext uri="{9D8B030D-6E8A-4147-A177-3AD203B41FA5}">
                      <a16:colId xmlns:a16="http://schemas.microsoft.com/office/drawing/2014/main" val="1869153556"/>
                    </a:ext>
                  </a:extLst>
                </a:gridCol>
                <a:gridCol w="8011886">
                  <a:extLst>
                    <a:ext uri="{9D8B030D-6E8A-4147-A177-3AD203B41FA5}">
                      <a16:colId xmlns:a16="http://schemas.microsoft.com/office/drawing/2014/main" val="2466540031"/>
                    </a:ext>
                  </a:extLst>
                </a:gridCol>
              </a:tblGrid>
              <a:tr h="332905">
                <a:tc>
                  <a:txBody>
                    <a:bodyPr/>
                    <a:lstStyle/>
                    <a:p>
                      <a:pPr algn="l" fontAlgn="t">
                        <a:buNone/>
                      </a:pPr>
                      <a:r>
                        <a:rPr lang="en-US" sz="1400" b="1" i="0" u="none" strike="noStrike">
                          <a:solidFill>
                            <a:srgbClr val="FFFFFF"/>
                          </a:solidFill>
                          <a:effectLst/>
                          <a:latin typeface="Arial" panose="020B0604020202020204" pitchFamily="34" charset="0"/>
                        </a:rPr>
                        <a:t>Field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tc>
                  <a:txBody>
                    <a:bodyPr/>
                    <a:lstStyle/>
                    <a:p>
                      <a:pPr algn="l" fontAlgn="t">
                        <a:buNone/>
                      </a:pPr>
                      <a:r>
                        <a:rPr lang="en-US" sz="1400" b="1" i="0" u="none" strike="noStrike">
                          <a:solidFill>
                            <a:srgbClr val="FFFFFF"/>
                          </a:solidFill>
                          <a:effectLst/>
                          <a:latin typeface="Arial" panose="020B0604020202020204" pitchFamily="34" charset="0"/>
                        </a:rPr>
                        <a:t>Details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F9B"/>
                    </a:solidFill>
                  </a:tcPr>
                </a:tc>
                <a:extLst>
                  <a:ext uri="{0D108BD9-81ED-4DB2-BD59-A6C34878D82A}">
                    <a16:rowId xmlns:a16="http://schemas.microsoft.com/office/drawing/2014/main" val="2883262839"/>
                  </a:ext>
                </a:extLst>
              </a:tr>
              <a:tr h="466066">
                <a:tc>
                  <a:txBody>
                    <a:bodyPr/>
                    <a:lstStyle/>
                    <a:p>
                      <a:pPr algn="l" fontAlgn="t">
                        <a:buNone/>
                      </a:pPr>
                      <a:r>
                        <a:rPr lang="en-US" sz="1400" b="1" i="0" u="none" strike="noStrike">
                          <a:solidFill>
                            <a:srgbClr val="000000"/>
                          </a:solidFill>
                          <a:effectLst/>
                          <a:latin typeface="Arial" panose="020B0604020202020204" pitchFamily="34" charset="0"/>
                        </a:rPr>
                        <a:t>Product Status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AI configuration assistant shipped to production; available to all new customers as part of standard onboarding</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0897371"/>
                  </a:ext>
                </a:extLst>
              </a:tr>
              <a:tr h="466066">
                <a:tc>
                  <a:txBody>
                    <a:bodyPr/>
                    <a:lstStyle/>
                    <a:p>
                      <a:pPr algn="l" fontAlgn="t">
                        <a:buNone/>
                      </a:pPr>
                      <a:r>
                        <a:rPr lang="en-US" sz="1400" b="1" i="0" u="none" strike="noStrike">
                          <a:solidFill>
                            <a:srgbClr val="000000"/>
                          </a:solidFill>
                          <a:effectLst/>
                          <a:latin typeface="Arial" panose="020B0604020202020204" pitchFamily="34" charset="0"/>
                        </a:rPr>
                        <a:t>Adoption</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75% of new mid-market customers using the assistant; enterprise rollout in beta</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530783"/>
                  </a:ext>
                </a:extLst>
              </a:tr>
              <a:tr h="466066">
                <a:tc>
                  <a:txBody>
                    <a:bodyPr/>
                    <a:lstStyle/>
                    <a:p>
                      <a:pPr algn="l" fontAlgn="t">
                        <a:buNone/>
                      </a:pPr>
                      <a:r>
                        <a:rPr lang="en-US" sz="1400" b="1" i="0" u="none" strike="noStrike">
                          <a:solidFill>
                            <a:srgbClr val="000000"/>
                          </a:solidFill>
                          <a:effectLst/>
                          <a:latin typeface="Arial" panose="020B0604020202020204" pitchFamily="34" charset="0"/>
                        </a:rPr>
                        <a:t>Onboarding Impact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Average time-to-go-live reduced from 3-6 weeks to 1 week; onboarding NPS up 20 points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954440"/>
                  </a:ext>
                </a:extLst>
              </a:tr>
              <a:tr h="364010">
                <a:tc>
                  <a:txBody>
                    <a:bodyPr/>
                    <a:lstStyle/>
                    <a:p>
                      <a:pPr algn="l" fontAlgn="t">
                        <a:buNone/>
                      </a:pPr>
                      <a:r>
                        <a:rPr lang="en-US" sz="1400" b="1" i="0" u="none" strike="noStrike">
                          <a:solidFill>
                            <a:srgbClr val="000000"/>
                          </a:solidFill>
                          <a:effectLst/>
                          <a:latin typeface="Arial" panose="020B0604020202020204" pitchFamily="34" charset="0"/>
                        </a:rPr>
                        <a:t>Support Savings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Early-stage support tickets down 35%, equivalent to ~1.5 FTEs redeployed to higher-value work</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6278864"/>
                  </a:ext>
                </a:extLst>
              </a:tr>
              <a:tr h="565938">
                <a:tc>
                  <a:txBody>
                    <a:bodyPr/>
                    <a:lstStyle/>
                    <a:p>
                      <a:pPr algn="l" fontAlgn="t">
                        <a:buNone/>
                      </a:pPr>
                      <a:r>
                        <a:rPr lang="en-US" sz="1400" b="1" i="0" u="none" strike="noStrike">
                          <a:solidFill>
                            <a:srgbClr val="000000"/>
                          </a:solidFill>
                          <a:effectLst/>
                          <a:latin typeface="Arial" panose="020B0604020202020204" pitchFamily="34" charset="0"/>
                        </a:rPr>
                        <a:t>Revenue Impact</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Faster onboarding leading to faster time-to-value; 15% improvement in first-year retention; feature cited in 3 competitive wins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9768920"/>
                  </a:ext>
                </a:extLst>
              </a:tr>
              <a:tr h="466066">
                <a:tc>
                  <a:txBody>
                    <a:bodyPr/>
                    <a:lstStyle/>
                    <a:p>
                      <a:pPr algn="l" fontAlgn="t">
                        <a:buNone/>
                      </a:pPr>
                      <a:r>
                        <a:rPr lang="en-US" sz="1400" b="1" i="0" u="none" strike="noStrike">
                          <a:solidFill>
                            <a:srgbClr val="000000"/>
                          </a:solidFill>
                          <a:effectLst/>
                          <a:latin typeface="Arial" panose="020B0604020202020204" pitchFamily="34" charset="0"/>
                        </a:rPr>
                        <a:t>Commercial Leverage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Assistant repositioned as a premium onboarding capability in sales demos; included in updated investor materials</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5349113"/>
                  </a:ext>
                </a:extLst>
              </a:tr>
              <a:tr h="461905">
                <a:tc>
                  <a:txBody>
                    <a:bodyPr/>
                    <a:lstStyle/>
                    <a:p>
                      <a:pPr algn="l" fontAlgn="t">
                        <a:buNone/>
                      </a:pPr>
                      <a:r>
                        <a:rPr lang="en-US" sz="1400" b="1" i="0" u="none" strike="noStrike">
                          <a:solidFill>
                            <a:srgbClr val="000000"/>
                          </a:solidFill>
                          <a:effectLst/>
                          <a:latin typeface="Arial" panose="020B0604020202020204" pitchFamily="34" charset="0"/>
                        </a:rPr>
                        <a:t>LP Story</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rial" panose="020B0604020202020204" pitchFamily="34" charset="0"/>
                        </a:rPr>
                        <a:t>One team, 24 hours, and an idea that became a shipped product driving measurable retention and revenue impact across the customer base.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763749"/>
                  </a:ext>
                </a:extLst>
              </a:tr>
            </a:tbl>
          </a:graphicData>
        </a:graphic>
      </p:graphicFrame>
    </p:spTree>
    <p:extLst>
      <p:ext uri="{BB962C8B-B14F-4D97-AF65-F5344CB8AC3E}">
        <p14:creationId xmlns:p14="http://schemas.microsoft.com/office/powerpoint/2010/main" val="680642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9E7E3-F39F-6A4D-1D45-10D879B282D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1CD1AD4-B748-B921-6D7E-85B402A8E2E6}"/>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AB1C23-DE5C-7C26-C0E6-F143C1BC83F1}"/>
              </a:ext>
            </a:extLst>
          </p:cNvPr>
          <p:cNvSpPr>
            <a:spLocks noGrp="1"/>
          </p:cNvSpPr>
          <p:nvPr>
            <p:ph type="ctrTitle"/>
          </p:nvPr>
        </p:nvSpPr>
        <p:spPr>
          <a:xfrm>
            <a:off x="846992" y="1837592"/>
            <a:ext cx="5904186" cy="2387600"/>
          </a:xfrm>
        </p:spPr>
        <p:txBody>
          <a:bodyPr anchor="t"/>
          <a:lstStyle/>
          <a:p>
            <a:pPr algn="l"/>
            <a:r>
              <a:rPr lang="en-US" sz="3600" b="1">
                <a:solidFill>
                  <a:schemeClr val="bg1"/>
                </a:solidFill>
              </a:rPr>
              <a:t>Appendix</a:t>
            </a:r>
            <a:endParaRPr lang="en-US" sz="3600">
              <a:solidFill>
                <a:schemeClr val="bg1"/>
              </a:solidFill>
            </a:endParaRPr>
          </a:p>
        </p:txBody>
      </p:sp>
      <p:sp>
        <p:nvSpPr>
          <p:cNvPr id="4" name="Slide Number Placeholder 3">
            <a:extLst>
              <a:ext uri="{FF2B5EF4-FFF2-40B4-BE49-F238E27FC236}">
                <a16:creationId xmlns:a16="http://schemas.microsoft.com/office/drawing/2014/main" id="{A4D99E4D-E67A-CB08-C6AF-281BD899311B}"/>
              </a:ext>
            </a:extLst>
          </p:cNvPr>
          <p:cNvSpPr>
            <a:spLocks noGrp="1"/>
          </p:cNvSpPr>
          <p:nvPr>
            <p:ph type="sldNum" sz="quarter" idx="12"/>
          </p:nvPr>
        </p:nvSpPr>
        <p:spPr/>
        <p:txBody>
          <a:bodyPr/>
          <a:lstStyle/>
          <a:p>
            <a:fld id="{1153F0DE-4B83-C442-BFAF-2E07D848C22E}" type="slidenum">
              <a:rPr lang="en-US" smtClean="0"/>
              <a:t>13</a:t>
            </a:fld>
            <a:endParaRPr lang="en-US"/>
          </a:p>
        </p:txBody>
      </p:sp>
    </p:spTree>
    <p:extLst>
      <p:ext uri="{BB962C8B-B14F-4D97-AF65-F5344CB8AC3E}">
        <p14:creationId xmlns:p14="http://schemas.microsoft.com/office/powerpoint/2010/main" val="2637874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F29C-7814-A7C2-7B47-5E543ABF0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19F24-C6A5-EB99-044E-24ABB63492AD}"/>
              </a:ext>
            </a:extLst>
          </p:cNvPr>
          <p:cNvSpPr>
            <a:spLocks noGrp="1"/>
          </p:cNvSpPr>
          <p:nvPr>
            <p:ph type="title"/>
          </p:nvPr>
        </p:nvSpPr>
        <p:spPr/>
        <p:txBody>
          <a:bodyPr/>
          <a:lstStyle/>
          <a:p>
            <a:r>
              <a:rPr lang="en-US" b="1"/>
              <a:t>AI Product Hackathon</a:t>
            </a:r>
            <a:br>
              <a:rPr lang="en-US" b="1"/>
            </a:br>
            <a:r>
              <a:rPr lang="en-US"/>
              <a:t>Designed To Kick Start AI Learning and Roadmap</a:t>
            </a:r>
            <a:endParaRPr lang="en-US" b="1"/>
          </a:p>
        </p:txBody>
      </p:sp>
      <p:sp>
        <p:nvSpPr>
          <p:cNvPr id="7" name="Slide Number Placeholder 6">
            <a:extLst>
              <a:ext uri="{FF2B5EF4-FFF2-40B4-BE49-F238E27FC236}">
                <a16:creationId xmlns:a16="http://schemas.microsoft.com/office/drawing/2014/main" id="{C8907235-6EDC-9EDB-45B3-BB35ED7CA50C}"/>
              </a:ext>
            </a:extLst>
          </p:cNvPr>
          <p:cNvSpPr>
            <a:spLocks noGrp="1"/>
          </p:cNvSpPr>
          <p:nvPr>
            <p:ph type="sldNum" sz="quarter" idx="12"/>
          </p:nvPr>
        </p:nvSpPr>
        <p:spPr/>
        <p:txBody>
          <a:bodyPr/>
          <a:lstStyle/>
          <a:p>
            <a:fld id="{1153F0DE-4B83-C442-BFAF-2E07D848C22E}" type="slidenum">
              <a:rPr lang="en-US" smtClean="0"/>
              <a:t>15</a:t>
            </a:fld>
            <a:endParaRPr lang="en-US"/>
          </a:p>
        </p:txBody>
      </p:sp>
      <p:sp>
        <p:nvSpPr>
          <p:cNvPr id="3" name="Content Placeholder 2">
            <a:extLst>
              <a:ext uri="{FF2B5EF4-FFF2-40B4-BE49-F238E27FC236}">
                <a16:creationId xmlns:a16="http://schemas.microsoft.com/office/drawing/2014/main" id="{CFF5F17E-A660-9916-1A1D-1A1B7196A687}"/>
              </a:ext>
            </a:extLst>
          </p:cNvPr>
          <p:cNvSpPr txBox="1">
            <a:spLocks/>
          </p:cNvSpPr>
          <p:nvPr/>
        </p:nvSpPr>
        <p:spPr>
          <a:xfrm>
            <a:off x="838201" y="1828800"/>
            <a:ext cx="10515600"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Hackathons are a time-tested approach to stimulating innovation. They are low-cost, distributed, bottoms-up enablers for generating new skills, new ideas, and new products to eventually sell.</a:t>
            </a:r>
          </a:p>
        </p:txBody>
      </p:sp>
      <p:sp>
        <p:nvSpPr>
          <p:cNvPr id="12" name="Rectangle 11">
            <a:extLst>
              <a:ext uri="{FF2B5EF4-FFF2-40B4-BE49-F238E27FC236}">
                <a16:creationId xmlns:a16="http://schemas.microsoft.com/office/drawing/2014/main" id="{390D3F9F-EDD4-FB58-8014-45948B35AA7C}"/>
              </a:ext>
            </a:extLst>
          </p:cNvPr>
          <p:cNvSpPr/>
          <p:nvPr/>
        </p:nvSpPr>
        <p:spPr>
          <a:xfrm>
            <a:off x="838200" y="2638666"/>
            <a:ext cx="5032891" cy="160656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spcBef>
                <a:spcPts val="300"/>
              </a:spcBef>
              <a:spcAft>
                <a:spcPts val="300"/>
              </a:spcAft>
            </a:pPr>
            <a:r>
              <a:rPr lang="en-US" b="1">
                <a:solidFill>
                  <a:schemeClr val="tx1"/>
                </a:solidFill>
                <a:latin typeface="Arial" panose="020B0604020202020204" pitchFamily="34" charset="0"/>
                <a:cs typeface="Arial" panose="020B0604020202020204" pitchFamily="34" charset="0"/>
              </a:rPr>
              <a:t>New Ideas</a:t>
            </a:r>
            <a:br>
              <a:rPr lang="en-US" b="1">
                <a:solidFill>
                  <a:schemeClr val="tx1"/>
                </a:solidFill>
                <a:latin typeface="Arial" panose="020B0604020202020204" pitchFamily="34" charset="0"/>
                <a:cs typeface="Arial" panose="020B0604020202020204" pitchFamily="34" charset="0"/>
              </a:rPr>
            </a:br>
            <a:endParaRPr lang="en-US" b="1">
              <a:solidFill>
                <a:schemeClr val="tx1"/>
              </a:solidFill>
              <a:latin typeface="Arial" panose="020B0604020202020204" pitchFamily="34" charset="0"/>
              <a:cs typeface="Arial" panose="020B0604020202020204" pitchFamily="34" charset="0"/>
            </a:endParaRPr>
          </a:p>
          <a:p>
            <a:pPr algn="ctr">
              <a:spcBef>
                <a:spcPts val="300"/>
              </a:spcBef>
              <a:spcAft>
                <a:spcPts val="300"/>
              </a:spcAft>
            </a:pPr>
            <a:r>
              <a:rPr lang="en-US">
                <a:solidFill>
                  <a:schemeClr val="tx1"/>
                </a:solidFill>
                <a:latin typeface="Arial" panose="020B0604020202020204" pitchFamily="34" charset="0"/>
                <a:cs typeface="Arial" panose="020B0604020202020204" pitchFamily="34" charset="0"/>
              </a:rPr>
              <a:t>Encourage fresh thinking in how AI can be applied to fit each company’s customers and market position</a:t>
            </a:r>
          </a:p>
        </p:txBody>
      </p:sp>
      <p:sp>
        <p:nvSpPr>
          <p:cNvPr id="13" name="Rectangle 12">
            <a:extLst>
              <a:ext uri="{FF2B5EF4-FFF2-40B4-BE49-F238E27FC236}">
                <a16:creationId xmlns:a16="http://schemas.microsoft.com/office/drawing/2014/main" id="{82034512-0CA1-7188-ECD6-1CB900526FC0}"/>
              </a:ext>
            </a:extLst>
          </p:cNvPr>
          <p:cNvSpPr/>
          <p:nvPr/>
        </p:nvSpPr>
        <p:spPr>
          <a:xfrm>
            <a:off x="838200" y="4560056"/>
            <a:ext cx="5032891" cy="160656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spcBef>
                <a:spcPts val="300"/>
              </a:spcBef>
              <a:spcAft>
                <a:spcPts val="300"/>
              </a:spcAft>
            </a:pPr>
            <a:r>
              <a:rPr lang="en-US" b="1">
                <a:solidFill>
                  <a:schemeClr val="tx1"/>
                </a:solidFill>
                <a:latin typeface="Arial" panose="020B0604020202020204" pitchFamily="34" charset="0"/>
                <a:cs typeface="Arial" panose="020B0604020202020204" pitchFamily="34" charset="0"/>
              </a:rPr>
              <a:t>Cross-Portfolio Shared Learning</a:t>
            </a:r>
            <a:br>
              <a:rPr lang="en-US" b="1">
                <a:solidFill>
                  <a:schemeClr val="tx1"/>
                </a:solidFill>
                <a:latin typeface="Arial" panose="020B0604020202020204" pitchFamily="34" charset="0"/>
                <a:cs typeface="Arial" panose="020B0604020202020204" pitchFamily="34" charset="0"/>
              </a:rPr>
            </a:br>
            <a:endParaRPr lang="en-US" b="1">
              <a:solidFill>
                <a:schemeClr val="tx1"/>
              </a:solidFill>
              <a:latin typeface="Arial" panose="020B0604020202020204" pitchFamily="34" charset="0"/>
              <a:cs typeface="Arial" panose="020B0604020202020204" pitchFamily="34" charset="0"/>
            </a:endParaRPr>
          </a:p>
          <a:p>
            <a:pPr algn="ctr">
              <a:spcBef>
                <a:spcPts val="300"/>
              </a:spcBef>
              <a:spcAft>
                <a:spcPts val="300"/>
              </a:spcAft>
            </a:pPr>
            <a:r>
              <a:rPr lang="en-US">
                <a:solidFill>
                  <a:schemeClr val="tx1"/>
                </a:solidFill>
                <a:latin typeface="Arial" panose="020B0604020202020204" pitchFamily="34" charset="0"/>
                <a:cs typeface="Arial" panose="020B0604020202020204" pitchFamily="34" charset="0"/>
              </a:rPr>
              <a:t>Promote knowledge exchange and useful practices across your portfolio of companies and professionals</a:t>
            </a:r>
          </a:p>
        </p:txBody>
      </p:sp>
      <p:sp>
        <p:nvSpPr>
          <p:cNvPr id="14" name="Rectangle 13">
            <a:extLst>
              <a:ext uri="{FF2B5EF4-FFF2-40B4-BE49-F238E27FC236}">
                <a16:creationId xmlns:a16="http://schemas.microsoft.com/office/drawing/2014/main" id="{0201717B-45F2-DC35-694F-6FB0A250A7F1}"/>
              </a:ext>
            </a:extLst>
          </p:cNvPr>
          <p:cNvSpPr/>
          <p:nvPr/>
        </p:nvSpPr>
        <p:spPr>
          <a:xfrm>
            <a:off x="6320910" y="4560056"/>
            <a:ext cx="5032891" cy="160656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spcBef>
                <a:spcPts val="300"/>
              </a:spcBef>
              <a:spcAft>
                <a:spcPts val="300"/>
              </a:spcAft>
            </a:pPr>
            <a:r>
              <a:rPr lang="en-US" b="1">
                <a:solidFill>
                  <a:schemeClr val="tx1"/>
                </a:solidFill>
                <a:latin typeface="Arial" panose="020B0604020202020204" pitchFamily="34" charset="0"/>
                <a:cs typeface="Arial" panose="020B0604020202020204" pitchFamily="34" charset="0"/>
              </a:rPr>
              <a:t>Skill Building</a:t>
            </a:r>
          </a:p>
          <a:p>
            <a:pPr algn="ctr">
              <a:spcBef>
                <a:spcPts val="300"/>
              </a:spcBef>
              <a:spcAft>
                <a:spcPts val="300"/>
              </a:spcAft>
            </a:pP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Develop stronger AI skills within portfolio companies through hands-on work and peer learning, preparing for the future</a:t>
            </a:r>
          </a:p>
        </p:txBody>
      </p:sp>
      <p:sp>
        <p:nvSpPr>
          <p:cNvPr id="15" name="Rectangle 14">
            <a:extLst>
              <a:ext uri="{FF2B5EF4-FFF2-40B4-BE49-F238E27FC236}">
                <a16:creationId xmlns:a16="http://schemas.microsoft.com/office/drawing/2014/main" id="{5DD15F87-9139-C3AE-66C3-9A67DB5E4610}"/>
              </a:ext>
            </a:extLst>
          </p:cNvPr>
          <p:cNvSpPr/>
          <p:nvPr/>
        </p:nvSpPr>
        <p:spPr>
          <a:xfrm>
            <a:off x="6320910" y="2638666"/>
            <a:ext cx="5032891" cy="160656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spcBef>
                <a:spcPts val="300"/>
              </a:spcBef>
              <a:spcAft>
                <a:spcPts val="300"/>
              </a:spcAft>
            </a:pPr>
            <a:r>
              <a:rPr lang="en-US" b="1">
                <a:solidFill>
                  <a:schemeClr val="tx1"/>
                </a:solidFill>
                <a:latin typeface="Arial" panose="020B0604020202020204" pitchFamily="34" charset="0"/>
                <a:cs typeface="Arial" panose="020B0604020202020204" pitchFamily="34" charset="0"/>
              </a:rPr>
              <a:t>Business Value</a:t>
            </a:r>
          </a:p>
          <a:p>
            <a:pPr algn="ctr">
              <a:spcBef>
                <a:spcPts val="300"/>
              </a:spcBef>
              <a:spcAft>
                <a:spcPts val="300"/>
              </a:spcAft>
            </a:pPr>
            <a:br>
              <a:rPr lang="en-US">
                <a:solidFill>
                  <a:schemeClr val="tx1"/>
                </a:solidFill>
                <a:latin typeface="Arial" panose="020B0604020202020204" pitchFamily="34" charset="0"/>
                <a:cs typeface="Arial" panose="020B0604020202020204" pitchFamily="34" charset="0"/>
              </a:rPr>
            </a:br>
            <a:r>
              <a:rPr lang="en-US">
                <a:solidFill>
                  <a:schemeClr val="tx1"/>
                </a:solidFill>
                <a:latin typeface="Arial" panose="020B0604020202020204" pitchFamily="34" charset="0"/>
                <a:cs typeface="Arial" panose="020B0604020202020204" pitchFamily="34" charset="0"/>
              </a:rPr>
              <a:t>Find practical ways to increase company value, drive growth, and improve competitiveness at scale across the portfolio</a:t>
            </a:r>
          </a:p>
        </p:txBody>
      </p:sp>
    </p:spTree>
    <p:extLst>
      <p:ext uri="{BB962C8B-B14F-4D97-AF65-F5344CB8AC3E}">
        <p14:creationId xmlns:p14="http://schemas.microsoft.com/office/powerpoint/2010/main" val="328025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F94C-D9F2-195B-104A-07843A351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746B0-74CB-4F8B-625C-E48BA9FC19C1}"/>
              </a:ext>
            </a:extLst>
          </p:cNvPr>
          <p:cNvSpPr>
            <a:spLocks noGrp="1"/>
          </p:cNvSpPr>
          <p:nvPr>
            <p:ph type="title"/>
          </p:nvPr>
        </p:nvSpPr>
        <p:spPr/>
        <p:txBody>
          <a:bodyPr/>
          <a:lstStyle/>
          <a:p>
            <a:r>
              <a:rPr lang="en-US" b="1"/>
              <a:t>AI Hackathon</a:t>
            </a:r>
            <a:br>
              <a:rPr lang="en-US" b="1"/>
            </a:br>
            <a:r>
              <a:rPr lang="en-US"/>
              <a:t>Three Potential Focus Area For AI Hackathon </a:t>
            </a:r>
            <a:endParaRPr lang="en-US" b="1"/>
          </a:p>
        </p:txBody>
      </p:sp>
      <p:sp>
        <p:nvSpPr>
          <p:cNvPr id="7" name="Slide Number Placeholder 6">
            <a:extLst>
              <a:ext uri="{FF2B5EF4-FFF2-40B4-BE49-F238E27FC236}">
                <a16:creationId xmlns:a16="http://schemas.microsoft.com/office/drawing/2014/main" id="{469B9878-FFAD-01B4-7CA8-9AE45DA55380}"/>
              </a:ext>
            </a:extLst>
          </p:cNvPr>
          <p:cNvSpPr>
            <a:spLocks noGrp="1"/>
          </p:cNvSpPr>
          <p:nvPr>
            <p:ph type="sldNum" sz="quarter" idx="12"/>
          </p:nvPr>
        </p:nvSpPr>
        <p:spPr/>
        <p:txBody>
          <a:bodyPr/>
          <a:lstStyle/>
          <a:p>
            <a:fld id="{1153F0DE-4B83-C442-BFAF-2E07D848C22E}" type="slidenum">
              <a:rPr lang="en-US" smtClean="0"/>
              <a:t>16</a:t>
            </a:fld>
            <a:endParaRPr lang="en-US"/>
          </a:p>
        </p:txBody>
      </p:sp>
      <p:grpSp>
        <p:nvGrpSpPr>
          <p:cNvPr id="21" name="Group 20">
            <a:extLst>
              <a:ext uri="{FF2B5EF4-FFF2-40B4-BE49-F238E27FC236}">
                <a16:creationId xmlns:a16="http://schemas.microsoft.com/office/drawing/2014/main" id="{90B3A829-79D9-1F33-DEAC-6E8E1C81E861}"/>
              </a:ext>
            </a:extLst>
          </p:cNvPr>
          <p:cNvGrpSpPr/>
          <p:nvPr/>
        </p:nvGrpSpPr>
        <p:grpSpPr>
          <a:xfrm>
            <a:off x="689701" y="1839405"/>
            <a:ext cx="10648858" cy="4237275"/>
            <a:chOff x="689701" y="1839405"/>
            <a:chExt cx="10648858" cy="4237275"/>
          </a:xfrm>
        </p:grpSpPr>
        <p:grpSp>
          <p:nvGrpSpPr>
            <p:cNvPr id="16" name="Group 15">
              <a:extLst>
                <a:ext uri="{FF2B5EF4-FFF2-40B4-BE49-F238E27FC236}">
                  <a16:creationId xmlns:a16="http://schemas.microsoft.com/office/drawing/2014/main" id="{6D4989EA-99D0-450E-DE1E-53303D1DDB3A}"/>
                </a:ext>
              </a:extLst>
            </p:cNvPr>
            <p:cNvGrpSpPr/>
            <p:nvPr/>
          </p:nvGrpSpPr>
          <p:grpSpPr>
            <a:xfrm>
              <a:off x="4514536" y="1990137"/>
              <a:ext cx="3147688" cy="4086543"/>
              <a:chOff x="3529479" y="2247833"/>
              <a:chExt cx="3214188" cy="4086543"/>
            </a:xfrm>
          </p:grpSpPr>
          <p:sp>
            <p:nvSpPr>
              <p:cNvPr id="4" name="Rectangle 3">
                <a:extLst>
                  <a:ext uri="{FF2B5EF4-FFF2-40B4-BE49-F238E27FC236}">
                    <a16:creationId xmlns:a16="http://schemas.microsoft.com/office/drawing/2014/main" id="{1CCDA4C7-9B75-D34C-DAB6-04158DD74869}"/>
                  </a:ext>
                </a:extLst>
              </p:cNvPr>
              <p:cNvSpPr/>
              <p:nvPr/>
            </p:nvSpPr>
            <p:spPr>
              <a:xfrm>
                <a:off x="3529479" y="2831034"/>
                <a:ext cx="3214188" cy="3503342"/>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a:t>
                </a:r>
                <a:r>
                  <a:rPr lang="en-US" sz="1400">
                    <a:solidFill>
                      <a:schemeClr val="tx1"/>
                    </a:solidFill>
                    <a:latin typeface="Arial" panose="020B0604020202020204" pitchFamily="34" charset="0"/>
                    <a:cs typeface="Arial" panose="020B0604020202020204" pitchFamily="34" charset="0"/>
                  </a:rPr>
                  <a:t>utilize AI tooling to enhance the productivity of Engineering while maintain or improving code quality</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Pilot AI-assisted development on a real repo (new feature, refactor, bug fix) and ship a PR</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Use AI to generate tests, improve coverage, and harden quality gates (linting, review, CI checks)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Measure impact with simple metrics (cycle time, PR throughput, defects, on-call load) and document learnings</a:t>
                </a:r>
              </a:p>
            </p:txBody>
          </p:sp>
          <p:sp>
            <p:nvSpPr>
              <p:cNvPr id="5" name="Rectangle 4">
                <a:extLst>
                  <a:ext uri="{FF2B5EF4-FFF2-40B4-BE49-F238E27FC236}">
                    <a16:creationId xmlns:a16="http://schemas.microsoft.com/office/drawing/2014/main" id="{D2178458-BC02-36E0-1479-87B26910F203}"/>
                  </a:ext>
                </a:extLst>
              </p:cNvPr>
              <p:cNvSpPr/>
              <p:nvPr/>
            </p:nvSpPr>
            <p:spPr>
              <a:xfrm>
                <a:off x="3529479"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Tooling: Engineering</a:t>
                </a:r>
                <a:endParaRPr lang="en-US">
                  <a:solidFill>
                    <a:schemeClr val="bg1">
                      <a:lumMod val="95000"/>
                    </a:schemeClr>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A1E67A05-5DD7-988D-C7AD-32BDB2E377BF}"/>
                </a:ext>
              </a:extLst>
            </p:cNvPr>
            <p:cNvGrpSpPr/>
            <p:nvPr/>
          </p:nvGrpSpPr>
          <p:grpSpPr>
            <a:xfrm>
              <a:off x="838200" y="1990137"/>
              <a:ext cx="3147688" cy="4086543"/>
              <a:chOff x="838201" y="2247833"/>
              <a:chExt cx="3214188" cy="4086543"/>
            </a:xfrm>
          </p:grpSpPr>
          <p:sp>
            <p:nvSpPr>
              <p:cNvPr id="6" name="Rectangle 5">
                <a:extLst>
                  <a:ext uri="{FF2B5EF4-FFF2-40B4-BE49-F238E27FC236}">
                    <a16:creationId xmlns:a16="http://schemas.microsoft.com/office/drawing/2014/main" id="{21AA7616-A275-AC53-496E-98ACD332FF18}"/>
                  </a:ext>
                </a:extLst>
              </p:cNvPr>
              <p:cNvSpPr/>
              <p:nvPr/>
            </p:nvSpPr>
            <p:spPr>
              <a:xfrm>
                <a:off x="838201"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Products</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7395BF18-0FC5-C553-97B3-D3D06932E8AE}"/>
                  </a:ext>
                </a:extLst>
              </p:cNvPr>
              <p:cNvSpPr/>
              <p:nvPr/>
            </p:nvSpPr>
            <p:spPr>
              <a:xfrm>
                <a:off x="838201" y="2831034"/>
                <a:ext cx="3214188" cy="3503342"/>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a:t>
                </a:r>
                <a:r>
                  <a:rPr lang="en-US" sz="1400">
                    <a:solidFill>
                      <a:schemeClr val="tx1"/>
                    </a:solidFill>
                    <a:latin typeface="Arial" panose="020B0604020202020204" pitchFamily="34" charset="0"/>
                    <a:cs typeface="Arial" panose="020B0604020202020204" pitchFamily="34" charset="0"/>
                  </a:rPr>
                  <a:t>create new AI features or capabilities in the company’s customer-facing product or service</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Identify a customer-facing workflow where AI can remove friction or create a net-new capability to sell</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Build a working prototype (or clickable demo) of an AI feature, assistant, or automation</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Define MVP scope, success metrics, and a credible path to production (data, UX, risk, cost)</a:t>
                </a:r>
              </a:p>
            </p:txBody>
          </p:sp>
        </p:grpSp>
        <p:grpSp>
          <p:nvGrpSpPr>
            <p:cNvPr id="11" name="Group 10">
              <a:extLst>
                <a:ext uri="{FF2B5EF4-FFF2-40B4-BE49-F238E27FC236}">
                  <a16:creationId xmlns:a16="http://schemas.microsoft.com/office/drawing/2014/main" id="{14E4A924-D71E-9CC6-768C-7F9B3965987B}"/>
                </a:ext>
              </a:extLst>
            </p:cNvPr>
            <p:cNvGrpSpPr/>
            <p:nvPr/>
          </p:nvGrpSpPr>
          <p:grpSpPr>
            <a:xfrm>
              <a:off x="8190871" y="1990137"/>
              <a:ext cx="3147688" cy="4086543"/>
              <a:chOff x="6237383" y="2247833"/>
              <a:chExt cx="3214188" cy="4086543"/>
            </a:xfrm>
          </p:grpSpPr>
          <p:sp>
            <p:nvSpPr>
              <p:cNvPr id="9" name="Rectangle 8">
                <a:extLst>
                  <a:ext uri="{FF2B5EF4-FFF2-40B4-BE49-F238E27FC236}">
                    <a16:creationId xmlns:a16="http://schemas.microsoft.com/office/drawing/2014/main" id="{6FFE767F-6741-07A3-E184-D5F75715D622}"/>
                  </a:ext>
                </a:extLst>
              </p:cNvPr>
              <p:cNvSpPr/>
              <p:nvPr/>
            </p:nvSpPr>
            <p:spPr>
              <a:xfrm>
                <a:off x="6237383"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Tooling: Go-to-Market</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B6E7E4D2-F2A0-A197-61DA-23C869EC543A}"/>
                  </a:ext>
                </a:extLst>
              </p:cNvPr>
              <p:cNvSpPr/>
              <p:nvPr/>
            </p:nvSpPr>
            <p:spPr>
              <a:xfrm>
                <a:off x="6237383" y="2831034"/>
                <a:ext cx="3214188" cy="3503342"/>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a:t>
                </a:r>
                <a:r>
                  <a:rPr lang="en-US" sz="1400">
                    <a:solidFill>
                      <a:schemeClr val="tx1"/>
                    </a:solidFill>
                    <a:latin typeface="Arial" panose="020B0604020202020204" pitchFamily="34" charset="0"/>
                    <a:cs typeface="Arial" panose="020B0604020202020204" pitchFamily="34" charset="0"/>
                  </a:rPr>
                  <a:t>utilize AI tooling to enhance the productivity of Go-to-Market, without risking reputation or relationships</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Create a safe AI workflow for account research and outreach personalization using approved messaging</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Build a sales enablement copilot for FAQs, objections, and competitive positioning from curated content</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Automate low-risk GTM ops with human-in-the-loop controls</a:t>
                </a:r>
              </a:p>
            </p:txBody>
          </p:sp>
        </p:grpSp>
        <p:sp>
          <p:nvSpPr>
            <p:cNvPr id="18" name="Oval 17">
              <a:extLst>
                <a:ext uri="{FF2B5EF4-FFF2-40B4-BE49-F238E27FC236}">
                  <a16:creationId xmlns:a16="http://schemas.microsoft.com/office/drawing/2014/main" id="{025E52D6-EFBA-06F6-860F-7080068D7275}"/>
                </a:ext>
              </a:extLst>
            </p:cNvPr>
            <p:cNvSpPr>
              <a:spLocks noChangeAspect="1"/>
            </p:cNvSpPr>
            <p:nvPr/>
          </p:nvSpPr>
          <p:spPr>
            <a:xfrm>
              <a:off x="689701"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1</a:t>
              </a:r>
            </a:p>
          </p:txBody>
        </p:sp>
        <p:sp>
          <p:nvSpPr>
            <p:cNvPr id="19" name="Oval 18">
              <a:extLst>
                <a:ext uri="{FF2B5EF4-FFF2-40B4-BE49-F238E27FC236}">
                  <a16:creationId xmlns:a16="http://schemas.microsoft.com/office/drawing/2014/main" id="{39D34E5A-7FB2-2038-4A1C-ED59637AF563}"/>
                </a:ext>
              </a:extLst>
            </p:cNvPr>
            <p:cNvSpPr>
              <a:spLocks noChangeAspect="1"/>
            </p:cNvSpPr>
            <p:nvPr/>
          </p:nvSpPr>
          <p:spPr>
            <a:xfrm>
              <a:off x="4366037"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2</a:t>
              </a:r>
            </a:p>
          </p:txBody>
        </p:sp>
        <p:sp>
          <p:nvSpPr>
            <p:cNvPr id="20" name="Oval 19">
              <a:extLst>
                <a:ext uri="{FF2B5EF4-FFF2-40B4-BE49-F238E27FC236}">
                  <a16:creationId xmlns:a16="http://schemas.microsoft.com/office/drawing/2014/main" id="{4C335A2D-810A-C14A-45E9-27221D72C55C}"/>
                </a:ext>
              </a:extLst>
            </p:cNvPr>
            <p:cNvSpPr>
              <a:spLocks noChangeAspect="1"/>
            </p:cNvSpPr>
            <p:nvPr/>
          </p:nvSpPr>
          <p:spPr>
            <a:xfrm>
              <a:off x="8042372"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3</a:t>
              </a:r>
            </a:p>
          </p:txBody>
        </p:sp>
      </p:grpSp>
    </p:spTree>
    <p:extLst>
      <p:ext uri="{BB962C8B-B14F-4D97-AF65-F5344CB8AC3E}">
        <p14:creationId xmlns:p14="http://schemas.microsoft.com/office/powerpoint/2010/main" val="4047358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1F077-FD5A-9AFE-1488-4E6982E87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F3EC9-6F9A-F436-BFF4-28B6E98DF20B}"/>
              </a:ext>
            </a:extLst>
          </p:cNvPr>
          <p:cNvSpPr>
            <a:spLocks noGrp="1"/>
          </p:cNvSpPr>
          <p:nvPr>
            <p:ph type="title"/>
          </p:nvPr>
        </p:nvSpPr>
        <p:spPr/>
        <p:txBody>
          <a:bodyPr/>
          <a:lstStyle/>
          <a:p>
            <a:r>
              <a:rPr lang="en-US" b="1"/>
              <a:t>AI Hackathon</a:t>
            </a:r>
            <a:br>
              <a:rPr lang="en-US" b="1"/>
            </a:br>
            <a:r>
              <a:rPr lang="en-US"/>
              <a:t>Three Potential Focus Area For AI Hackathon – Possible Tooling</a:t>
            </a:r>
            <a:endParaRPr lang="en-US" b="1"/>
          </a:p>
        </p:txBody>
      </p:sp>
      <p:sp>
        <p:nvSpPr>
          <p:cNvPr id="7" name="Slide Number Placeholder 6">
            <a:extLst>
              <a:ext uri="{FF2B5EF4-FFF2-40B4-BE49-F238E27FC236}">
                <a16:creationId xmlns:a16="http://schemas.microsoft.com/office/drawing/2014/main" id="{2C6343EC-4F21-1992-ECBD-8DA29662F104}"/>
              </a:ext>
            </a:extLst>
          </p:cNvPr>
          <p:cNvSpPr>
            <a:spLocks noGrp="1"/>
          </p:cNvSpPr>
          <p:nvPr>
            <p:ph type="sldNum" sz="quarter" idx="12"/>
          </p:nvPr>
        </p:nvSpPr>
        <p:spPr/>
        <p:txBody>
          <a:bodyPr/>
          <a:lstStyle/>
          <a:p>
            <a:fld id="{1153F0DE-4B83-C442-BFAF-2E07D848C22E}" type="slidenum">
              <a:rPr lang="en-US" smtClean="0"/>
              <a:t>17</a:t>
            </a:fld>
            <a:endParaRPr lang="en-US"/>
          </a:p>
        </p:txBody>
      </p:sp>
      <p:grpSp>
        <p:nvGrpSpPr>
          <p:cNvPr id="16" name="Group 15">
            <a:extLst>
              <a:ext uri="{FF2B5EF4-FFF2-40B4-BE49-F238E27FC236}">
                <a16:creationId xmlns:a16="http://schemas.microsoft.com/office/drawing/2014/main" id="{078C9EB1-65DC-FC37-D634-1C2D7BD26BD2}"/>
              </a:ext>
            </a:extLst>
          </p:cNvPr>
          <p:cNvGrpSpPr/>
          <p:nvPr/>
        </p:nvGrpSpPr>
        <p:grpSpPr>
          <a:xfrm>
            <a:off x="4514536" y="1990137"/>
            <a:ext cx="3147688" cy="3708587"/>
            <a:chOff x="3529479" y="2247833"/>
            <a:chExt cx="3214188" cy="3708587"/>
          </a:xfrm>
        </p:grpSpPr>
        <p:sp>
          <p:nvSpPr>
            <p:cNvPr id="4" name="Rectangle 3">
              <a:extLst>
                <a:ext uri="{FF2B5EF4-FFF2-40B4-BE49-F238E27FC236}">
                  <a16:creationId xmlns:a16="http://schemas.microsoft.com/office/drawing/2014/main" id="{C7C6549F-93E0-2747-C95F-0FB2F1580DBA}"/>
                </a:ext>
              </a:extLst>
            </p:cNvPr>
            <p:cNvSpPr/>
            <p:nvPr/>
          </p:nvSpPr>
          <p:spPr>
            <a:xfrm>
              <a:off x="3529479" y="2831034"/>
              <a:ext cx="3214188"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a:solidFill>
                    <a:schemeClr val="tx1"/>
                  </a:solidFill>
                  <a:latin typeface="Arial" panose="020B0604020202020204" pitchFamily="34" charset="0"/>
                  <a:cs typeface="Arial" panose="020B0604020202020204" pitchFamily="34" charset="0"/>
                </a:rPr>
                <a:t>Most AI engineering tools allow free usage for individual users with rapid self-serve capabilities:</a:t>
              </a:r>
            </a:p>
            <a:p>
              <a:endParaRPr lang="en-US" sz="1400" i="1">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Claude Code</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Cursor</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GitHub Copilot</a:t>
              </a:r>
            </a:p>
            <a:p>
              <a:pPr marL="285750" indent="-285750">
                <a:buFont typeface="Arial" panose="020B0604020202020204" pitchFamily="34" charset="0"/>
                <a:buChar char="•"/>
              </a:pPr>
              <a:r>
                <a:rPr lang="en-US" sz="1400" err="1">
                  <a:solidFill>
                    <a:schemeClr val="tx1"/>
                  </a:solidFill>
                  <a:latin typeface="Arial" panose="020B0604020202020204" pitchFamily="34" charset="0"/>
                  <a:cs typeface="Arial" panose="020B0604020202020204" pitchFamily="34" charset="0"/>
                </a:rPr>
                <a:t>Replit</a:t>
              </a:r>
              <a:endParaRPr lang="en-US" sz="140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Lovable</a:t>
              </a:r>
            </a:p>
            <a:p>
              <a:pPr marL="285750" indent="-285750">
                <a:buFont typeface="Arial" panose="020B0604020202020204" pitchFamily="34" charset="0"/>
                <a:buChar char="•"/>
              </a:pPr>
              <a:endParaRPr lang="en-US" sz="1400">
                <a:solidFill>
                  <a:schemeClr val="tx1"/>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A2576F72-EB52-5BAF-D448-E9976A104FB8}"/>
                </a:ext>
              </a:extLst>
            </p:cNvPr>
            <p:cNvSpPr/>
            <p:nvPr/>
          </p:nvSpPr>
          <p:spPr>
            <a:xfrm>
              <a:off x="3529479"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Tooling: Engineering</a:t>
              </a:r>
              <a:endParaRPr lang="en-US">
                <a:solidFill>
                  <a:schemeClr val="bg1">
                    <a:lumMod val="95000"/>
                  </a:schemeClr>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C5E76CB6-E52F-C1EC-F3FF-C91247FBF793}"/>
              </a:ext>
            </a:extLst>
          </p:cNvPr>
          <p:cNvGrpSpPr/>
          <p:nvPr/>
        </p:nvGrpSpPr>
        <p:grpSpPr>
          <a:xfrm>
            <a:off x="838200" y="1990137"/>
            <a:ext cx="3147688" cy="3708587"/>
            <a:chOff x="838201" y="2247833"/>
            <a:chExt cx="3214188" cy="3708587"/>
          </a:xfrm>
        </p:grpSpPr>
        <p:sp>
          <p:nvSpPr>
            <p:cNvPr id="6" name="Rectangle 5">
              <a:extLst>
                <a:ext uri="{FF2B5EF4-FFF2-40B4-BE49-F238E27FC236}">
                  <a16:creationId xmlns:a16="http://schemas.microsoft.com/office/drawing/2014/main" id="{8C5B78E0-D2FC-DF38-A46D-B962519972A7}"/>
                </a:ext>
              </a:extLst>
            </p:cNvPr>
            <p:cNvSpPr/>
            <p:nvPr/>
          </p:nvSpPr>
          <p:spPr>
            <a:xfrm>
              <a:off x="838201"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Products</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532B551-496B-07D2-376F-3A00461F465A}"/>
                </a:ext>
              </a:extLst>
            </p:cNvPr>
            <p:cNvSpPr/>
            <p:nvPr/>
          </p:nvSpPr>
          <p:spPr>
            <a:xfrm>
              <a:off x="838201" y="2831034"/>
              <a:ext cx="3214188"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a:solidFill>
                    <a:schemeClr val="tx1"/>
                  </a:solidFill>
                  <a:latin typeface="Arial" panose="020B0604020202020204" pitchFamily="34" charset="0"/>
                  <a:cs typeface="Arial" panose="020B0604020202020204" pitchFamily="34" charset="0"/>
                </a:rPr>
                <a:t>While not the primary focus, tooling can help to accelerate achievements attained during the hackathon:</a:t>
              </a:r>
            </a:p>
            <a:p>
              <a:endParaRPr lang="en-US" sz="1400" i="1">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Figma Make</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Base44</a:t>
              </a:r>
            </a:p>
            <a:p>
              <a:pPr marL="285750" indent="-285750">
                <a:buFont typeface="Arial" panose="020B0604020202020204" pitchFamily="34" charset="0"/>
                <a:buChar char="•"/>
              </a:pPr>
              <a:r>
                <a:rPr lang="en-US" sz="1400" err="1">
                  <a:solidFill>
                    <a:schemeClr val="tx1"/>
                  </a:solidFill>
                  <a:latin typeface="Arial" panose="020B0604020202020204" pitchFamily="34" charset="0"/>
                  <a:cs typeface="Arial" panose="020B0604020202020204" pitchFamily="34" charset="0"/>
                </a:rPr>
                <a:t>Replit</a:t>
              </a:r>
              <a:endParaRPr lang="en-US" sz="140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Lovable</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Canva</a:t>
              </a:r>
            </a:p>
            <a:p>
              <a:endParaRPr lang="en-US" sz="1400">
                <a:solidFill>
                  <a:schemeClr val="tx1"/>
                </a:solidFill>
                <a:latin typeface="Arial" panose="020B0604020202020204" pitchFamily="34" charset="0"/>
                <a:cs typeface="Arial" panose="020B0604020202020204" pitchFamily="34" charset="0"/>
              </a:endParaRPr>
            </a:p>
            <a:p>
              <a:pPr algn="ctr"/>
              <a:r>
                <a:rPr lang="en-US" sz="1400" b="1">
                  <a:solidFill>
                    <a:schemeClr val="accent2"/>
                  </a:solidFill>
                  <a:latin typeface="Arial" panose="020B0604020202020204" pitchFamily="34" charset="0"/>
                  <a:cs typeface="Arial" panose="020B0604020202020204" pitchFamily="34" charset="0"/>
                </a:rPr>
                <a:t>Recommended Approach</a:t>
              </a:r>
            </a:p>
            <a:p>
              <a:pPr marL="285750" indent="-285750">
                <a:buFont typeface="Arial" panose="020B0604020202020204" pitchFamily="34" charset="0"/>
                <a:buChar char="•"/>
              </a:pPr>
              <a:endParaRPr lang="en-US" sz="1400">
                <a:solidFill>
                  <a:schemeClr val="tx1"/>
                </a:solidFill>
                <a:latin typeface="Arial" panose="020B0604020202020204" pitchFamily="34" charset="0"/>
                <a:cs typeface="Arial" panose="020B0604020202020204" pitchFamily="34" charset="0"/>
              </a:endParaRPr>
            </a:p>
          </p:txBody>
        </p:sp>
      </p:grpSp>
      <p:grpSp>
        <p:nvGrpSpPr>
          <p:cNvPr id="11" name="Group 10">
            <a:extLst>
              <a:ext uri="{FF2B5EF4-FFF2-40B4-BE49-F238E27FC236}">
                <a16:creationId xmlns:a16="http://schemas.microsoft.com/office/drawing/2014/main" id="{C166E370-D79D-D884-C984-18FA50316303}"/>
              </a:ext>
            </a:extLst>
          </p:cNvPr>
          <p:cNvGrpSpPr/>
          <p:nvPr/>
        </p:nvGrpSpPr>
        <p:grpSpPr>
          <a:xfrm>
            <a:off x="8190871" y="1990137"/>
            <a:ext cx="3147688" cy="3708587"/>
            <a:chOff x="6237383" y="2247833"/>
            <a:chExt cx="3214188" cy="3708587"/>
          </a:xfrm>
        </p:grpSpPr>
        <p:sp>
          <p:nvSpPr>
            <p:cNvPr id="9" name="Rectangle 8">
              <a:extLst>
                <a:ext uri="{FF2B5EF4-FFF2-40B4-BE49-F238E27FC236}">
                  <a16:creationId xmlns:a16="http://schemas.microsoft.com/office/drawing/2014/main" id="{8863060F-C203-3F89-C375-75F4259CA961}"/>
                </a:ext>
              </a:extLst>
            </p:cNvPr>
            <p:cNvSpPr/>
            <p:nvPr/>
          </p:nvSpPr>
          <p:spPr>
            <a:xfrm>
              <a:off x="6237383"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AI Tooling: Go-to-Market</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157D21A6-CD4F-56A4-FB9D-989E6FC59C46}"/>
                </a:ext>
              </a:extLst>
            </p:cNvPr>
            <p:cNvSpPr/>
            <p:nvPr/>
          </p:nvSpPr>
          <p:spPr>
            <a:xfrm>
              <a:off x="6237383" y="2831034"/>
              <a:ext cx="3214188"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0" rtlCol="0" anchor="t"/>
            <a:lstStyle/>
            <a:p>
              <a:r>
                <a:rPr lang="en-US" sz="1400">
                  <a:solidFill>
                    <a:schemeClr val="tx1"/>
                  </a:solidFill>
                  <a:latin typeface="Arial"/>
                  <a:cs typeface="Arial"/>
                </a:rPr>
                <a:t>To enable usage during the hackathon, tools will need to offer free trials with self-serve usage:</a:t>
              </a:r>
            </a:p>
            <a:p>
              <a:endParaRPr lang="en-US" sz="1400" i="1">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a:cs typeface="Arial"/>
                </a:rPr>
                <a:t>Clay</a:t>
              </a:r>
            </a:p>
            <a:p>
              <a:pPr marL="285750" indent="-285750">
                <a:buFont typeface="Arial" panose="020B0604020202020204" pitchFamily="34" charset="0"/>
                <a:buChar char="•"/>
              </a:pPr>
              <a:r>
                <a:rPr lang="en-US" sz="1400">
                  <a:solidFill>
                    <a:schemeClr val="tx1"/>
                  </a:solidFill>
                  <a:latin typeface="Arial"/>
                  <a:cs typeface="Arial"/>
                </a:rPr>
                <a:t>Apollo.io</a:t>
              </a:r>
            </a:p>
            <a:p>
              <a:pPr marL="285750" indent="-285750">
                <a:buFont typeface="Arial" panose="020B0604020202020204" pitchFamily="34" charset="0"/>
                <a:buChar char="•"/>
              </a:pPr>
              <a:r>
                <a:rPr lang="en-US" sz="1400">
                  <a:solidFill>
                    <a:schemeClr val="tx1"/>
                  </a:solidFill>
                  <a:latin typeface="Arial"/>
                  <a:cs typeface="Arial"/>
                </a:rPr>
                <a:t>Granola</a:t>
              </a:r>
            </a:p>
            <a:p>
              <a:pPr marL="285750" indent="-285750">
                <a:buFont typeface="Arial" panose="020B0604020202020204" pitchFamily="34" charset="0"/>
                <a:buChar char="•"/>
              </a:pPr>
              <a:r>
                <a:rPr lang="en-US" sz="1400">
                  <a:solidFill>
                    <a:schemeClr val="tx1"/>
                  </a:solidFill>
                  <a:latin typeface="Arial"/>
                  <a:cs typeface="Arial"/>
                </a:rPr>
                <a:t>Gong.io</a:t>
              </a:r>
            </a:p>
            <a:p>
              <a:pPr marL="285750" indent="-285750">
                <a:buFont typeface="Arial" panose="020B0604020202020204" pitchFamily="34" charset="0"/>
                <a:buChar char="•"/>
              </a:pPr>
              <a:r>
                <a:rPr lang="en-US" sz="1400" err="1">
                  <a:solidFill>
                    <a:schemeClr val="tx1"/>
                  </a:solidFill>
                  <a:latin typeface="Arial"/>
                  <a:cs typeface="Arial"/>
                </a:rPr>
                <a:t>Lemlist</a:t>
              </a:r>
              <a:endParaRPr lang="en-US" sz="1400" err="1">
                <a:solidFill>
                  <a:schemeClr val="tx1"/>
                </a:solidFill>
                <a:latin typeface="Arial" panose="020B0604020202020204" pitchFamily="34" charset="0"/>
                <a:cs typeface="Arial" panose="020B0604020202020204" pitchFamily="34" charset="0"/>
              </a:endParaRPr>
            </a:p>
          </p:txBody>
        </p:sp>
      </p:grpSp>
      <p:sp>
        <p:nvSpPr>
          <p:cNvPr id="18" name="Oval 17">
            <a:extLst>
              <a:ext uri="{FF2B5EF4-FFF2-40B4-BE49-F238E27FC236}">
                <a16:creationId xmlns:a16="http://schemas.microsoft.com/office/drawing/2014/main" id="{8011FCA0-FD8F-CE2C-7902-2DC504DB88B5}"/>
              </a:ext>
            </a:extLst>
          </p:cNvPr>
          <p:cNvSpPr>
            <a:spLocks noChangeAspect="1"/>
          </p:cNvSpPr>
          <p:nvPr/>
        </p:nvSpPr>
        <p:spPr>
          <a:xfrm>
            <a:off x="689701"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1</a:t>
            </a:r>
          </a:p>
        </p:txBody>
      </p:sp>
      <p:sp>
        <p:nvSpPr>
          <p:cNvPr id="19" name="Oval 18">
            <a:extLst>
              <a:ext uri="{FF2B5EF4-FFF2-40B4-BE49-F238E27FC236}">
                <a16:creationId xmlns:a16="http://schemas.microsoft.com/office/drawing/2014/main" id="{FD0AEAA9-43D4-4D44-3E42-C8B9A6F8CDCD}"/>
              </a:ext>
            </a:extLst>
          </p:cNvPr>
          <p:cNvSpPr>
            <a:spLocks noChangeAspect="1"/>
          </p:cNvSpPr>
          <p:nvPr/>
        </p:nvSpPr>
        <p:spPr>
          <a:xfrm>
            <a:off x="4366037"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2</a:t>
            </a:r>
          </a:p>
        </p:txBody>
      </p:sp>
      <p:sp>
        <p:nvSpPr>
          <p:cNvPr id="20" name="Oval 19">
            <a:extLst>
              <a:ext uri="{FF2B5EF4-FFF2-40B4-BE49-F238E27FC236}">
                <a16:creationId xmlns:a16="http://schemas.microsoft.com/office/drawing/2014/main" id="{CCAB18EF-0D45-AB2F-33F3-A070D3652A0F}"/>
              </a:ext>
            </a:extLst>
          </p:cNvPr>
          <p:cNvSpPr>
            <a:spLocks noChangeAspect="1"/>
          </p:cNvSpPr>
          <p:nvPr/>
        </p:nvSpPr>
        <p:spPr>
          <a:xfrm>
            <a:off x="8042372"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3</a:t>
            </a:r>
          </a:p>
        </p:txBody>
      </p:sp>
    </p:spTree>
    <p:extLst>
      <p:ext uri="{BB962C8B-B14F-4D97-AF65-F5344CB8AC3E}">
        <p14:creationId xmlns:p14="http://schemas.microsoft.com/office/powerpoint/2010/main" val="245613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926EC-AD63-8567-AB5B-DC8E8F022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CBF91-6936-1051-D42B-E72B53DB0059}"/>
              </a:ext>
            </a:extLst>
          </p:cNvPr>
          <p:cNvSpPr>
            <a:spLocks noGrp="1"/>
          </p:cNvSpPr>
          <p:nvPr>
            <p:ph type="title"/>
          </p:nvPr>
        </p:nvSpPr>
        <p:spPr/>
        <p:txBody>
          <a:bodyPr/>
          <a:lstStyle/>
          <a:p>
            <a:r>
              <a:rPr lang="en-US" b="1"/>
              <a:t>AI Hackathon</a:t>
            </a:r>
            <a:br>
              <a:rPr lang="en-US" b="1"/>
            </a:br>
            <a:r>
              <a:rPr lang="en-US"/>
              <a:t>Two Potential Hackathon Event Types </a:t>
            </a:r>
            <a:endParaRPr lang="en-US" b="1"/>
          </a:p>
        </p:txBody>
      </p:sp>
      <p:sp>
        <p:nvSpPr>
          <p:cNvPr id="7" name="Slide Number Placeholder 6">
            <a:extLst>
              <a:ext uri="{FF2B5EF4-FFF2-40B4-BE49-F238E27FC236}">
                <a16:creationId xmlns:a16="http://schemas.microsoft.com/office/drawing/2014/main" id="{88BE26D7-E7DF-8B31-5382-A14D497834BA}"/>
              </a:ext>
            </a:extLst>
          </p:cNvPr>
          <p:cNvSpPr>
            <a:spLocks noGrp="1"/>
          </p:cNvSpPr>
          <p:nvPr>
            <p:ph type="sldNum" sz="quarter" idx="12"/>
          </p:nvPr>
        </p:nvSpPr>
        <p:spPr/>
        <p:txBody>
          <a:bodyPr/>
          <a:lstStyle/>
          <a:p>
            <a:fld id="{1153F0DE-4B83-C442-BFAF-2E07D848C22E}" type="slidenum">
              <a:rPr lang="en-US" smtClean="0"/>
              <a:t>18</a:t>
            </a:fld>
            <a:endParaRPr lang="en-US"/>
          </a:p>
        </p:txBody>
      </p:sp>
      <p:grpSp>
        <p:nvGrpSpPr>
          <p:cNvPr id="3" name="Group 2">
            <a:extLst>
              <a:ext uri="{FF2B5EF4-FFF2-40B4-BE49-F238E27FC236}">
                <a16:creationId xmlns:a16="http://schemas.microsoft.com/office/drawing/2014/main" id="{77D600FE-3754-DD91-9A5C-C48848D0C9F3}"/>
              </a:ext>
            </a:extLst>
          </p:cNvPr>
          <p:cNvGrpSpPr/>
          <p:nvPr/>
        </p:nvGrpSpPr>
        <p:grpSpPr>
          <a:xfrm>
            <a:off x="838199" y="1990137"/>
            <a:ext cx="10502347" cy="3047376"/>
            <a:chOff x="838199" y="1990137"/>
            <a:chExt cx="10502347" cy="3047376"/>
          </a:xfrm>
        </p:grpSpPr>
        <p:grpSp>
          <p:nvGrpSpPr>
            <p:cNvPr id="16" name="Group 15">
              <a:extLst>
                <a:ext uri="{FF2B5EF4-FFF2-40B4-BE49-F238E27FC236}">
                  <a16:creationId xmlns:a16="http://schemas.microsoft.com/office/drawing/2014/main" id="{D35E68AC-58EB-96B0-B00B-E778FD561144}"/>
                </a:ext>
              </a:extLst>
            </p:cNvPr>
            <p:cNvGrpSpPr/>
            <p:nvPr/>
          </p:nvGrpSpPr>
          <p:grpSpPr>
            <a:xfrm>
              <a:off x="6423989" y="1990137"/>
              <a:ext cx="4916557" cy="3047376"/>
              <a:chOff x="3529479" y="2247833"/>
              <a:chExt cx="3214188" cy="3047376"/>
            </a:xfrm>
          </p:grpSpPr>
          <p:sp>
            <p:nvSpPr>
              <p:cNvPr id="4" name="Rectangle 3">
                <a:extLst>
                  <a:ext uri="{FF2B5EF4-FFF2-40B4-BE49-F238E27FC236}">
                    <a16:creationId xmlns:a16="http://schemas.microsoft.com/office/drawing/2014/main" id="{1B574A70-6965-40C2-31E9-3F47093DE5DF}"/>
                  </a:ext>
                </a:extLst>
              </p:cNvPr>
              <p:cNvSpPr/>
              <p:nvPr/>
            </p:nvSpPr>
            <p:spPr>
              <a:xfrm>
                <a:off x="3529479" y="2831034"/>
                <a:ext cx="3214188" cy="2464175"/>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A 24-hour, distributed event optimized for speed, cost, and broad participation across the portfolio.</a:t>
                </a:r>
              </a:p>
              <a:p>
                <a:pPr marL="285750" indent="-285750">
                  <a:buFont typeface="Arial" panose="020B0604020202020204" pitchFamily="34" charset="0"/>
                  <a:buChar char="•"/>
                </a:pPr>
                <a:endParaRPr lang="en-US" sz="140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Lowest cost and fastest to execute, no travel required</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Easy to include more companies, judges, and external partners as needed</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Works well with lightweight tooling (video, chat, shared docs) and scheduled check-ins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Requires tighter facilitation: time zones, engagement fatigue, and clear touchpoints to maintain momentum</a:t>
                </a:r>
              </a:p>
            </p:txBody>
          </p:sp>
          <p:sp>
            <p:nvSpPr>
              <p:cNvPr id="5" name="Rectangle 4">
                <a:extLst>
                  <a:ext uri="{FF2B5EF4-FFF2-40B4-BE49-F238E27FC236}">
                    <a16:creationId xmlns:a16="http://schemas.microsoft.com/office/drawing/2014/main" id="{0AB6CBDB-82DB-F85E-E6C1-5CBB979DB7E3}"/>
                  </a:ext>
                </a:extLst>
              </p:cNvPr>
              <p:cNvSpPr/>
              <p:nvPr/>
            </p:nvSpPr>
            <p:spPr>
              <a:xfrm>
                <a:off x="3529479"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Fully Remote Hackathon</a:t>
                </a:r>
                <a:endParaRPr lang="en-US">
                  <a:solidFill>
                    <a:schemeClr val="bg1">
                      <a:lumMod val="95000"/>
                    </a:schemeClr>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004B471E-59F9-E330-2E69-42B6E06AA08E}"/>
                </a:ext>
              </a:extLst>
            </p:cNvPr>
            <p:cNvGrpSpPr/>
            <p:nvPr/>
          </p:nvGrpSpPr>
          <p:grpSpPr>
            <a:xfrm>
              <a:off x="838199" y="1990137"/>
              <a:ext cx="4916557" cy="3047376"/>
              <a:chOff x="838201" y="2247833"/>
              <a:chExt cx="3214188" cy="3047376"/>
            </a:xfrm>
          </p:grpSpPr>
          <p:sp>
            <p:nvSpPr>
              <p:cNvPr id="6" name="Rectangle 5">
                <a:extLst>
                  <a:ext uri="{FF2B5EF4-FFF2-40B4-BE49-F238E27FC236}">
                    <a16:creationId xmlns:a16="http://schemas.microsoft.com/office/drawing/2014/main" id="{2D25734F-71A6-6263-AAED-2F9E13B368DD}"/>
                  </a:ext>
                </a:extLst>
              </p:cNvPr>
              <p:cNvSpPr/>
              <p:nvPr/>
            </p:nvSpPr>
            <p:spPr>
              <a:xfrm>
                <a:off x="838201" y="2247833"/>
                <a:ext cx="3214188"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In-Person Hackathon</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F98C106B-67F4-385D-E948-DE52DA6853C3}"/>
                  </a:ext>
                </a:extLst>
              </p:cNvPr>
              <p:cNvSpPr/>
              <p:nvPr/>
            </p:nvSpPr>
            <p:spPr>
              <a:xfrm>
                <a:off x="838201" y="2831034"/>
                <a:ext cx="3214188" cy="2464175"/>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A 24-hour, co-located event designed to maximize energy, collaboration, and cross-portfolio relationships.</a:t>
                </a:r>
              </a:p>
              <a:p>
                <a:endParaRPr lang="en-US" sz="1400" b="1">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Strongest networking and shared learning across companies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Faster iteration with on-site mentors and real-time team support</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Natural structure for kickoff, meals, demos, and judging</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Higher cost and coordination: travel, venue, catering, scheduling constraints</a:t>
                </a:r>
              </a:p>
            </p:txBody>
          </p:sp>
        </p:grpSp>
      </p:grpSp>
      <p:sp>
        <p:nvSpPr>
          <p:cNvPr id="18" name="Oval 17">
            <a:extLst>
              <a:ext uri="{FF2B5EF4-FFF2-40B4-BE49-F238E27FC236}">
                <a16:creationId xmlns:a16="http://schemas.microsoft.com/office/drawing/2014/main" id="{CC02E528-8667-225C-815C-42C3C92E8B2A}"/>
              </a:ext>
            </a:extLst>
          </p:cNvPr>
          <p:cNvSpPr>
            <a:spLocks noChangeAspect="1"/>
          </p:cNvSpPr>
          <p:nvPr/>
        </p:nvSpPr>
        <p:spPr>
          <a:xfrm>
            <a:off x="689701"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1</a:t>
            </a:r>
          </a:p>
        </p:txBody>
      </p:sp>
      <p:sp>
        <p:nvSpPr>
          <p:cNvPr id="19" name="Oval 18">
            <a:extLst>
              <a:ext uri="{FF2B5EF4-FFF2-40B4-BE49-F238E27FC236}">
                <a16:creationId xmlns:a16="http://schemas.microsoft.com/office/drawing/2014/main" id="{366855FD-4080-6B37-C0D0-B97EB0FB9B73}"/>
              </a:ext>
            </a:extLst>
          </p:cNvPr>
          <p:cNvSpPr>
            <a:spLocks noChangeAspect="1"/>
          </p:cNvSpPr>
          <p:nvPr/>
        </p:nvSpPr>
        <p:spPr>
          <a:xfrm>
            <a:off x="6275490" y="1839405"/>
            <a:ext cx="296997" cy="292608"/>
          </a:xfrm>
          <a:prstGeom prst="ellipse">
            <a:avLst/>
          </a:prstGeom>
          <a:solidFill>
            <a:schemeClr val="accent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t>2</a:t>
            </a:r>
          </a:p>
        </p:txBody>
      </p:sp>
      <p:sp>
        <p:nvSpPr>
          <p:cNvPr id="12" name="Content Placeholder 2">
            <a:extLst>
              <a:ext uri="{FF2B5EF4-FFF2-40B4-BE49-F238E27FC236}">
                <a16:creationId xmlns:a16="http://schemas.microsoft.com/office/drawing/2014/main" id="{3E97BC02-5750-99C8-40E3-8F722476EED1}"/>
              </a:ext>
            </a:extLst>
          </p:cNvPr>
          <p:cNvSpPr txBox="1">
            <a:spLocks/>
          </p:cNvSpPr>
          <p:nvPr/>
        </p:nvSpPr>
        <p:spPr>
          <a:xfrm>
            <a:off x="841572" y="5714578"/>
            <a:ext cx="10515600" cy="497386"/>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b="0"/>
              <a:t>While hackathons are typically 24-hour sprints, they can also be 48-hour or even 72-hour events. This allows for deeper work and better balance with ongoing “day job” activities, if needed. </a:t>
            </a:r>
          </a:p>
        </p:txBody>
      </p:sp>
      <p:sp>
        <p:nvSpPr>
          <p:cNvPr id="9" name="Content Placeholder 2">
            <a:extLst>
              <a:ext uri="{FF2B5EF4-FFF2-40B4-BE49-F238E27FC236}">
                <a16:creationId xmlns:a16="http://schemas.microsoft.com/office/drawing/2014/main" id="{5A163036-7F63-3D0E-DB2B-84268B6323E5}"/>
              </a:ext>
            </a:extLst>
          </p:cNvPr>
          <p:cNvSpPr txBox="1">
            <a:spLocks/>
          </p:cNvSpPr>
          <p:nvPr/>
        </p:nvSpPr>
        <p:spPr>
          <a:xfrm>
            <a:off x="838200" y="5143886"/>
            <a:ext cx="4916556" cy="30883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600" i="1">
                <a:solidFill>
                  <a:schemeClr val="accent2"/>
                </a:solidFill>
              </a:rPr>
              <a:t>Recommended approach for maximum impact</a:t>
            </a:r>
          </a:p>
        </p:txBody>
      </p:sp>
    </p:spTree>
    <p:extLst>
      <p:ext uri="{BB962C8B-B14F-4D97-AF65-F5344CB8AC3E}">
        <p14:creationId xmlns:p14="http://schemas.microsoft.com/office/powerpoint/2010/main" val="2133102757"/>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B24FE-A572-7AB9-8CBE-78E83035144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B8231B2-54D5-8079-07A6-39DE5B89370D}"/>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686054-45D8-5607-A760-1AD7C7EDD6A5}"/>
              </a:ext>
            </a:extLst>
          </p:cNvPr>
          <p:cNvSpPr>
            <a:spLocks noGrp="1"/>
          </p:cNvSpPr>
          <p:nvPr>
            <p:ph type="ctrTitle"/>
          </p:nvPr>
        </p:nvSpPr>
        <p:spPr>
          <a:xfrm>
            <a:off x="846992" y="1837592"/>
            <a:ext cx="4447819" cy="2387600"/>
          </a:xfrm>
        </p:spPr>
        <p:txBody>
          <a:bodyPr anchor="t"/>
          <a:lstStyle/>
          <a:p>
            <a:pPr algn="l"/>
            <a:r>
              <a:rPr lang="en-US" sz="3600" b="1">
                <a:solidFill>
                  <a:schemeClr val="bg1"/>
                </a:solidFill>
              </a:rPr>
              <a:t>Logistics and Approach</a:t>
            </a:r>
            <a:endParaRPr lang="en-US" sz="3600">
              <a:solidFill>
                <a:schemeClr val="bg1"/>
              </a:solidFill>
            </a:endParaRPr>
          </a:p>
        </p:txBody>
      </p:sp>
      <p:sp>
        <p:nvSpPr>
          <p:cNvPr id="4" name="Slide Number Placeholder 3">
            <a:extLst>
              <a:ext uri="{FF2B5EF4-FFF2-40B4-BE49-F238E27FC236}">
                <a16:creationId xmlns:a16="http://schemas.microsoft.com/office/drawing/2014/main" id="{91CE9420-D19D-7C3C-F771-60BD302F6940}"/>
              </a:ext>
            </a:extLst>
          </p:cNvPr>
          <p:cNvSpPr>
            <a:spLocks noGrp="1"/>
          </p:cNvSpPr>
          <p:nvPr>
            <p:ph type="sldNum" sz="quarter" idx="12"/>
          </p:nvPr>
        </p:nvSpPr>
        <p:spPr/>
        <p:txBody>
          <a:bodyPr/>
          <a:lstStyle/>
          <a:p>
            <a:fld id="{1153F0DE-4B83-C442-BFAF-2E07D848C22E}" type="slidenum">
              <a:rPr lang="en-US" smtClean="0"/>
              <a:t>19</a:t>
            </a:fld>
            <a:endParaRPr lang="en-US"/>
          </a:p>
        </p:txBody>
      </p:sp>
    </p:spTree>
    <p:extLst>
      <p:ext uri="{BB962C8B-B14F-4D97-AF65-F5344CB8AC3E}">
        <p14:creationId xmlns:p14="http://schemas.microsoft.com/office/powerpoint/2010/main" val="3973872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2A55C-2DEF-9AF8-F978-114D7F32E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EA4CB-A2F7-0B00-572B-CA95B83CAB11}"/>
              </a:ext>
            </a:extLst>
          </p:cNvPr>
          <p:cNvSpPr>
            <a:spLocks noGrp="1"/>
          </p:cNvSpPr>
          <p:nvPr>
            <p:ph type="title"/>
          </p:nvPr>
        </p:nvSpPr>
        <p:spPr/>
        <p:txBody>
          <a:bodyPr/>
          <a:lstStyle/>
          <a:p>
            <a:r>
              <a:rPr lang="en-US" b="1"/>
              <a:t>Hackathon Logistics</a:t>
            </a:r>
            <a:br>
              <a:rPr lang="en-US" b="1"/>
            </a:br>
            <a:r>
              <a:rPr lang="en-US"/>
              <a:t>Proposed Approach</a:t>
            </a:r>
            <a:endParaRPr lang="en-US" b="1"/>
          </a:p>
        </p:txBody>
      </p:sp>
      <p:sp>
        <p:nvSpPr>
          <p:cNvPr id="7" name="Slide Number Placeholder 6">
            <a:extLst>
              <a:ext uri="{FF2B5EF4-FFF2-40B4-BE49-F238E27FC236}">
                <a16:creationId xmlns:a16="http://schemas.microsoft.com/office/drawing/2014/main" id="{4F11A2FC-A204-09CC-641D-23081A841FE2}"/>
              </a:ext>
            </a:extLst>
          </p:cNvPr>
          <p:cNvSpPr>
            <a:spLocks noGrp="1"/>
          </p:cNvSpPr>
          <p:nvPr>
            <p:ph type="sldNum" sz="quarter" idx="12"/>
          </p:nvPr>
        </p:nvSpPr>
        <p:spPr/>
        <p:txBody>
          <a:bodyPr/>
          <a:lstStyle/>
          <a:p>
            <a:fld id="{1153F0DE-4B83-C442-BFAF-2E07D848C22E}" type="slidenum">
              <a:rPr lang="en-US" smtClean="0"/>
              <a:t>23</a:t>
            </a:fld>
            <a:endParaRPr lang="en-US"/>
          </a:p>
        </p:txBody>
      </p:sp>
      <p:sp>
        <p:nvSpPr>
          <p:cNvPr id="3" name="Content Placeholder 2">
            <a:extLst>
              <a:ext uri="{FF2B5EF4-FFF2-40B4-BE49-F238E27FC236}">
                <a16:creationId xmlns:a16="http://schemas.microsoft.com/office/drawing/2014/main" id="{BEE36F64-9996-5692-A76F-D4FF1A1688C4}"/>
              </a:ext>
            </a:extLst>
          </p:cNvPr>
          <p:cNvSpPr txBox="1">
            <a:spLocks/>
          </p:cNvSpPr>
          <p:nvPr/>
        </p:nvSpPr>
        <p:spPr>
          <a:xfrm>
            <a:off x="838200" y="1828800"/>
            <a:ext cx="10633363" cy="57806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Four high-level steps are generally needed:</a:t>
            </a:r>
          </a:p>
        </p:txBody>
      </p:sp>
      <p:grpSp>
        <p:nvGrpSpPr>
          <p:cNvPr id="22" name="Group 21">
            <a:extLst>
              <a:ext uri="{FF2B5EF4-FFF2-40B4-BE49-F238E27FC236}">
                <a16:creationId xmlns:a16="http://schemas.microsoft.com/office/drawing/2014/main" id="{AA91BEDF-D591-2B9C-B3EB-DB23FE2579EC}"/>
              </a:ext>
            </a:extLst>
          </p:cNvPr>
          <p:cNvGrpSpPr/>
          <p:nvPr/>
        </p:nvGrpSpPr>
        <p:grpSpPr>
          <a:xfrm>
            <a:off x="838201" y="2247833"/>
            <a:ext cx="10636858" cy="3708587"/>
            <a:chOff x="838201" y="2247833"/>
            <a:chExt cx="10636858" cy="3708587"/>
          </a:xfrm>
        </p:grpSpPr>
        <p:grpSp>
          <p:nvGrpSpPr>
            <p:cNvPr id="17" name="Group 16">
              <a:extLst>
                <a:ext uri="{FF2B5EF4-FFF2-40B4-BE49-F238E27FC236}">
                  <a16:creationId xmlns:a16="http://schemas.microsoft.com/office/drawing/2014/main" id="{F6F82444-0D91-30F0-D717-5658CCC0F28E}"/>
                </a:ext>
              </a:extLst>
            </p:cNvPr>
            <p:cNvGrpSpPr/>
            <p:nvPr/>
          </p:nvGrpSpPr>
          <p:grpSpPr>
            <a:xfrm>
              <a:off x="838201" y="2247833"/>
              <a:ext cx="10636858" cy="3708587"/>
              <a:chOff x="838201" y="2247833"/>
              <a:chExt cx="10636858" cy="3708587"/>
            </a:xfrm>
          </p:grpSpPr>
          <p:grpSp>
            <p:nvGrpSpPr>
              <p:cNvPr id="4" name="Group 3">
                <a:extLst>
                  <a:ext uri="{FF2B5EF4-FFF2-40B4-BE49-F238E27FC236}">
                    <a16:creationId xmlns:a16="http://schemas.microsoft.com/office/drawing/2014/main" id="{16483CDB-8C4D-A5A7-639D-5B7F490BEBB1}"/>
                  </a:ext>
                </a:extLst>
              </p:cNvPr>
              <p:cNvGrpSpPr/>
              <p:nvPr/>
            </p:nvGrpSpPr>
            <p:grpSpPr>
              <a:xfrm>
                <a:off x="3529479" y="2247833"/>
                <a:ext cx="2563025" cy="3708587"/>
                <a:chOff x="838200" y="2630219"/>
                <a:chExt cx="3265800" cy="3708587"/>
              </a:xfrm>
            </p:grpSpPr>
            <p:sp>
              <p:nvSpPr>
                <p:cNvPr id="5" name="Rectangle 4">
                  <a:extLst>
                    <a:ext uri="{FF2B5EF4-FFF2-40B4-BE49-F238E27FC236}">
                      <a16:creationId xmlns:a16="http://schemas.microsoft.com/office/drawing/2014/main" id="{E3BAA4F3-DC5E-2F00-64F3-0CD37ED86F1B}"/>
                    </a:ext>
                  </a:extLst>
                </p:cNvPr>
                <p:cNvSpPr/>
                <p:nvPr/>
              </p:nvSpPr>
              <p:spPr>
                <a:xfrm>
                  <a:off x="838200" y="3213420"/>
                  <a:ext cx="3265800"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Create a clear roadmap and logistics plan to ensure smooth execution of the event</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Establish timeline and milestones </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Recruit teams and confirm participants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Arrange tools, platforms, and comms channels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Finalize judging panel, scoring rubric, and awards</a:t>
                  </a:r>
                </a:p>
              </p:txBody>
            </p:sp>
            <p:sp>
              <p:nvSpPr>
                <p:cNvPr id="6" name="Rectangle 5">
                  <a:extLst>
                    <a:ext uri="{FF2B5EF4-FFF2-40B4-BE49-F238E27FC236}">
                      <a16:creationId xmlns:a16="http://schemas.microsoft.com/office/drawing/2014/main" id="{F5E6BCAE-E6FC-8DEE-B2B4-1CEB9BDD4DD9}"/>
                    </a:ext>
                  </a:extLst>
                </p:cNvPr>
                <p:cNvSpPr/>
                <p:nvPr/>
              </p:nvSpPr>
              <p:spPr>
                <a:xfrm>
                  <a:off x="838200" y="2630219"/>
                  <a:ext cx="3265800"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Plan</a:t>
                  </a:r>
                  <a:endParaRPr lang="en-US">
                    <a:solidFill>
                      <a:schemeClr val="bg1">
                        <a:lumMod val="95000"/>
                      </a:schemeClr>
                    </a:solidFill>
                    <a:latin typeface="Arial" panose="020B0604020202020204" pitchFamily="34" charset="0"/>
                    <a:cs typeface="Arial" panose="020B0604020202020204" pitchFamily="34" charset="0"/>
                  </a:endParaRPr>
                </a:p>
              </p:txBody>
            </p:sp>
          </p:grpSp>
          <p:grpSp>
            <p:nvGrpSpPr>
              <p:cNvPr id="8" name="Group 7">
                <a:extLst>
                  <a:ext uri="{FF2B5EF4-FFF2-40B4-BE49-F238E27FC236}">
                    <a16:creationId xmlns:a16="http://schemas.microsoft.com/office/drawing/2014/main" id="{F72FEE27-FBA5-94D8-01F8-072E24BDB836}"/>
                  </a:ext>
                </a:extLst>
              </p:cNvPr>
              <p:cNvGrpSpPr/>
              <p:nvPr/>
            </p:nvGrpSpPr>
            <p:grpSpPr>
              <a:xfrm>
                <a:off x="838201" y="2247833"/>
                <a:ext cx="2563025" cy="3708587"/>
                <a:chOff x="4463100" y="2630219"/>
                <a:chExt cx="3265800" cy="3708587"/>
              </a:xfrm>
            </p:grpSpPr>
            <p:sp>
              <p:nvSpPr>
                <p:cNvPr id="9" name="Rectangle 8">
                  <a:extLst>
                    <a:ext uri="{FF2B5EF4-FFF2-40B4-BE49-F238E27FC236}">
                      <a16:creationId xmlns:a16="http://schemas.microsoft.com/office/drawing/2014/main" id="{4A46C672-BA86-EC22-B569-2A7A88CC44B0}"/>
                    </a:ext>
                  </a:extLst>
                </p:cNvPr>
                <p:cNvSpPr/>
                <p:nvPr/>
              </p:nvSpPr>
              <p:spPr>
                <a:xfrm>
                  <a:off x="4463100" y="2630219"/>
                  <a:ext cx="3265800"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Align</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FA6CDDD6-10F3-7B58-CB4B-90A8C85FF636}"/>
                    </a:ext>
                  </a:extLst>
                </p:cNvPr>
                <p:cNvSpPr/>
                <p:nvPr/>
              </p:nvSpPr>
              <p:spPr>
                <a:xfrm>
                  <a:off x="4463100" y="3213420"/>
                  <a:ext cx="3265800"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Build understanding of event purpose and get buy-in from firm and portfolio leadership </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Define objectives </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Test interest from portfolio company executives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Set expectations around time commitment, judging criteria, and outcomes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Identify potential partners to support event</a:t>
                  </a:r>
                </a:p>
              </p:txBody>
            </p:sp>
          </p:grpSp>
          <p:grpSp>
            <p:nvGrpSpPr>
              <p:cNvPr id="11" name="Group 10">
                <a:extLst>
                  <a:ext uri="{FF2B5EF4-FFF2-40B4-BE49-F238E27FC236}">
                    <a16:creationId xmlns:a16="http://schemas.microsoft.com/office/drawing/2014/main" id="{003B6A7C-897A-9956-378E-2B6D2E0F2081}"/>
                  </a:ext>
                </a:extLst>
              </p:cNvPr>
              <p:cNvGrpSpPr/>
              <p:nvPr/>
            </p:nvGrpSpPr>
            <p:grpSpPr>
              <a:xfrm>
                <a:off x="6220757" y="2247833"/>
                <a:ext cx="2563025" cy="3708587"/>
                <a:chOff x="8088000" y="2630219"/>
                <a:chExt cx="3265800" cy="3708587"/>
              </a:xfrm>
            </p:grpSpPr>
            <p:sp>
              <p:nvSpPr>
                <p:cNvPr id="12" name="Rectangle 11">
                  <a:extLst>
                    <a:ext uri="{FF2B5EF4-FFF2-40B4-BE49-F238E27FC236}">
                      <a16:creationId xmlns:a16="http://schemas.microsoft.com/office/drawing/2014/main" id="{B4802BBC-C398-99C9-7B33-3FA08BD99AD6}"/>
                    </a:ext>
                  </a:extLst>
                </p:cNvPr>
                <p:cNvSpPr/>
                <p:nvPr/>
              </p:nvSpPr>
              <p:spPr>
                <a:xfrm>
                  <a:off x="8088000" y="2630219"/>
                  <a:ext cx="3265800"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Run</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FBF480D3-A438-3E97-2243-E08740D5F843}"/>
                    </a:ext>
                  </a:extLst>
                </p:cNvPr>
                <p:cNvSpPr/>
                <p:nvPr/>
              </p:nvSpPr>
              <p:spPr>
                <a:xfrm>
                  <a:off x="8088000" y="3213420"/>
                  <a:ext cx="3265800"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Deliver an engaging and well-organized hackathon experience for all participants</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Kick off with orientation and rules of engagement</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Provide ongoing support and check-ins for teams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Host judging session and presentations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Announce winners and celebrate achievements</a:t>
                  </a:r>
                </a:p>
              </p:txBody>
            </p:sp>
          </p:grpSp>
          <p:grpSp>
            <p:nvGrpSpPr>
              <p:cNvPr id="14" name="Group 13">
                <a:extLst>
                  <a:ext uri="{FF2B5EF4-FFF2-40B4-BE49-F238E27FC236}">
                    <a16:creationId xmlns:a16="http://schemas.microsoft.com/office/drawing/2014/main" id="{C692F2B8-9151-9DED-F344-7B688F2840F1}"/>
                  </a:ext>
                </a:extLst>
              </p:cNvPr>
              <p:cNvGrpSpPr/>
              <p:nvPr/>
            </p:nvGrpSpPr>
            <p:grpSpPr>
              <a:xfrm>
                <a:off x="8912034" y="2247833"/>
                <a:ext cx="2563025" cy="3708587"/>
                <a:chOff x="8088000" y="2630219"/>
                <a:chExt cx="3265800" cy="3708587"/>
              </a:xfrm>
            </p:grpSpPr>
            <p:sp>
              <p:nvSpPr>
                <p:cNvPr id="15" name="Rectangle 14">
                  <a:extLst>
                    <a:ext uri="{FF2B5EF4-FFF2-40B4-BE49-F238E27FC236}">
                      <a16:creationId xmlns:a16="http://schemas.microsoft.com/office/drawing/2014/main" id="{74585B2E-D10F-3C3B-61FB-C6F969D5F7DE}"/>
                    </a:ext>
                  </a:extLst>
                </p:cNvPr>
                <p:cNvSpPr/>
                <p:nvPr/>
              </p:nvSpPr>
              <p:spPr>
                <a:xfrm>
                  <a:off x="8088000" y="2630219"/>
                  <a:ext cx="3265800" cy="467584"/>
                </a:xfrm>
                <a:prstGeom prst="rect">
                  <a:avLst/>
                </a:prstGeom>
                <a:solidFill>
                  <a:srgbClr val="205F9A"/>
                </a:solid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pPr algn="ctr"/>
                  <a:r>
                    <a:rPr lang="en-US" b="1">
                      <a:solidFill>
                        <a:schemeClr val="bg1">
                          <a:lumMod val="95000"/>
                        </a:schemeClr>
                      </a:solidFill>
                      <a:latin typeface="Arial" panose="020B0604020202020204" pitchFamily="34" charset="0"/>
                      <a:cs typeface="Arial" panose="020B0604020202020204" pitchFamily="34" charset="0"/>
                    </a:rPr>
                    <a:t>Nurture</a:t>
                  </a:r>
                  <a:endParaRPr lang="en-US">
                    <a:solidFill>
                      <a:schemeClr val="bg1">
                        <a:lumMod val="95000"/>
                      </a:schemeClr>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E0432971-E6DB-01E1-AB45-CB56F93377CE}"/>
                    </a:ext>
                  </a:extLst>
                </p:cNvPr>
                <p:cNvSpPr/>
                <p:nvPr/>
              </p:nvSpPr>
              <p:spPr>
                <a:xfrm>
                  <a:off x="8088000" y="3213420"/>
                  <a:ext cx="3265800" cy="3125386"/>
                </a:xfrm>
                <a:prstGeom prst="rect">
                  <a:avLst/>
                </a:prstGeom>
                <a:noFill/>
                <a:ln>
                  <a:solidFill>
                    <a:srgbClr val="205F9A"/>
                  </a:solidFill>
                </a:ln>
              </p:spPr>
              <p:style>
                <a:lnRef idx="2">
                  <a:schemeClr val="accent1">
                    <a:shade val="15000"/>
                  </a:schemeClr>
                </a:lnRef>
                <a:fillRef idx="1">
                  <a:schemeClr val="accent1"/>
                </a:fillRef>
                <a:effectRef idx="0">
                  <a:schemeClr val="accent1"/>
                </a:effectRef>
                <a:fontRef idx="minor">
                  <a:schemeClr val="lt1"/>
                </a:fontRef>
              </p:style>
              <p:txBody>
                <a:bodyPr tIns="91440" bIns="0" rtlCol="0" anchor="t"/>
                <a:lstStyle/>
                <a:p>
                  <a:r>
                    <a:rPr lang="en-US" sz="1400" b="1">
                      <a:solidFill>
                        <a:schemeClr val="tx1"/>
                      </a:solidFill>
                      <a:latin typeface="Arial" panose="020B0604020202020204" pitchFamily="34" charset="0"/>
                      <a:cs typeface="Arial" panose="020B0604020202020204" pitchFamily="34" charset="0"/>
                    </a:rPr>
                    <a:t>Goal: Ensure hackathon outcomes translate into real business impact and prioritize on roadmaps</a:t>
                  </a:r>
                </a:p>
                <a:p>
                  <a:endParaRPr lang="en-US" sz="1400" i="1">
                    <a:solidFill>
                      <a:schemeClr val="tx1"/>
                    </a:solidFill>
                    <a:latin typeface="Arial" panose="020B0604020202020204" pitchFamily="34" charset="0"/>
                    <a:cs typeface="Arial" panose="020B0604020202020204" pitchFamily="34" charset="0"/>
                  </a:endParaRPr>
                </a:p>
                <a:p>
                  <a:r>
                    <a:rPr lang="en-US" sz="1400" i="1">
                      <a:solidFill>
                        <a:schemeClr val="tx1"/>
                      </a:solidFill>
                      <a:latin typeface="Arial" panose="020B0604020202020204" pitchFamily="34" charset="0"/>
                      <a:cs typeface="Arial" panose="020B0604020202020204" pitchFamily="34" charset="0"/>
                    </a:rPr>
                    <a:t>Specific activities: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Track progress of hackathon projects and share success stories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Debrief with teams and capture learnings</a:t>
                  </a:r>
                </a:p>
                <a:p>
                  <a:pPr marL="285750" indent="-285750">
                    <a:buFont typeface="Arial" panose="020B0604020202020204" pitchFamily="34" charset="0"/>
                    <a:buChar char="•"/>
                  </a:pPr>
                  <a:r>
                    <a:rPr lang="en-US" sz="1400">
                      <a:solidFill>
                        <a:schemeClr val="tx1"/>
                      </a:solidFill>
                      <a:latin typeface="Arial" panose="020B0604020202020204" pitchFamily="34" charset="0"/>
                      <a:cs typeface="Arial" panose="020B0604020202020204" pitchFamily="34" charset="0"/>
                    </a:rPr>
                    <a:t>Identify top ideas and evaluate feasibility for roadmaps</a:t>
                  </a:r>
                </a:p>
              </p:txBody>
            </p:sp>
          </p:grpSp>
        </p:grpSp>
        <p:cxnSp>
          <p:nvCxnSpPr>
            <p:cNvPr id="19" name="Straight Arrow Connector 18">
              <a:extLst>
                <a:ext uri="{FF2B5EF4-FFF2-40B4-BE49-F238E27FC236}">
                  <a16:creationId xmlns:a16="http://schemas.microsoft.com/office/drawing/2014/main" id="{D69029E2-889C-5739-AB45-C4549EFABCE9}"/>
                </a:ext>
              </a:extLst>
            </p:cNvPr>
            <p:cNvCxnSpPr>
              <a:cxnSpLocks/>
            </p:cNvCxnSpPr>
            <p:nvPr/>
          </p:nvCxnSpPr>
          <p:spPr>
            <a:xfrm>
              <a:off x="2948720" y="2481625"/>
              <a:ext cx="1033265"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7977B63A-15BA-3570-FADD-70BA3EE6715D}"/>
                </a:ext>
              </a:extLst>
            </p:cNvPr>
            <p:cNvCxnSpPr>
              <a:cxnSpLocks/>
            </p:cNvCxnSpPr>
            <p:nvPr/>
          </p:nvCxnSpPr>
          <p:spPr>
            <a:xfrm>
              <a:off x="5639998" y="2481625"/>
              <a:ext cx="1033265"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FEB836D-1D5E-8B83-B605-AA00F63EA90C}"/>
                </a:ext>
              </a:extLst>
            </p:cNvPr>
            <p:cNvCxnSpPr>
              <a:cxnSpLocks/>
            </p:cNvCxnSpPr>
            <p:nvPr/>
          </p:nvCxnSpPr>
          <p:spPr>
            <a:xfrm>
              <a:off x="8331276" y="2481625"/>
              <a:ext cx="1033265"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146464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D34B9-061B-EA09-C745-DD4A85426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E01B4-2455-6AC8-F90D-7986162320F9}"/>
              </a:ext>
            </a:extLst>
          </p:cNvPr>
          <p:cNvSpPr>
            <a:spLocks noGrp="1"/>
          </p:cNvSpPr>
          <p:nvPr>
            <p:ph type="title"/>
          </p:nvPr>
        </p:nvSpPr>
        <p:spPr/>
        <p:txBody>
          <a:bodyPr/>
          <a:lstStyle/>
          <a:p>
            <a:r>
              <a:rPr lang="en-US" b="1"/>
              <a:t>Hackathon Logistics</a:t>
            </a:r>
            <a:br>
              <a:rPr lang="en-US" b="1"/>
            </a:br>
            <a:r>
              <a:rPr lang="en-US"/>
              <a:t>In-Person 24-Hour Hackathon: Sample Week</a:t>
            </a:r>
            <a:endParaRPr lang="en-US" b="1"/>
          </a:p>
        </p:txBody>
      </p:sp>
      <p:sp>
        <p:nvSpPr>
          <p:cNvPr id="7" name="Slide Number Placeholder 6">
            <a:extLst>
              <a:ext uri="{FF2B5EF4-FFF2-40B4-BE49-F238E27FC236}">
                <a16:creationId xmlns:a16="http://schemas.microsoft.com/office/drawing/2014/main" id="{DE8BA04A-4793-A861-443F-2B5D0A361E04}"/>
              </a:ext>
            </a:extLst>
          </p:cNvPr>
          <p:cNvSpPr>
            <a:spLocks noGrp="1"/>
          </p:cNvSpPr>
          <p:nvPr>
            <p:ph type="sldNum" sz="quarter" idx="12"/>
          </p:nvPr>
        </p:nvSpPr>
        <p:spPr/>
        <p:txBody>
          <a:bodyPr/>
          <a:lstStyle/>
          <a:p>
            <a:fld id="{1153F0DE-4B83-C442-BFAF-2E07D848C22E}" type="slidenum">
              <a:rPr lang="en-US" smtClean="0"/>
              <a:t>22</a:t>
            </a:fld>
            <a:endParaRPr lang="en-US"/>
          </a:p>
        </p:txBody>
      </p:sp>
      <p:graphicFrame>
        <p:nvGraphicFramePr>
          <p:cNvPr id="18" name="Table 17">
            <a:extLst>
              <a:ext uri="{FF2B5EF4-FFF2-40B4-BE49-F238E27FC236}">
                <a16:creationId xmlns:a16="http://schemas.microsoft.com/office/drawing/2014/main" id="{030F1FD1-90CD-A393-B73A-ECEF9059355C}"/>
              </a:ext>
            </a:extLst>
          </p:cNvPr>
          <p:cNvGraphicFramePr>
            <a:graphicFrameLocks noGrp="1"/>
          </p:cNvGraphicFramePr>
          <p:nvPr/>
        </p:nvGraphicFramePr>
        <p:xfrm>
          <a:off x="838201" y="1839983"/>
          <a:ext cx="10515598" cy="4158918"/>
        </p:xfrm>
        <a:graphic>
          <a:graphicData uri="http://schemas.openxmlformats.org/drawingml/2006/table">
            <a:tbl>
              <a:tblPr/>
              <a:tblGrid>
                <a:gridCol w="970870">
                  <a:extLst>
                    <a:ext uri="{9D8B030D-6E8A-4147-A177-3AD203B41FA5}">
                      <a16:colId xmlns:a16="http://schemas.microsoft.com/office/drawing/2014/main" val="1937561508"/>
                    </a:ext>
                  </a:extLst>
                </a:gridCol>
                <a:gridCol w="2386182">
                  <a:extLst>
                    <a:ext uri="{9D8B030D-6E8A-4147-A177-3AD203B41FA5}">
                      <a16:colId xmlns:a16="http://schemas.microsoft.com/office/drawing/2014/main" val="2399534179"/>
                    </a:ext>
                  </a:extLst>
                </a:gridCol>
                <a:gridCol w="2386182">
                  <a:extLst>
                    <a:ext uri="{9D8B030D-6E8A-4147-A177-3AD203B41FA5}">
                      <a16:colId xmlns:a16="http://schemas.microsoft.com/office/drawing/2014/main" val="3361015251"/>
                    </a:ext>
                  </a:extLst>
                </a:gridCol>
                <a:gridCol w="2386182">
                  <a:extLst>
                    <a:ext uri="{9D8B030D-6E8A-4147-A177-3AD203B41FA5}">
                      <a16:colId xmlns:a16="http://schemas.microsoft.com/office/drawing/2014/main" val="2773695577"/>
                    </a:ext>
                  </a:extLst>
                </a:gridCol>
                <a:gridCol w="2386182">
                  <a:extLst>
                    <a:ext uri="{9D8B030D-6E8A-4147-A177-3AD203B41FA5}">
                      <a16:colId xmlns:a16="http://schemas.microsoft.com/office/drawing/2014/main" val="577520014"/>
                    </a:ext>
                  </a:extLst>
                </a:gridCol>
              </a:tblGrid>
              <a:tr h="231051">
                <a:tc>
                  <a:txBody>
                    <a:bodyPr/>
                    <a:lstStyle/>
                    <a:p>
                      <a:pPr>
                        <a:buNone/>
                      </a:pPr>
                      <a:r>
                        <a:rPr lang="en-US" sz="1000" b="1">
                          <a:solidFill>
                            <a:schemeClr val="bg1"/>
                          </a:solidFill>
                          <a:latin typeface="Arial" panose="020B0604020202020204" pitchFamily="34" charset="0"/>
                          <a:cs typeface="Arial" panose="020B0604020202020204" pitchFamily="34" charset="0"/>
                        </a:rPr>
                        <a:t>Time</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215F9B"/>
                    </a:solidFill>
                  </a:tcPr>
                </a:tc>
                <a:tc>
                  <a:txBody>
                    <a:bodyPr/>
                    <a:lstStyle/>
                    <a:p>
                      <a:pPr algn="ctr">
                        <a:buNone/>
                      </a:pPr>
                      <a:r>
                        <a:rPr lang="en-US" sz="1000" b="1">
                          <a:solidFill>
                            <a:schemeClr val="bg1"/>
                          </a:solidFill>
                          <a:latin typeface="Arial" panose="020B0604020202020204" pitchFamily="34" charset="0"/>
                          <a:cs typeface="Arial" panose="020B0604020202020204" pitchFamily="34" charset="0"/>
                        </a:rPr>
                        <a:t>Monday</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215F9B"/>
                    </a:solidFill>
                  </a:tcPr>
                </a:tc>
                <a:tc>
                  <a:txBody>
                    <a:bodyPr/>
                    <a:lstStyle/>
                    <a:p>
                      <a:pPr algn="ctr">
                        <a:buNone/>
                      </a:pPr>
                      <a:r>
                        <a:rPr lang="en-US" sz="1000" b="1">
                          <a:solidFill>
                            <a:schemeClr val="bg1"/>
                          </a:solidFill>
                          <a:latin typeface="Arial" panose="020B0604020202020204" pitchFamily="34" charset="0"/>
                          <a:cs typeface="Arial" panose="020B0604020202020204" pitchFamily="34" charset="0"/>
                        </a:rPr>
                        <a:t>Tuesday</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215F9B"/>
                    </a:solidFill>
                  </a:tcPr>
                </a:tc>
                <a:tc>
                  <a:txBody>
                    <a:bodyPr/>
                    <a:lstStyle/>
                    <a:p>
                      <a:pPr algn="ctr">
                        <a:buNone/>
                      </a:pPr>
                      <a:r>
                        <a:rPr lang="en-US" sz="1000" b="1">
                          <a:solidFill>
                            <a:schemeClr val="bg1"/>
                          </a:solidFill>
                          <a:latin typeface="Arial" panose="020B0604020202020204" pitchFamily="34" charset="0"/>
                          <a:cs typeface="Arial" panose="020B0604020202020204" pitchFamily="34" charset="0"/>
                        </a:rPr>
                        <a:t>Wednesday</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215F9B"/>
                    </a:solidFill>
                  </a:tcPr>
                </a:tc>
                <a:tc>
                  <a:txBody>
                    <a:bodyPr/>
                    <a:lstStyle/>
                    <a:p>
                      <a:pPr algn="ctr">
                        <a:buNone/>
                      </a:pPr>
                      <a:r>
                        <a:rPr lang="en-US" sz="1000" b="1">
                          <a:solidFill>
                            <a:schemeClr val="bg1"/>
                          </a:solidFill>
                          <a:latin typeface="Arial" panose="020B0604020202020204" pitchFamily="34" charset="0"/>
                          <a:cs typeface="Arial" panose="020B0604020202020204" pitchFamily="34" charset="0"/>
                        </a:rPr>
                        <a:t>Thursday</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215F9B"/>
                    </a:solidFill>
                  </a:tcPr>
                </a:tc>
                <a:extLst>
                  <a:ext uri="{0D108BD9-81ED-4DB2-BD59-A6C34878D82A}">
                    <a16:rowId xmlns:a16="http://schemas.microsoft.com/office/drawing/2014/main" val="801382246"/>
                  </a:ext>
                </a:extLst>
              </a:tr>
              <a:tr h="231051">
                <a:tc>
                  <a:txBody>
                    <a:bodyPr/>
                    <a:lstStyle/>
                    <a:p>
                      <a:pPr>
                        <a:buNone/>
                      </a:pPr>
                      <a:r>
                        <a:rPr lang="en-US" sz="800" b="1">
                          <a:latin typeface="Arial" panose="020B0604020202020204" pitchFamily="34" charset="0"/>
                          <a:cs typeface="Arial" panose="020B0604020202020204" pitchFamily="34" charset="0"/>
                        </a:rPr>
                        <a:t>8 AM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5916192"/>
                  </a:ext>
                </a:extLst>
              </a:tr>
              <a:tr h="231051">
                <a:tc>
                  <a:txBody>
                    <a:bodyPr/>
                    <a:lstStyle/>
                    <a:p>
                      <a:pPr>
                        <a:buNone/>
                      </a:pPr>
                      <a:r>
                        <a:rPr lang="en-US" sz="800" b="1">
                          <a:latin typeface="Arial" panose="020B0604020202020204" pitchFamily="34" charset="0"/>
                          <a:cs typeface="Arial" panose="020B0604020202020204" pitchFamily="34" charset="0"/>
                        </a:rPr>
                        <a:t>9 AM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1457988"/>
                  </a:ext>
                </a:extLst>
              </a:tr>
              <a:tr h="231051">
                <a:tc>
                  <a:txBody>
                    <a:bodyPr/>
                    <a:lstStyle/>
                    <a:p>
                      <a:pPr>
                        <a:buNone/>
                      </a:pPr>
                      <a:r>
                        <a:rPr lang="en-US" sz="800" b="1">
                          <a:latin typeface="Arial" panose="020B0604020202020204" pitchFamily="34" charset="0"/>
                          <a:cs typeface="Arial" panose="020B0604020202020204" pitchFamily="34" charset="0"/>
                        </a:rPr>
                        <a:t>10 AM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4396897"/>
                  </a:ext>
                </a:extLst>
              </a:tr>
              <a:tr h="231051">
                <a:tc>
                  <a:txBody>
                    <a:bodyPr/>
                    <a:lstStyle/>
                    <a:p>
                      <a:pPr>
                        <a:buNone/>
                      </a:pPr>
                      <a:r>
                        <a:rPr lang="en-US" sz="800" b="1">
                          <a:latin typeface="Arial" panose="020B0604020202020204" pitchFamily="34" charset="0"/>
                          <a:cs typeface="Arial" panose="020B0604020202020204" pitchFamily="34" charset="0"/>
                        </a:rPr>
                        <a:t>11 AM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0770789"/>
                  </a:ext>
                </a:extLst>
              </a:tr>
              <a:tr h="231051">
                <a:tc>
                  <a:txBody>
                    <a:bodyPr/>
                    <a:lstStyle/>
                    <a:p>
                      <a:pPr>
                        <a:buNone/>
                      </a:pPr>
                      <a:r>
                        <a:rPr lang="en-US" sz="800" b="1">
                          <a:latin typeface="Arial" panose="020B0604020202020204" pitchFamily="34" charset="0"/>
                          <a:cs typeface="Arial" panose="020B0604020202020204" pitchFamily="34" charset="0"/>
                        </a:rPr>
                        <a:t>12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a:solidFill>
                          <a:schemeClr val="tx1"/>
                        </a:solidFill>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7359103"/>
                  </a:ext>
                </a:extLst>
              </a:tr>
              <a:tr h="231051">
                <a:tc>
                  <a:txBody>
                    <a:bodyPr/>
                    <a:lstStyle/>
                    <a:p>
                      <a:pPr>
                        <a:buNone/>
                      </a:pPr>
                      <a:r>
                        <a:rPr lang="en-US" sz="800" b="1">
                          <a:latin typeface="Arial" panose="020B0604020202020204" pitchFamily="34" charset="0"/>
                          <a:cs typeface="Arial" panose="020B0604020202020204" pitchFamily="34" charset="0"/>
                        </a:rPr>
                        <a:t>1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569877"/>
                  </a:ext>
                </a:extLst>
              </a:tr>
              <a:tr h="231051">
                <a:tc>
                  <a:txBody>
                    <a:bodyPr/>
                    <a:lstStyle/>
                    <a:p>
                      <a:pPr>
                        <a:buNone/>
                      </a:pPr>
                      <a:r>
                        <a:rPr lang="en-US" sz="800" b="1">
                          <a:latin typeface="Arial" panose="020B0604020202020204" pitchFamily="34" charset="0"/>
                          <a:cs typeface="Arial" panose="020B0604020202020204" pitchFamily="34" charset="0"/>
                        </a:rPr>
                        <a:t>2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8264836"/>
                  </a:ext>
                </a:extLst>
              </a:tr>
              <a:tr h="231051">
                <a:tc>
                  <a:txBody>
                    <a:bodyPr/>
                    <a:lstStyle/>
                    <a:p>
                      <a:pPr>
                        <a:buNone/>
                      </a:pPr>
                      <a:r>
                        <a:rPr lang="en-US" sz="800" b="1">
                          <a:latin typeface="Arial" panose="020B0604020202020204" pitchFamily="34" charset="0"/>
                          <a:cs typeface="Arial" panose="020B0604020202020204" pitchFamily="34" charset="0"/>
                        </a:rPr>
                        <a:t>3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3130885"/>
                  </a:ext>
                </a:extLst>
              </a:tr>
              <a:tr h="231051">
                <a:tc>
                  <a:txBody>
                    <a:bodyPr/>
                    <a:lstStyle/>
                    <a:p>
                      <a:pPr>
                        <a:buNone/>
                      </a:pPr>
                      <a:r>
                        <a:rPr lang="en-US" sz="800" b="1">
                          <a:latin typeface="Arial" panose="020B0604020202020204" pitchFamily="34" charset="0"/>
                          <a:cs typeface="Arial" panose="020B0604020202020204" pitchFamily="34" charset="0"/>
                        </a:rPr>
                        <a:t>4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0051589"/>
                  </a:ext>
                </a:extLst>
              </a:tr>
              <a:tr h="231051">
                <a:tc>
                  <a:txBody>
                    <a:bodyPr/>
                    <a:lstStyle/>
                    <a:p>
                      <a:pPr>
                        <a:buNone/>
                      </a:pPr>
                      <a:r>
                        <a:rPr lang="en-US" sz="800" b="1">
                          <a:latin typeface="Arial" panose="020B0604020202020204" pitchFamily="34" charset="0"/>
                          <a:cs typeface="Arial" panose="020B0604020202020204" pitchFamily="34" charset="0"/>
                        </a:rPr>
                        <a:t>5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413654"/>
                  </a:ext>
                </a:extLst>
              </a:tr>
              <a:tr h="231051">
                <a:tc>
                  <a:txBody>
                    <a:bodyPr/>
                    <a:lstStyle/>
                    <a:p>
                      <a:pPr>
                        <a:buNone/>
                      </a:pPr>
                      <a:r>
                        <a:rPr lang="en-US" sz="800" b="1">
                          <a:latin typeface="Arial" panose="020B0604020202020204" pitchFamily="34" charset="0"/>
                          <a:cs typeface="Arial" panose="020B0604020202020204" pitchFamily="34" charset="0"/>
                        </a:rPr>
                        <a:t>6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1117854"/>
                  </a:ext>
                </a:extLst>
              </a:tr>
              <a:tr h="231051">
                <a:tc>
                  <a:txBody>
                    <a:bodyPr/>
                    <a:lstStyle/>
                    <a:p>
                      <a:pPr>
                        <a:buNone/>
                      </a:pPr>
                      <a:r>
                        <a:rPr lang="en-US" sz="800" b="1">
                          <a:latin typeface="Arial" panose="020B0604020202020204" pitchFamily="34" charset="0"/>
                          <a:cs typeface="Arial" panose="020B0604020202020204" pitchFamily="34" charset="0"/>
                        </a:rPr>
                        <a:t>7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357367"/>
                  </a:ext>
                </a:extLst>
              </a:tr>
              <a:tr h="231051">
                <a:tc>
                  <a:txBody>
                    <a:bodyPr/>
                    <a:lstStyle/>
                    <a:p>
                      <a:pPr>
                        <a:buNone/>
                      </a:pPr>
                      <a:r>
                        <a:rPr lang="en-US" sz="800" b="1">
                          <a:latin typeface="Arial" panose="020B0604020202020204" pitchFamily="34" charset="0"/>
                          <a:cs typeface="Arial" panose="020B0604020202020204" pitchFamily="34" charset="0"/>
                        </a:rPr>
                        <a:t>8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9200806"/>
                  </a:ext>
                </a:extLst>
              </a:tr>
              <a:tr h="231051">
                <a:tc>
                  <a:txBody>
                    <a:bodyPr/>
                    <a:lstStyle/>
                    <a:p>
                      <a:pPr>
                        <a:buNone/>
                      </a:pPr>
                      <a:r>
                        <a:rPr lang="en-US" sz="800" b="1">
                          <a:latin typeface="Arial" panose="020B0604020202020204" pitchFamily="34" charset="0"/>
                          <a:cs typeface="Arial" panose="020B0604020202020204" pitchFamily="34" charset="0"/>
                        </a:rPr>
                        <a:t>9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1448376"/>
                  </a:ext>
                </a:extLst>
              </a:tr>
              <a:tr h="231051">
                <a:tc>
                  <a:txBody>
                    <a:bodyPr/>
                    <a:lstStyle/>
                    <a:p>
                      <a:pPr>
                        <a:buNone/>
                      </a:pPr>
                      <a:r>
                        <a:rPr lang="en-US" sz="800" b="1">
                          <a:latin typeface="Arial" panose="020B0604020202020204" pitchFamily="34" charset="0"/>
                          <a:cs typeface="Arial" panose="020B0604020202020204" pitchFamily="34" charset="0"/>
                        </a:rPr>
                        <a:t>10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544765"/>
                  </a:ext>
                </a:extLst>
              </a:tr>
              <a:tr h="231051">
                <a:tc>
                  <a:txBody>
                    <a:bodyPr/>
                    <a:lstStyle/>
                    <a:p>
                      <a:pPr>
                        <a:buNone/>
                      </a:pPr>
                      <a:r>
                        <a:rPr lang="en-US" sz="800" b="1">
                          <a:latin typeface="Arial" panose="020B0604020202020204" pitchFamily="34" charset="0"/>
                          <a:cs typeface="Arial" panose="020B0604020202020204" pitchFamily="34" charset="0"/>
                        </a:rPr>
                        <a:t>11 PM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5462518"/>
                  </a:ext>
                </a:extLst>
              </a:tr>
              <a:tr h="231051">
                <a:tc>
                  <a:txBody>
                    <a:bodyPr/>
                    <a:lstStyle/>
                    <a:p>
                      <a:pPr>
                        <a:buNone/>
                      </a:pPr>
                      <a:r>
                        <a:rPr lang="en-US" sz="800" b="1">
                          <a:latin typeface="Arial" panose="020B0604020202020204" pitchFamily="34" charset="0"/>
                          <a:cs typeface="Arial" panose="020B0604020202020204" pitchFamily="34" charset="0"/>
                        </a:rPr>
                        <a:t>12 AM</a:t>
                      </a: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endParaRPr lang="en-US" sz="800" b="1">
                        <a:latin typeface="Arial" panose="020B0604020202020204" pitchFamily="34" charset="0"/>
                        <a:cs typeface="Arial" panose="020B0604020202020204" pitchFamily="34" charset="0"/>
                      </a:endParaRPr>
                    </a:p>
                  </a:txBody>
                  <a:tcPr marL="18288" marR="18288"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3803279"/>
                  </a:ext>
                </a:extLst>
              </a:tr>
            </a:tbl>
          </a:graphicData>
        </a:graphic>
      </p:graphicFrame>
      <p:sp>
        <p:nvSpPr>
          <p:cNvPr id="23" name="Rectangle 22">
            <a:extLst>
              <a:ext uri="{FF2B5EF4-FFF2-40B4-BE49-F238E27FC236}">
                <a16:creationId xmlns:a16="http://schemas.microsoft.com/office/drawing/2014/main" id="{404C54AE-4E7D-3AEA-7DD4-B6FBA514A6A5}"/>
              </a:ext>
            </a:extLst>
          </p:cNvPr>
          <p:cNvSpPr/>
          <p:nvPr/>
        </p:nvSpPr>
        <p:spPr>
          <a:xfrm>
            <a:off x="4491065" y="2392927"/>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Hackathon Kick Off and Opening Remarks</a:t>
            </a:r>
          </a:p>
        </p:txBody>
      </p:sp>
      <p:sp>
        <p:nvSpPr>
          <p:cNvPr id="24" name="Rectangle 23">
            <a:extLst>
              <a:ext uri="{FF2B5EF4-FFF2-40B4-BE49-F238E27FC236}">
                <a16:creationId xmlns:a16="http://schemas.microsoft.com/office/drawing/2014/main" id="{D30966FC-D69A-0546-89C3-5026DE44ACC1}"/>
              </a:ext>
            </a:extLst>
          </p:cNvPr>
          <p:cNvSpPr/>
          <p:nvPr/>
        </p:nvSpPr>
        <p:spPr>
          <a:xfrm>
            <a:off x="4491065" y="2864921"/>
            <a:ext cx="745953" cy="3133979"/>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Ongoing Hacking</a:t>
            </a:r>
          </a:p>
        </p:txBody>
      </p:sp>
      <p:sp>
        <p:nvSpPr>
          <p:cNvPr id="25" name="Rectangle 24">
            <a:extLst>
              <a:ext uri="{FF2B5EF4-FFF2-40B4-BE49-F238E27FC236}">
                <a16:creationId xmlns:a16="http://schemas.microsoft.com/office/drawing/2014/main" id="{DC719EAA-67B3-9A86-7B85-4FDF9AD80501}"/>
              </a:ext>
            </a:extLst>
          </p:cNvPr>
          <p:cNvSpPr/>
          <p:nvPr/>
        </p:nvSpPr>
        <p:spPr>
          <a:xfrm>
            <a:off x="5490541" y="2864921"/>
            <a:ext cx="745953" cy="3133979"/>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Ongoing Partner Support</a:t>
            </a:r>
          </a:p>
        </p:txBody>
      </p:sp>
      <p:sp>
        <p:nvSpPr>
          <p:cNvPr id="26" name="Rectangle 25">
            <a:extLst>
              <a:ext uri="{FF2B5EF4-FFF2-40B4-BE49-F238E27FC236}">
                <a16:creationId xmlns:a16="http://schemas.microsoft.com/office/drawing/2014/main" id="{71CFF59D-CAC5-6B71-C7A6-195EB526878E}"/>
              </a:ext>
            </a:extLst>
          </p:cNvPr>
          <p:cNvSpPr/>
          <p:nvPr/>
        </p:nvSpPr>
        <p:spPr>
          <a:xfrm>
            <a:off x="2074989" y="2124399"/>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Hackathon Reminder and</a:t>
            </a:r>
            <a:br>
              <a:rPr lang="en-US" sz="900">
                <a:solidFill>
                  <a:schemeClr val="bg1"/>
                </a:solidFill>
                <a:latin typeface="Arial" panose="020B0604020202020204" pitchFamily="34" charset="0"/>
                <a:cs typeface="Arial" panose="020B0604020202020204" pitchFamily="34" charset="0"/>
              </a:rPr>
            </a:br>
            <a:r>
              <a:rPr lang="en-US" sz="900">
                <a:solidFill>
                  <a:schemeClr val="bg1"/>
                </a:solidFill>
                <a:latin typeface="Arial" panose="020B0604020202020204" pitchFamily="34" charset="0"/>
                <a:cs typeface="Arial" panose="020B0604020202020204" pitchFamily="34" charset="0"/>
              </a:rPr>
              <a:t>“Hype” Email Sent Out</a:t>
            </a:r>
          </a:p>
        </p:txBody>
      </p:sp>
      <p:sp>
        <p:nvSpPr>
          <p:cNvPr id="27" name="Rectangle 26">
            <a:extLst>
              <a:ext uri="{FF2B5EF4-FFF2-40B4-BE49-F238E27FC236}">
                <a16:creationId xmlns:a16="http://schemas.microsoft.com/office/drawing/2014/main" id="{F8DF0421-51D8-FB2C-AC88-04E23D510A57}"/>
              </a:ext>
            </a:extLst>
          </p:cNvPr>
          <p:cNvSpPr/>
          <p:nvPr/>
        </p:nvSpPr>
        <p:spPr>
          <a:xfrm>
            <a:off x="2074988" y="2694289"/>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Final Prep Meetings With</a:t>
            </a:r>
            <a:br>
              <a:rPr lang="en-US" sz="900">
                <a:solidFill>
                  <a:schemeClr val="bg1"/>
                </a:solidFill>
                <a:latin typeface="Arial" panose="020B0604020202020204" pitchFamily="34" charset="0"/>
                <a:cs typeface="Arial" panose="020B0604020202020204" pitchFamily="34" charset="0"/>
              </a:rPr>
            </a:br>
            <a:r>
              <a:rPr lang="en-US" sz="900">
                <a:solidFill>
                  <a:schemeClr val="bg1"/>
                </a:solidFill>
                <a:latin typeface="Arial" panose="020B0604020202020204" pitchFamily="34" charset="0"/>
                <a:cs typeface="Arial" panose="020B0604020202020204" pitchFamily="34" charset="0"/>
              </a:rPr>
              <a:t>Kick Off Speakers + Partners</a:t>
            </a:r>
          </a:p>
        </p:txBody>
      </p:sp>
      <p:sp>
        <p:nvSpPr>
          <p:cNvPr id="28" name="Rectangle 27">
            <a:extLst>
              <a:ext uri="{FF2B5EF4-FFF2-40B4-BE49-F238E27FC236}">
                <a16:creationId xmlns:a16="http://schemas.microsoft.com/office/drawing/2014/main" id="{6750753A-7C8F-9CA0-2B7D-6A7DFDA33778}"/>
              </a:ext>
            </a:extLst>
          </p:cNvPr>
          <p:cNvSpPr/>
          <p:nvPr/>
        </p:nvSpPr>
        <p:spPr>
          <a:xfrm>
            <a:off x="9295961" y="2118552"/>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Event Summary and Follow</a:t>
            </a:r>
            <a:br>
              <a:rPr lang="en-US" sz="900">
                <a:solidFill>
                  <a:schemeClr val="bg1"/>
                </a:solidFill>
                <a:latin typeface="Arial" panose="020B0604020202020204" pitchFamily="34" charset="0"/>
                <a:cs typeface="Arial" panose="020B0604020202020204" pitchFamily="34" charset="0"/>
              </a:rPr>
            </a:br>
            <a:r>
              <a:rPr lang="en-US" sz="900">
                <a:solidFill>
                  <a:schemeClr val="bg1"/>
                </a:solidFill>
                <a:latin typeface="Arial" panose="020B0604020202020204" pitchFamily="34" charset="0"/>
                <a:cs typeface="Arial" panose="020B0604020202020204" pitchFamily="34" charset="0"/>
              </a:rPr>
              <a:t>Up Tracking Email Sent Out</a:t>
            </a:r>
          </a:p>
        </p:txBody>
      </p:sp>
      <p:sp>
        <p:nvSpPr>
          <p:cNvPr id="29" name="Rectangle 28">
            <a:extLst>
              <a:ext uri="{FF2B5EF4-FFF2-40B4-BE49-F238E27FC236}">
                <a16:creationId xmlns:a16="http://schemas.microsoft.com/office/drawing/2014/main" id="{55734EAA-1F1B-C73A-8F23-B6919BB2E627}"/>
              </a:ext>
            </a:extLst>
          </p:cNvPr>
          <p:cNvSpPr/>
          <p:nvPr/>
        </p:nvSpPr>
        <p:spPr>
          <a:xfrm>
            <a:off x="9295961" y="2563559"/>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Launch Post-Event Survey and Feedback Capture</a:t>
            </a:r>
          </a:p>
        </p:txBody>
      </p:sp>
      <p:sp>
        <p:nvSpPr>
          <p:cNvPr id="30" name="Rectangle 29">
            <a:extLst>
              <a:ext uri="{FF2B5EF4-FFF2-40B4-BE49-F238E27FC236}">
                <a16:creationId xmlns:a16="http://schemas.microsoft.com/office/drawing/2014/main" id="{C937EB6B-19A5-92C3-536E-CF4BA447CC32}"/>
              </a:ext>
            </a:extLst>
          </p:cNvPr>
          <p:cNvSpPr/>
          <p:nvPr/>
        </p:nvSpPr>
        <p:spPr>
          <a:xfrm>
            <a:off x="6917039" y="2093613"/>
            <a:ext cx="1762698" cy="642839"/>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Hackathon Closing and Team Presentations + Judging</a:t>
            </a:r>
          </a:p>
        </p:txBody>
      </p:sp>
      <p:sp>
        <p:nvSpPr>
          <p:cNvPr id="3" name="Rectangle 2">
            <a:extLst>
              <a:ext uri="{FF2B5EF4-FFF2-40B4-BE49-F238E27FC236}">
                <a16:creationId xmlns:a16="http://schemas.microsoft.com/office/drawing/2014/main" id="{93AD3596-67E1-E20B-E70F-CEF984E8ABAD}"/>
              </a:ext>
            </a:extLst>
          </p:cNvPr>
          <p:cNvSpPr/>
          <p:nvPr/>
        </p:nvSpPr>
        <p:spPr>
          <a:xfrm>
            <a:off x="2074988" y="4392338"/>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Kick Off Event</a:t>
            </a:r>
          </a:p>
        </p:txBody>
      </p:sp>
      <p:sp>
        <p:nvSpPr>
          <p:cNvPr id="4" name="Rectangle 3">
            <a:extLst>
              <a:ext uri="{FF2B5EF4-FFF2-40B4-BE49-F238E27FC236}">
                <a16:creationId xmlns:a16="http://schemas.microsoft.com/office/drawing/2014/main" id="{D86DD35B-E30A-4C24-60B6-9405007F5DA5}"/>
              </a:ext>
            </a:extLst>
          </p:cNvPr>
          <p:cNvSpPr/>
          <p:nvPr/>
        </p:nvSpPr>
        <p:spPr>
          <a:xfrm>
            <a:off x="2074988" y="4854355"/>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Dinner</a:t>
            </a:r>
          </a:p>
        </p:txBody>
      </p:sp>
      <p:sp>
        <p:nvSpPr>
          <p:cNvPr id="5" name="Rectangle 4">
            <a:extLst>
              <a:ext uri="{FF2B5EF4-FFF2-40B4-BE49-F238E27FC236}">
                <a16:creationId xmlns:a16="http://schemas.microsoft.com/office/drawing/2014/main" id="{4DB93CB5-2D57-82C0-1D00-DBBADFFEE4A8}"/>
              </a:ext>
            </a:extLst>
          </p:cNvPr>
          <p:cNvSpPr/>
          <p:nvPr/>
        </p:nvSpPr>
        <p:spPr>
          <a:xfrm>
            <a:off x="2074988" y="5316372"/>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Open Networking / Cocktails</a:t>
            </a:r>
          </a:p>
        </p:txBody>
      </p:sp>
      <p:sp>
        <p:nvSpPr>
          <p:cNvPr id="6" name="Rectangle 5">
            <a:extLst>
              <a:ext uri="{FF2B5EF4-FFF2-40B4-BE49-F238E27FC236}">
                <a16:creationId xmlns:a16="http://schemas.microsoft.com/office/drawing/2014/main" id="{6293F4F7-4D62-47A8-DE82-F249A20E7429}"/>
              </a:ext>
            </a:extLst>
          </p:cNvPr>
          <p:cNvSpPr/>
          <p:nvPr/>
        </p:nvSpPr>
        <p:spPr>
          <a:xfrm>
            <a:off x="6917039" y="2864921"/>
            <a:ext cx="1762698" cy="752777"/>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Celebration Lunch</a:t>
            </a:r>
          </a:p>
        </p:txBody>
      </p:sp>
      <p:sp>
        <p:nvSpPr>
          <p:cNvPr id="8" name="Rectangle 7">
            <a:extLst>
              <a:ext uri="{FF2B5EF4-FFF2-40B4-BE49-F238E27FC236}">
                <a16:creationId xmlns:a16="http://schemas.microsoft.com/office/drawing/2014/main" id="{D85799FF-822B-2C19-2820-D6581E7FC99A}"/>
              </a:ext>
            </a:extLst>
          </p:cNvPr>
          <p:cNvSpPr/>
          <p:nvPr/>
        </p:nvSpPr>
        <p:spPr>
          <a:xfrm>
            <a:off x="4491065" y="2125939"/>
            <a:ext cx="1762698" cy="19263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Breakfast</a:t>
            </a:r>
          </a:p>
        </p:txBody>
      </p:sp>
      <p:sp>
        <p:nvSpPr>
          <p:cNvPr id="11" name="Rectangle 10">
            <a:extLst>
              <a:ext uri="{FF2B5EF4-FFF2-40B4-BE49-F238E27FC236}">
                <a16:creationId xmlns:a16="http://schemas.microsoft.com/office/drawing/2014/main" id="{191F02AA-F649-190C-377A-7564A864D659}"/>
              </a:ext>
            </a:extLst>
          </p:cNvPr>
          <p:cNvSpPr/>
          <p:nvPr/>
        </p:nvSpPr>
        <p:spPr>
          <a:xfrm>
            <a:off x="2074988" y="3919442"/>
            <a:ext cx="1762698" cy="341264"/>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a:solidFill>
                  <a:schemeClr val="bg1"/>
                </a:solidFill>
                <a:latin typeface="Arial" panose="020B0604020202020204" pitchFamily="34" charset="0"/>
                <a:cs typeface="Arial" panose="020B0604020202020204" pitchFamily="34" charset="0"/>
              </a:rPr>
              <a:t>Kick Off Opening / Welcome</a:t>
            </a:r>
          </a:p>
        </p:txBody>
      </p:sp>
    </p:spTree>
    <p:extLst>
      <p:ext uri="{BB962C8B-B14F-4D97-AF65-F5344CB8AC3E}">
        <p14:creationId xmlns:p14="http://schemas.microsoft.com/office/powerpoint/2010/main" val="3306382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CAB2B-DFD9-FE34-255E-0C9736B56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55DF8-5941-4115-2B66-6C511995D4C8}"/>
              </a:ext>
            </a:extLst>
          </p:cNvPr>
          <p:cNvSpPr>
            <a:spLocks noGrp="1"/>
          </p:cNvSpPr>
          <p:nvPr>
            <p:ph type="title"/>
          </p:nvPr>
        </p:nvSpPr>
        <p:spPr/>
        <p:txBody>
          <a:bodyPr/>
          <a:lstStyle/>
          <a:p>
            <a:r>
              <a:rPr lang="en-US" b="1"/>
              <a:t>Hackathon Logistics</a:t>
            </a:r>
            <a:br>
              <a:rPr lang="en-US" b="1"/>
            </a:br>
            <a:r>
              <a:rPr lang="en-US"/>
              <a:t>What Do Hackathon Teams Work On?</a:t>
            </a:r>
            <a:endParaRPr lang="en-US" b="1"/>
          </a:p>
        </p:txBody>
      </p:sp>
      <p:sp>
        <p:nvSpPr>
          <p:cNvPr id="7" name="Slide Number Placeholder 6">
            <a:extLst>
              <a:ext uri="{FF2B5EF4-FFF2-40B4-BE49-F238E27FC236}">
                <a16:creationId xmlns:a16="http://schemas.microsoft.com/office/drawing/2014/main" id="{FF6F3E75-FB79-5CD4-2E91-1879A095D194}"/>
              </a:ext>
            </a:extLst>
          </p:cNvPr>
          <p:cNvSpPr>
            <a:spLocks noGrp="1"/>
          </p:cNvSpPr>
          <p:nvPr>
            <p:ph type="sldNum" sz="quarter" idx="12"/>
          </p:nvPr>
        </p:nvSpPr>
        <p:spPr/>
        <p:txBody>
          <a:bodyPr/>
          <a:lstStyle/>
          <a:p>
            <a:fld id="{1153F0DE-4B83-C442-BFAF-2E07D848C22E}" type="slidenum">
              <a:rPr lang="en-US" smtClean="0"/>
              <a:t>24</a:t>
            </a:fld>
            <a:endParaRPr lang="en-US"/>
          </a:p>
        </p:txBody>
      </p:sp>
      <p:sp>
        <p:nvSpPr>
          <p:cNvPr id="3" name="Content Placeholder 2">
            <a:extLst>
              <a:ext uri="{FF2B5EF4-FFF2-40B4-BE49-F238E27FC236}">
                <a16:creationId xmlns:a16="http://schemas.microsoft.com/office/drawing/2014/main" id="{18D2A33E-39C9-C39A-A632-3EE674FDBD0B}"/>
              </a:ext>
            </a:extLst>
          </p:cNvPr>
          <p:cNvSpPr txBox="1">
            <a:spLocks/>
          </p:cNvSpPr>
          <p:nvPr/>
        </p:nvSpPr>
        <p:spPr>
          <a:xfrm>
            <a:off x="838200" y="1828801"/>
            <a:ext cx="10515599" cy="66501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Hackathon teams decide for themselves which problems or opportunities are most valuable to work on, ensuring the effort is relevant and impactful. Portfolio company leadership provides approval to ensure commercial relevance, but the process is driven bottoms-up. This approach distributes innovation and surfaces ideas that might not otherwise be known or prioritized.</a:t>
            </a:r>
          </a:p>
        </p:txBody>
      </p:sp>
      <p:grpSp>
        <p:nvGrpSpPr>
          <p:cNvPr id="12" name="Group 11">
            <a:extLst>
              <a:ext uri="{FF2B5EF4-FFF2-40B4-BE49-F238E27FC236}">
                <a16:creationId xmlns:a16="http://schemas.microsoft.com/office/drawing/2014/main" id="{E573BDAB-26EC-7BBE-7AAD-1FBB7F00B612}"/>
              </a:ext>
            </a:extLst>
          </p:cNvPr>
          <p:cNvGrpSpPr/>
          <p:nvPr/>
        </p:nvGrpSpPr>
        <p:grpSpPr>
          <a:xfrm>
            <a:off x="1404366" y="3059082"/>
            <a:ext cx="9383268" cy="2940210"/>
            <a:chOff x="1827416" y="3059082"/>
            <a:chExt cx="8530244" cy="2940210"/>
          </a:xfrm>
          <a:noFill/>
        </p:grpSpPr>
        <p:sp>
          <p:nvSpPr>
            <p:cNvPr id="8" name="Rectangle 7">
              <a:extLst>
                <a:ext uri="{FF2B5EF4-FFF2-40B4-BE49-F238E27FC236}">
                  <a16:creationId xmlns:a16="http://schemas.microsoft.com/office/drawing/2014/main" id="{89C9877F-0B0F-DD08-E35B-D082FFCE9E7B}"/>
                </a:ext>
              </a:extLst>
            </p:cNvPr>
            <p:cNvSpPr/>
            <p:nvPr/>
          </p:nvSpPr>
          <p:spPr>
            <a:xfrm>
              <a:off x="1827416" y="3059082"/>
              <a:ext cx="3712552" cy="1330038"/>
            </a:xfrm>
            <a:prstGeom prst="rect">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r>
                <a:rPr lang="en-US">
                  <a:solidFill>
                    <a:schemeClr val="tx1"/>
                  </a:solidFill>
                  <a:latin typeface="Arial" panose="020B0604020202020204" pitchFamily="34" charset="0"/>
                  <a:cs typeface="Arial" panose="020B0604020202020204" pitchFamily="34" charset="0"/>
                </a:rPr>
                <a:t>Teams are encouraged to target ideas that can be piloted quickly but scaled if successful.</a:t>
              </a:r>
            </a:p>
          </p:txBody>
        </p:sp>
        <p:sp>
          <p:nvSpPr>
            <p:cNvPr id="9" name="Rectangle 8">
              <a:extLst>
                <a:ext uri="{FF2B5EF4-FFF2-40B4-BE49-F238E27FC236}">
                  <a16:creationId xmlns:a16="http://schemas.microsoft.com/office/drawing/2014/main" id="{B0A967E6-B97C-CEB9-4C63-00283C8A0F40}"/>
                </a:ext>
              </a:extLst>
            </p:cNvPr>
            <p:cNvSpPr/>
            <p:nvPr/>
          </p:nvSpPr>
          <p:spPr>
            <a:xfrm>
              <a:off x="1827416" y="4669254"/>
              <a:ext cx="3712552" cy="1330038"/>
            </a:xfrm>
            <a:prstGeom prst="rect">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r>
                <a:rPr lang="en-US">
                  <a:solidFill>
                    <a:schemeClr val="tx1"/>
                  </a:solidFill>
                  <a:latin typeface="Arial" panose="020B0604020202020204" pitchFamily="34" charset="0"/>
                  <a:cs typeface="Arial" panose="020B0604020202020204" pitchFamily="34" charset="0"/>
                </a:rPr>
                <a:t>Even ideas that don’t make it to production can spark insights that inform future priorities.</a:t>
              </a:r>
            </a:p>
          </p:txBody>
        </p:sp>
        <p:sp>
          <p:nvSpPr>
            <p:cNvPr id="10" name="Rectangle 9">
              <a:extLst>
                <a:ext uri="{FF2B5EF4-FFF2-40B4-BE49-F238E27FC236}">
                  <a16:creationId xmlns:a16="http://schemas.microsoft.com/office/drawing/2014/main" id="{75F9C214-B84D-19CC-3044-BB3F54626B7B}"/>
                </a:ext>
              </a:extLst>
            </p:cNvPr>
            <p:cNvSpPr/>
            <p:nvPr/>
          </p:nvSpPr>
          <p:spPr>
            <a:xfrm>
              <a:off x="6645108" y="4669254"/>
              <a:ext cx="3712552" cy="1330038"/>
            </a:xfrm>
            <a:prstGeom prst="rect">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r>
                <a:rPr lang="en-US">
                  <a:solidFill>
                    <a:schemeClr val="tx1"/>
                  </a:solidFill>
                  <a:latin typeface="Arial" panose="020B0604020202020204" pitchFamily="34" charset="0"/>
                  <a:cs typeface="Arial" panose="020B0604020202020204" pitchFamily="34" charset="0"/>
                </a:rPr>
                <a:t>Business impact is considered from the start, aligning innovation with growth and efficiency goals.</a:t>
              </a:r>
            </a:p>
          </p:txBody>
        </p:sp>
        <p:sp>
          <p:nvSpPr>
            <p:cNvPr id="11" name="Rectangle 10">
              <a:extLst>
                <a:ext uri="{FF2B5EF4-FFF2-40B4-BE49-F238E27FC236}">
                  <a16:creationId xmlns:a16="http://schemas.microsoft.com/office/drawing/2014/main" id="{DA1053D5-6172-F92B-AF63-5CF1B9EA04AF}"/>
                </a:ext>
              </a:extLst>
            </p:cNvPr>
            <p:cNvSpPr/>
            <p:nvPr/>
          </p:nvSpPr>
          <p:spPr>
            <a:xfrm>
              <a:off x="6645108" y="3059082"/>
              <a:ext cx="3712552" cy="1330038"/>
            </a:xfrm>
            <a:prstGeom prst="rect">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r>
                <a:rPr lang="en-US">
                  <a:solidFill>
                    <a:schemeClr val="tx1"/>
                  </a:solidFill>
                  <a:latin typeface="Arial" panose="020B0604020202020204" pitchFamily="34" charset="0"/>
                  <a:cs typeface="Arial" panose="020B0604020202020204" pitchFamily="34" charset="0"/>
                </a:rPr>
                <a:t>Potential outputs include product features, workflow automations, or new customer-facing capabilities.</a:t>
              </a:r>
            </a:p>
          </p:txBody>
        </p:sp>
      </p:grpSp>
    </p:spTree>
    <p:extLst>
      <p:ext uri="{BB962C8B-B14F-4D97-AF65-F5344CB8AC3E}">
        <p14:creationId xmlns:p14="http://schemas.microsoft.com/office/powerpoint/2010/main" val="4236203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56D80-6AE3-E0EA-E029-D86735F1E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B767D-BBEC-D9C0-33CE-8DBB19F5542A}"/>
              </a:ext>
            </a:extLst>
          </p:cNvPr>
          <p:cNvSpPr>
            <a:spLocks noGrp="1"/>
          </p:cNvSpPr>
          <p:nvPr>
            <p:ph type="title"/>
          </p:nvPr>
        </p:nvSpPr>
        <p:spPr/>
        <p:txBody>
          <a:bodyPr/>
          <a:lstStyle/>
          <a:p>
            <a:r>
              <a:rPr lang="en-US" b="1"/>
              <a:t>Hackathon Logistics</a:t>
            </a:r>
            <a:br>
              <a:rPr lang="en-US" b="1"/>
            </a:br>
            <a:r>
              <a:rPr lang="en-US"/>
              <a:t>Registration Captures Important Details</a:t>
            </a:r>
            <a:endParaRPr lang="en-US" b="1"/>
          </a:p>
        </p:txBody>
      </p:sp>
      <p:sp>
        <p:nvSpPr>
          <p:cNvPr id="7" name="Slide Number Placeholder 6">
            <a:extLst>
              <a:ext uri="{FF2B5EF4-FFF2-40B4-BE49-F238E27FC236}">
                <a16:creationId xmlns:a16="http://schemas.microsoft.com/office/drawing/2014/main" id="{0DF52ACA-F095-AEB9-A61D-BE9A82EE0FBA}"/>
              </a:ext>
            </a:extLst>
          </p:cNvPr>
          <p:cNvSpPr>
            <a:spLocks noGrp="1"/>
          </p:cNvSpPr>
          <p:nvPr>
            <p:ph type="sldNum" sz="quarter" idx="12"/>
          </p:nvPr>
        </p:nvSpPr>
        <p:spPr/>
        <p:txBody>
          <a:bodyPr/>
          <a:lstStyle/>
          <a:p>
            <a:fld id="{1153F0DE-4B83-C442-BFAF-2E07D848C22E}" type="slidenum">
              <a:rPr lang="en-US" smtClean="0"/>
              <a:t>25</a:t>
            </a:fld>
            <a:endParaRPr lang="en-US"/>
          </a:p>
        </p:txBody>
      </p:sp>
      <p:sp>
        <p:nvSpPr>
          <p:cNvPr id="3" name="Content Placeholder 2">
            <a:extLst>
              <a:ext uri="{FF2B5EF4-FFF2-40B4-BE49-F238E27FC236}">
                <a16:creationId xmlns:a16="http://schemas.microsoft.com/office/drawing/2014/main" id="{3FDDA8F6-3504-AD63-15C8-5BE046FE424F}"/>
              </a:ext>
            </a:extLst>
          </p:cNvPr>
          <p:cNvSpPr txBox="1">
            <a:spLocks/>
          </p:cNvSpPr>
          <p:nvPr/>
        </p:nvSpPr>
        <p:spPr>
          <a:xfrm>
            <a:off x="838201" y="1828800"/>
            <a:ext cx="5257800" cy="1903615"/>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Portfolio company leadership can nominate 1-2 teams to participate in the hackathon. While registering, each team provides detailed information that helps with event planning and also helps to </a:t>
            </a:r>
            <a:r>
              <a:rPr lang="en-US" sz="1800" b="0">
                <a:solidFill>
                  <a:schemeClr val="accent2"/>
                </a:solidFill>
              </a:rPr>
              <a:t>gauge their level of capability in AI systems, tools, and techniques</a:t>
            </a:r>
            <a:r>
              <a:rPr lang="en-US" sz="1800" b="0"/>
              <a:t>.</a:t>
            </a:r>
          </a:p>
          <a:p>
            <a:endParaRPr lang="en-US" sz="1800" b="0"/>
          </a:p>
          <a:p>
            <a:r>
              <a:rPr lang="en-US" sz="1800" b="0"/>
              <a:t>This data can be used to provide appropriate mentorship and training before or during the event. Additionally, participants can be guided toward using the right level of AI tooling.</a:t>
            </a:r>
          </a:p>
        </p:txBody>
      </p:sp>
      <p:sp>
        <p:nvSpPr>
          <p:cNvPr id="4" name="Rectangle 1">
            <a:extLst>
              <a:ext uri="{FF2B5EF4-FFF2-40B4-BE49-F238E27FC236}">
                <a16:creationId xmlns:a16="http://schemas.microsoft.com/office/drawing/2014/main" id="{F7E9A884-C29F-24C4-9CFA-62B2ECEECA34}"/>
              </a:ext>
            </a:extLst>
          </p:cNvPr>
          <p:cNvSpPr>
            <a:spLocks noChangeArrowheads="1"/>
          </p:cNvSpPr>
          <p:nvPr/>
        </p:nvSpPr>
        <p:spPr bwMode="auto">
          <a:xfrm>
            <a:off x="6356262" y="1469060"/>
            <a:ext cx="4832669" cy="4767074"/>
          </a:xfrm>
          <a:prstGeom prst="rect">
            <a:avLst/>
          </a:prstGeom>
          <a:solidFill>
            <a:schemeClr val="bg1"/>
          </a:solidFill>
          <a:ln>
            <a:solidFill>
              <a:schemeClr val="bg1">
                <a:lumMod val="85000"/>
              </a:schemeClr>
            </a:solidFill>
          </a:ln>
          <a:effectLst>
            <a:outerShdw blurRad="50800" dist="38100" dir="2700000" algn="tl" rotWithShape="0">
              <a:prstClr val="black">
                <a:alpha val="40000"/>
              </a:prstClr>
            </a:outerShdw>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rPr>
              <a:t>Hackathon Team Registration Form</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rPr>
              <a:t>Team Information</a:t>
            </a: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200" b="0" i="0" u="none" strike="noStrike" cap="none" normalizeH="0" baseline="0">
                <a:ln>
                  <a:noFill/>
                </a:ln>
                <a:solidFill>
                  <a:srgbClr val="000000"/>
                </a:solidFill>
                <a:effectLst/>
                <a:latin typeface="Arial" panose="020B0604020202020204" pitchFamily="34" charset="0"/>
              </a:rPr>
              <a:t>Project description, AI use case, customer impact, value prop</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200" b="0" i="0" u="none" strike="noStrike" cap="none" normalizeH="0" baseline="0">
                <a:ln>
                  <a:noFill/>
                </a:ln>
                <a:solidFill>
                  <a:srgbClr val="000000"/>
                </a:solidFill>
                <a:effectLst/>
                <a:latin typeface="Arial" panose="020B0604020202020204" pitchFamily="34" charset="0"/>
              </a:rPr>
              <a:t>Company and team name</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200" b="0" i="0" u="none" strike="noStrike" cap="none" normalizeH="0" baseline="0">
                <a:ln>
                  <a:noFill/>
                </a:ln>
                <a:solidFill>
                  <a:srgbClr val="000000"/>
                </a:solidFill>
                <a:effectLst/>
                <a:latin typeface="Arial" panose="020B0604020202020204" pitchFamily="34" charset="0"/>
              </a:rPr>
              <a:t>Primary contact (name, email, phone)</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200" b="0" i="0" u="none" strike="noStrike" cap="none" normalizeH="0" baseline="0">
                <a:ln>
                  <a:noFill/>
                </a:ln>
                <a:solidFill>
                  <a:srgbClr val="000000"/>
                </a:solidFill>
                <a:effectLst/>
                <a:latin typeface="Arial" panose="020B0604020202020204" pitchFamily="34" charset="0"/>
              </a:rPr>
              <a:t>List of team members (name, role, email)</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Arial" panose="020B0604020202020204" pitchFamily="34" charset="0"/>
              </a:rPr>
              <a:t>Team Composition</a:t>
            </a:r>
            <a:endParaRPr lang="en-US" altLang="en-US" sz="1200">
              <a:solidFill>
                <a:srgbClr val="000000"/>
              </a:solidFill>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rPr>
              <a:t>5. How many software developers are on your team?</a:t>
            </a:r>
            <a:br>
              <a:rPr kumimoji="0" lang="en-US" altLang="en-US" sz="1200" b="0" i="0" u="none" strike="noStrike" cap="none" normalizeH="0" baseline="0">
                <a:ln>
                  <a:noFill/>
                </a:ln>
                <a:solidFill>
                  <a:srgbClr val="000000"/>
                </a:solidFill>
                <a:effectLst/>
                <a:latin typeface="Arial" panose="020B0604020202020204" pitchFamily="34" charset="0"/>
              </a:rPr>
            </a:br>
            <a:r>
              <a:rPr kumimoji="0" lang="en-US" altLang="en-US" sz="1200" b="0" i="0" u="none" strike="noStrike" cap="none" normalizeH="0" baseline="0">
                <a:ln>
                  <a:noFill/>
                </a:ln>
                <a:solidFill>
                  <a:srgbClr val="000000"/>
                </a:solidFill>
                <a:effectLst/>
                <a:latin typeface="Arial" panose="020B0604020202020204" pitchFamily="34" charset="0"/>
              </a:rPr>
              <a:t>6. Do you have any team members with prior hackathon experience?</a:t>
            </a:r>
            <a:br>
              <a:rPr kumimoji="0" lang="en-US" altLang="en-US" sz="1200" b="0" i="0" u="none" strike="noStrike" cap="none" normalizeH="0" baseline="0">
                <a:ln>
                  <a:noFill/>
                </a:ln>
                <a:solidFill>
                  <a:srgbClr val="000000"/>
                </a:solidFill>
                <a:effectLst/>
                <a:latin typeface="Arial" panose="020B0604020202020204" pitchFamily="34" charset="0"/>
              </a:rPr>
            </a:br>
            <a:r>
              <a:rPr kumimoji="0" lang="en-US" altLang="en-US" sz="1200" b="1" i="0" u="none" strike="noStrike" cap="none" normalizeH="0" baseline="0">
                <a:ln>
                  <a:noFill/>
                </a:ln>
                <a:solidFill>
                  <a:srgbClr val="000000"/>
                </a:solidFill>
                <a:effectLst/>
                <a:latin typeface="Arial" panose="020B0604020202020204" pitchFamily="34" charset="0"/>
              </a:rPr>
              <a:t>AI Experience and Tools</a:t>
            </a:r>
            <a:endParaRPr lang="en-US" altLang="en-US" sz="1200">
              <a:solidFill>
                <a:srgbClr val="000000"/>
              </a:solidFill>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rPr>
              <a:t>7. Is your team currently using any AI tools in your day-to-day work? </a:t>
            </a:r>
            <a:br>
              <a:rPr kumimoji="0" lang="en-US" altLang="en-US" sz="1200" b="0" i="0" u="none" strike="noStrike" cap="none" normalizeH="0" baseline="0">
                <a:ln>
                  <a:noFill/>
                </a:ln>
                <a:solidFill>
                  <a:srgbClr val="000000"/>
                </a:solidFill>
                <a:effectLst/>
                <a:latin typeface="Arial" panose="020B0604020202020204" pitchFamily="34" charset="0"/>
              </a:rPr>
            </a:br>
            <a:r>
              <a:rPr kumimoji="0" lang="en-US" altLang="en-US" sz="1200" b="0" i="0" u="none" strike="noStrike" cap="none" normalizeH="0" baseline="0">
                <a:ln>
                  <a:noFill/>
                </a:ln>
                <a:solidFill>
                  <a:srgbClr val="000000"/>
                </a:solidFill>
                <a:effectLst/>
                <a:latin typeface="Arial" panose="020B0604020202020204" pitchFamily="34" charset="0"/>
              </a:rPr>
              <a:t>8. Do you have experience working with </a:t>
            </a:r>
            <a:r>
              <a:rPr kumimoji="0" lang="en-US" altLang="en-US" sz="1200" i="0" u="none" strike="noStrike" cap="none" normalizeH="0" baseline="0">
                <a:ln>
                  <a:noFill/>
                </a:ln>
                <a:solidFill>
                  <a:srgbClr val="000000"/>
                </a:solidFill>
                <a:effectLst/>
                <a:latin typeface="Arial" panose="020B0604020202020204" pitchFamily="34" charset="0"/>
              </a:rPr>
              <a:t>Agentic AI </a:t>
            </a:r>
            <a:r>
              <a:rPr kumimoji="0" lang="en-US" altLang="en-US" sz="1200" b="0" i="0" u="none" strike="noStrike" cap="none" normalizeH="0" baseline="0">
                <a:ln>
                  <a:noFill/>
                </a:ln>
                <a:solidFill>
                  <a:srgbClr val="000000"/>
                </a:solidFill>
                <a:effectLst/>
                <a:latin typeface="Arial" panose="020B0604020202020204" pitchFamily="34" charset="0"/>
              </a:rPr>
              <a:t>(AI systems that can take actions or perform tasks with some autonomy)?</a:t>
            </a:r>
            <a:br>
              <a:rPr kumimoji="0" lang="en-US" altLang="en-US" sz="1200" b="0" i="0" u="none" strike="noStrike" cap="none" normalizeH="0" baseline="0">
                <a:ln>
                  <a:noFill/>
                </a:ln>
                <a:solidFill>
                  <a:srgbClr val="000000"/>
                </a:solidFill>
                <a:effectLst/>
                <a:latin typeface="Arial" panose="020B0604020202020204" pitchFamily="34" charset="0"/>
              </a:rPr>
            </a:br>
            <a:r>
              <a:rPr kumimoji="0" lang="en-US" altLang="en-US" sz="1200" b="1" i="0" u="none" strike="noStrike" cap="none" normalizeH="0" baseline="0">
                <a:ln>
                  <a:noFill/>
                </a:ln>
                <a:solidFill>
                  <a:srgbClr val="000000"/>
                </a:solidFill>
                <a:effectLst/>
                <a:latin typeface="Arial" panose="020B0604020202020204" pitchFamily="34" charset="0"/>
              </a:rPr>
              <a:t>Logistics</a:t>
            </a:r>
            <a:endParaRPr lang="en-US" altLang="en-US" sz="1200">
              <a:solidFill>
                <a:srgbClr val="000000"/>
              </a:solidFill>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rPr>
              <a:t>9. Do you have any specific support needs during the hackathon? (e.g., data access, cloud credits, product documentation)</a:t>
            </a:r>
            <a:br>
              <a:rPr kumimoji="0" lang="en-US" altLang="en-US" sz="1200" b="0" i="0" u="none" strike="noStrike" cap="none" normalizeH="0" baseline="0">
                <a:ln>
                  <a:noFill/>
                </a:ln>
                <a:solidFill>
                  <a:srgbClr val="000000"/>
                </a:solidFill>
                <a:effectLst/>
                <a:latin typeface="Arial" panose="020B0604020202020204" pitchFamily="34" charset="0"/>
              </a:rPr>
            </a:br>
            <a:r>
              <a:rPr kumimoji="0" lang="en-US" altLang="en-US" sz="1200" b="0" i="0" u="none" strike="noStrike" cap="none" normalizeH="0" baseline="0">
                <a:ln>
                  <a:noFill/>
                </a:ln>
                <a:solidFill>
                  <a:srgbClr val="000000"/>
                </a:solidFill>
                <a:effectLst/>
                <a:latin typeface="Arial" panose="020B0604020202020204" pitchFamily="34" charset="0"/>
              </a:rPr>
              <a:t>10. T-shirt sizes for team members</a:t>
            </a:r>
            <a:endParaRPr kumimoji="0" lang="en-US" altLang="en-US" sz="1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1371620"/>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241B-09DB-D71F-2923-CC73BBADD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2B709-09FB-29C8-4408-C4D9A22B907D}"/>
              </a:ext>
            </a:extLst>
          </p:cNvPr>
          <p:cNvSpPr>
            <a:spLocks noGrp="1"/>
          </p:cNvSpPr>
          <p:nvPr>
            <p:ph type="title"/>
          </p:nvPr>
        </p:nvSpPr>
        <p:spPr/>
        <p:txBody>
          <a:bodyPr/>
          <a:lstStyle/>
          <a:p>
            <a:r>
              <a:rPr lang="en-US" b="1"/>
              <a:t>Hackathon Logistics</a:t>
            </a:r>
            <a:br>
              <a:rPr lang="en-US" b="1"/>
            </a:br>
            <a:r>
              <a:rPr lang="en-US"/>
              <a:t>Pre-Event Enablement Requested From Leading Vendors</a:t>
            </a:r>
            <a:endParaRPr lang="en-US" b="1"/>
          </a:p>
        </p:txBody>
      </p:sp>
      <p:sp>
        <p:nvSpPr>
          <p:cNvPr id="7" name="Slide Number Placeholder 6">
            <a:extLst>
              <a:ext uri="{FF2B5EF4-FFF2-40B4-BE49-F238E27FC236}">
                <a16:creationId xmlns:a16="http://schemas.microsoft.com/office/drawing/2014/main" id="{57192524-B723-6469-8042-420528A3BD19}"/>
              </a:ext>
            </a:extLst>
          </p:cNvPr>
          <p:cNvSpPr>
            <a:spLocks noGrp="1"/>
          </p:cNvSpPr>
          <p:nvPr>
            <p:ph type="sldNum" sz="quarter" idx="12"/>
          </p:nvPr>
        </p:nvSpPr>
        <p:spPr/>
        <p:txBody>
          <a:bodyPr/>
          <a:lstStyle/>
          <a:p>
            <a:fld id="{1153F0DE-4B83-C442-BFAF-2E07D848C22E}" type="slidenum">
              <a:rPr lang="en-US" smtClean="0"/>
              <a:t>26</a:t>
            </a:fld>
            <a:endParaRPr lang="en-US"/>
          </a:p>
        </p:txBody>
      </p:sp>
      <p:sp>
        <p:nvSpPr>
          <p:cNvPr id="3" name="Content Placeholder 2">
            <a:extLst>
              <a:ext uri="{FF2B5EF4-FFF2-40B4-BE49-F238E27FC236}">
                <a16:creationId xmlns:a16="http://schemas.microsoft.com/office/drawing/2014/main" id="{9A49994D-35EE-A47E-B724-E7672BD1D71F}"/>
              </a:ext>
            </a:extLst>
          </p:cNvPr>
          <p:cNvSpPr txBox="1">
            <a:spLocks/>
          </p:cNvSpPr>
          <p:nvPr/>
        </p:nvSpPr>
        <p:spPr>
          <a:xfrm>
            <a:off x="838200" y="1828801"/>
            <a:ext cx="10515599" cy="1047404"/>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Prior to the event, multiple enablement sessions can be facilitated. These would help hackathon participants to start to think through the art of the possible and also upskill them on AI.</a:t>
            </a:r>
          </a:p>
        </p:txBody>
      </p:sp>
      <p:pic>
        <p:nvPicPr>
          <p:cNvPr id="4098" name="Picture 2" descr="Google Cloud Logo, symbol, meaning, history, PNG, brand">
            <a:extLst>
              <a:ext uri="{FF2B5EF4-FFF2-40B4-BE49-F238E27FC236}">
                <a16:creationId xmlns:a16="http://schemas.microsoft.com/office/drawing/2014/main" id="{5F00447D-82AB-31C2-59C8-AAD0C7687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857" y="3168959"/>
            <a:ext cx="2993094" cy="168361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OpenAI Logo, symbol, meaning, history, PNG, brand">
            <a:extLst>
              <a:ext uri="{FF2B5EF4-FFF2-40B4-BE49-F238E27FC236}">
                <a16:creationId xmlns:a16="http://schemas.microsoft.com/office/drawing/2014/main" id="{5CB53409-4F23-9EE7-491F-2EE29AE261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2434" y="2956542"/>
            <a:ext cx="3125111" cy="175787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Amazon Cloud Services, AWS Branding, Computing Logo Transparent">
            <a:extLst>
              <a:ext uri="{FF2B5EF4-FFF2-40B4-BE49-F238E27FC236}">
                <a16:creationId xmlns:a16="http://schemas.microsoft.com/office/drawing/2014/main" id="{3FCE4946-E713-4D9F-F121-E374A15A60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7532" y="3293729"/>
            <a:ext cx="2268367" cy="136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95574"/>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E20E5-DB04-BC9A-C40A-6EF72CB02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0A484-2934-60A1-04ED-45FDEF3E6114}"/>
              </a:ext>
            </a:extLst>
          </p:cNvPr>
          <p:cNvSpPr>
            <a:spLocks noGrp="1"/>
          </p:cNvSpPr>
          <p:nvPr>
            <p:ph type="title"/>
          </p:nvPr>
        </p:nvSpPr>
        <p:spPr/>
        <p:txBody>
          <a:bodyPr/>
          <a:lstStyle/>
          <a:p>
            <a:r>
              <a:rPr lang="en-US" b="1"/>
              <a:t>Hackathon Logistics</a:t>
            </a:r>
            <a:br>
              <a:rPr lang="en-US" b="1"/>
            </a:br>
            <a:r>
              <a:rPr lang="en-US"/>
              <a:t>Multiple Ways For Non-Software Companies To Participate</a:t>
            </a:r>
            <a:endParaRPr lang="en-US" b="1"/>
          </a:p>
        </p:txBody>
      </p:sp>
      <p:sp>
        <p:nvSpPr>
          <p:cNvPr id="7" name="Slide Number Placeholder 6">
            <a:extLst>
              <a:ext uri="{FF2B5EF4-FFF2-40B4-BE49-F238E27FC236}">
                <a16:creationId xmlns:a16="http://schemas.microsoft.com/office/drawing/2014/main" id="{06D83F6A-BCB7-9D87-E9D0-29529109EC25}"/>
              </a:ext>
            </a:extLst>
          </p:cNvPr>
          <p:cNvSpPr>
            <a:spLocks noGrp="1"/>
          </p:cNvSpPr>
          <p:nvPr>
            <p:ph type="sldNum" sz="quarter" idx="12"/>
          </p:nvPr>
        </p:nvSpPr>
        <p:spPr/>
        <p:txBody>
          <a:bodyPr/>
          <a:lstStyle/>
          <a:p>
            <a:fld id="{1153F0DE-4B83-C442-BFAF-2E07D848C22E}" type="slidenum">
              <a:rPr lang="en-US" smtClean="0"/>
              <a:t>27</a:t>
            </a:fld>
            <a:endParaRPr lang="en-US"/>
          </a:p>
        </p:txBody>
      </p:sp>
      <p:sp>
        <p:nvSpPr>
          <p:cNvPr id="3" name="Content Placeholder 2">
            <a:extLst>
              <a:ext uri="{FF2B5EF4-FFF2-40B4-BE49-F238E27FC236}">
                <a16:creationId xmlns:a16="http://schemas.microsoft.com/office/drawing/2014/main" id="{382AC2B4-69D6-33C7-D563-F8BC64E71BAA}"/>
              </a:ext>
            </a:extLst>
          </p:cNvPr>
          <p:cNvSpPr txBox="1">
            <a:spLocks/>
          </p:cNvSpPr>
          <p:nvPr/>
        </p:nvSpPr>
        <p:spPr>
          <a:xfrm>
            <a:off x="838200" y="1828800"/>
            <a:ext cx="10633363" cy="57806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t>New AI tooling enables the creation of incredible software and AI bots using just a few words. Even stopping short of building software, enabling hackathon teams to </a:t>
            </a:r>
            <a:r>
              <a:rPr lang="en-US" sz="1800" b="0" i="1"/>
              <a:t>think</a:t>
            </a:r>
            <a:r>
              <a:rPr lang="en-US" sz="1800" b="0"/>
              <a:t> through what a new offering could look like – and building a business case around it – still delivers real impact.</a:t>
            </a:r>
          </a:p>
        </p:txBody>
      </p:sp>
      <p:pic>
        <p:nvPicPr>
          <p:cNvPr id="4" name="Picture 3">
            <a:extLst>
              <a:ext uri="{FF2B5EF4-FFF2-40B4-BE49-F238E27FC236}">
                <a16:creationId xmlns:a16="http://schemas.microsoft.com/office/drawing/2014/main" id="{B3C67A43-CB17-12EE-2BB0-2E86A583CE40}"/>
              </a:ext>
            </a:extLst>
          </p:cNvPr>
          <p:cNvPicPr>
            <a:picLocks noChangeAspect="1"/>
          </p:cNvPicPr>
          <p:nvPr/>
        </p:nvPicPr>
        <p:blipFill>
          <a:blip r:embed="rId2"/>
          <a:stretch>
            <a:fillRect/>
          </a:stretch>
        </p:blipFill>
        <p:spPr>
          <a:xfrm>
            <a:off x="838200" y="2664853"/>
            <a:ext cx="6306588" cy="3507347"/>
          </a:xfrm>
          <a:prstGeom prst="rect">
            <a:avLst/>
          </a:prstGeom>
        </p:spPr>
      </p:pic>
      <p:cxnSp>
        <p:nvCxnSpPr>
          <p:cNvPr id="6" name="Straight Arrow Connector 5">
            <a:extLst>
              <a:ext uri="{FF2B5EF4-FFF2-40B4-BE49-F238E27FC236}">
                <a16:creationId xmlns:a16="http://schemas.microsoft.com/office/drawing/2014/main" id="{254D2934-7376-D819-F2CC-25610A8D6E11}"/>
              </a:ext>
            </a:extLst>
          </p:cNvPr>
          <p:cNvCxnSpPr/>
          <p:nvPr/>
        </p:nvCxnSpPr>
        <p:spPr>
          <a:xfrm>
            <a:off x="7427928" y="4404630"/>
            <a:ext cx="33251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48D4E373-7624-1DC6-385C-1F7235D6456C}"/>
              </a:ext>
            </a:extLst>
          </p:cNvPr>
          <p:cNvSpPr/>
          <p:nvPr/>
        </p:nvSpPr>
        <p:spPr>
          <a:xfrm>
            <a:off x="8115994" y="3374357"/>
            <a:ext cx="3075708" cy="206054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algn="ctr"/>
            <a:r>
              <a:rPr lang="en-US">
                <a:solidFill>
                  <a:schemeClr val="tx1"/>
                </a:solidFill>
                <a:latin typeface="Arial" panose="020B0604020202020204" pitchFamily="34" charset="0"/>
                <a:cs typeface="Arial" panose="020B0604020202020204" pitchFamily="34" charset="0"/>
              </a:rPr>
              <a:t>Base44 can be used to build an app in minutes, with nothing more than free-text. This is a great way to rapidly prototype and learn about AI in a low-cost, low-risk setting.</a:t>
            </a:r>
          </a:p>
        </p:txBody>
      </p:sp>
    </p:spTree>
    <p:extLst>
      <p:ext uri="{BB962C8B-B14F-4D97-AF65-F5344CB8AC3E}">
        <p14:creationId xmlns:p14="http://schemas.microsoft.com/office/powerpoint/2010/main" val="3150454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722E-17FC-AF00-04FD-63FC480F81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E23664-7E87-ED0C-B4E1-7EB01907D794}"/>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F6BC18-C789-D063-B6D2-9A3AE3C98032}"/>
              </a:ext>
            </a:extLst>
          </p:cNvPr>
          <p:cNvSpPr>
            <a:spLocks noGrp="1"/>
          </p:cNvSpPr>
          <p:nvPr>
            <p:ph type="ctrTitle"/>
          </p:nvPr>
        </p:nvSpPr>
        <p:spPr>
          <a:xfrm>
            <a:off x="846992" y="1837592"/>
            <a:ext cx="4571675" cy="2387600"/>
          </a:xfrm>
        </p:spPr>
        <p:txBody>
          <a:bodyPr anchor="t"/>
          <a:lstStyle/>
          <a:p>
            <a:pPr algn="l"/>
            <a:r>
              <a:rPr lang="en-US" sz="3600" b="1">
                <a:solidFill>
                  <a:schemeClr val="bg1"/>
                </a:solidFill>
              </a:rPr>
              <a:t>Thank You</a:t>
            </a:r>
            <a:br>
              <a:rPr lang="en-US" sz="3600" b="1">
                <a:solidFill>
                  <a:schemeClr val="bg1"/>
                </a:solidFill>
              </a:rPr>
            </a:br>
            <a:endParaRPr lang="en-US" sz="2000" i="1">
              <a:solidFill>
                <a:schemeClr val="bg1"/>
              </a:solidFill>
            </a:endParaRPr>
          </a:p>
        </p:txBody>
      </p:sp>
      <p:sp>
        <p:nvSpPr>
          <p:cNvPr id="4" name="Slide Number Placeholder 3">
            <a:extLst>
              <a:ext uri="{FF2B5EF4-FFF2-40B4-BE49-F238E27FC236}">
                <a16:creationId xmlns:a16="http://schemas.microsoft.com/office/drawing/2014/main" id="{30586002-AB1D-F857-D9C4-1E804C8723FF}"/>
              </a:ext>
            </a:extLst>
          </p:cNvPr>
          <p:cNvSpPr>
            <a:spLocks noGrp="1"/>
          </p:cNvSpPr>
          <p:nvPr>
            <p:ph type="sldNum" sz="quarter" idx="12"/>
          </p:nvPr>
        </p:nvSpPr>
        <p:spPr/>
        <p:txBody>
          <a:bodyPr/>
          <a:lstStyle/>
          <a:p>
            <a:fld id="{1153F0DE-4B83-C442-BFAF-2E07D848C22E}" type="slidenum">
              <a:rPr lang="en-US" smtClean="0"/>
              <a:t>30</a:t>
            </a:fld>
            <a:endParaRPr lang="en-US"/>
          </a:p>
        </p:txBody>
      </p:sp>
      <p:sp>
        <p:nvSpPr>
          <p:cNvPr id="5" name="Content Placeholder 2">
            <a:extLst>
              <a:ext uri="{FF2B5EF4-FFF2-40B4-BE49-F238E27FC236}">
                <a16:creationId xmlns:a16="http://schemas.microsoft.com/office/drawing/2014/main" id="{AAF77C48-FDB6-EFE4-07D1-9AC56723B12C}"/>
              </a:ext>
            </a:extLst>
          </p:cNvPr>
          <p:cNvSpPr txBox="1">
            <a:spLocks/>
          </p:cNvSpPr>
          <p:nvPr/>
        </p:nvSpPr>
        <p:spPr>
          <a:xfrm>
            <a:off x="838200" y="2730191"/>
            <a:ext cx="2379785" cy="881149"/>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800" b="0">
                <a:solidFill>
                  <a:schemeClr val="bg1"/>
                </a:solidFill>
              </a:rPr>
              <a:t>Henry Yelin</a:t>
            </a:r>
          </a:p>
          <a:p>
            <a:r>
              <a:rPr lang="en-US" sz="1800" b="0">
                <a:solidFill>
                  <a:schemeClr val="bg1"/>
                </a:solidFill>
              </a:rPr>
              <a:t>Michael Duncan</a:t>
            </a:r>
          </a:p>
          <a:p>
            <a:r>
              <a:rPr lang="en-US" sz="1800" b="0">
                <a:solidFill>
                  <a:schemeClr val="bg1"/>
                </a:solidFill>
              </a:rPr>
              <a:t>Russell Beggs</a:t>
            </a:r>
          </a:p>
        </p:txBody>
      </p:sp>
    </p:spTree>
    <p:extLst>
      <p:ext uri="{BB962C8B-B14F-4D97-AF65-F5344CB8AC3E}">
        <p14:creationId xmlns:p14="http://schemas.microsoft.com/office/powerpoint/2010/main" val="3259392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89D73B-FF20-B446-892C-91B016261FA6}">
  <we:reference id="wa200010001" version="1.0.0.0" store="en-US" storeType="OMEX"/>
  <we:alternateReferences>
    <we:reference id="wa200010001" version="1.0.0.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1</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Cross-Portfolio Hackathon: AI Products</vt:lpstr>
      <vt:lpstr>AI Product Hackathon Our Understanding Based On February 12th Call</vt:lpstr>
      <vt:lpstr>AI Product Hackathon Why This Approach and Why Now</vt:lpstr>
      <vt:lpstr>AI Product Hackathon Execution To Start In Mid-March, Enabling Late May Event</vt:lpstr>
      <vt:lpstr>PowerPoint Presentation</vt:lpstr>
      <vt:lpstr>AI Product Hackathon Budget Breakdown by Tier</vt:lpstr>
      <vt:lpstr>PowerPoint Presentation</vt:lpstr>
      <vt:lpstr>Portfolio Archetypes</vt:lpstr>
      <vt:lpstr>PowerPoint Presentation</vt:lpstr>
      <vt:lpstr>PowerPoint Presentation</vt:lpstr>
      <vt:lpstr>PowerPoint Presentation</vt:lpstr>
      <vt:lpstr>Event Value by Stakeholder</vt:lpstr>
      <vt:lpstr>PowerPoint Presentation</vt:lpstr>
      <vt:lpstr>PowerPoint Presentation</vt:lpstr>
      <vt:lpstr>PowerPoint Presentation</vt:lpstr>
      <vt:lpstr>PowerPoint Presentation</vt:lpstr>
      <vt:lpstr>Example Across Entry / Exit / Future</vt:lpstr>
      <vt:lpstr>AI Product Hackathon Portfolio Company Example of Entry / Exit / Future </vt:lpstr>
      <vt:lpstr>AI Product Hackathon Portfolio Company Example of Entry / Exit / Future </vt:lpstr>
      <vt:lpstr>AI Product Hackathon Portfolio Company Example of Entry / Exit / Future </vt:lpstr>
      <vt:lpstr>Appendix</vt:lpstr>
      <vt:lpstr>AI Product Hackathon Designed To Kick Start AI Learning and Roadmap</vt:lpstr>
      <vt:lpstr>AI Hackathon Three Potential Focus Area For AI Hackathon </vt:lpstr>
      <vt:lpstr>AI Hackathon Three Potential Focus Area For AI Hackathon – Possible Tooling</vt:lpstr>
      <vt:lpstr>AI Hackathon Two Potential Hackathon Event Types </vt:lpstr>
      <vt:lpstr>Logistics and Approach</vt:lpstr>
      <vt:lpstr>Hackathon Logistics Proposed Approach</vt:lpstr>
      <vt:lpstr>Hackathon Logistics In-Person 24-Hour Hackathon: Sample Week</vt:lpstr>
      <vt:lpstr>Hackathon Logistics What Do Hackathon Teams Work On?</vt:lpstr>
      <vt:lpstr>Hackathon Logistics Registration Captures Important Details</vt:lpstr>
      <vt:lpstr>Hackathon Logistics Pre-Event Enablement Requested From Leading Vendors</vt:lpstr>
      <vt:lpstr>Hackathon Logistics Multiple Ways For Non-Software Companies To Participate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Yelin</dc:creator>
  <cp:revision>3</cp:revision>
  <dcterms:created xsi:type="dcterms:W3CDTF">2025-04-17T03:23:11Z</dcterms:created>
  <dcterms:modified xsi:type="dcterms:W3CDTF">2026-02-25T14:39:27Z</dcterms:modified>
</cp:coreProperties>
</file>