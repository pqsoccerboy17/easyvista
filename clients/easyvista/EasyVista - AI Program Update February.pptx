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8"/>
  </p:notesMasterIdLst>
  <p:handoutMasterIdLst>
    <p:handoutMasterId r:id="rId9"/>
  </p:handoutMasterIdLst>
  <p:sldIdLst>
    <p:sldId id="450" r:id="rId2"/>
    <p:sldId id="452" r:id="rId3"/>
    <p:sldId id="453" r:id="rId4"/>
    <p:sldId id="451" r:id="rId5"/>
    <p:sldId id="454" r:id="rId6"/>
    <p:sldId id="44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9AA"/>
    <a:srgbClr val="215F9B"/>
    <a:srgbClr val="205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0C41FC-B562-B159-16D2-9361139C0132}" v="20" dt="2026-02-25T11:01:26.164"/>
    <p1510:client id="{28D22C1E-5952-A64D-B05B-93B07FDE8649}" v="17" dt="2026-02-25T11:27:28.228"/>
    <p1510:client id="{67D28CFF-81C3-9FEF-698E-8595620C160E}" v="838" dt="2026-02-25T09:28:47.214"/>
    <p1510:client id="{9CEED3B6-C203-8844-9178-AAF05DE7C726}" v="3" dt="2026-02-25T14:59:26.680"/>
    <p1510:client id="{FC27690D-E748-154A-E6F9-E777353111FE}" v="382" dt="2026-02-25T09:07:58.9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2B957D-7DC5-A2B2-9DD2-55794E7CDE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B4F5B0-A96F-ED6F-2E66-E8F683DC4B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7D3EC-9A98-C541-9FD9-792890530D0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D6F59-13DB-C2D4-D2B2-AA1EA87687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9123F4-0545-E446-7FD1-E1EB626943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88F0B-65CC-2743-BB63-E87071A1F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49025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116F8F-04D6-8B49-91B0-01B4C7A8380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C6C9F-953B-EC47-BC35-7510FBC4A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908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8BB01-E6DD-DD07-7AC7-F3DDBD294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34DB86-2C80-DFAA-5680-AC7E72711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FE1C5-EFA6-80DB-E11F-2C7A425E8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747AC-6C1B-B141-BB85-6453D36E7AA8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FBD58-EE43-0BF5-77EB-130FB33BF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4809B-A45F-AD4F-45D2-CF37CC034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3F0DE-4B83-C442-BFAF-2E07D848C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503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ED674-9805-1118-1772-6CA4C4CA0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E41C4-1D31-BE45-259F-CCB693022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17BED-28CD-C07A-9023-F68BBD438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0E739-BFFE-EA4A-8D8D-34C458EADFC0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23C95-B38B-BF64-C100-43914F20E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F7820-B65C-C0EF-ED84-FC16594A2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3F0DE-4B83-C442-BFAF-2E07D848C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03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38B78-6303-8C25-3F8C-AD8C6D6EF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3FB13-7B3A-45D7-3D40-B7FB7C890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B5925-F64E-49BE-35D7-E860E26B2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E037B-0B03-B845-A278-279D4C95B7E4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A10B4-D8FF-5811-ED52-999DCA355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1D92B-6EE4-1135-B5CA-12238425E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3F0DE-4B83-C442-BFAF-2E07D848C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756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EB291-B787-80D8-FAE0-318461170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F5517-D57E-2055-5AB5-6C9457213D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416C4-19B6-AA05-97DF-F4337351E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B8F382-13BF-BF14-5167-0AEB54592E6D}"/>
              </a:ext>
            </a:extLst>
          </p:cNvPr>
          <p:cNvSpPr/>
          <p:nvPr userDrawn="1"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C61C7-133F-DFBF-73A1-57E7ACBA9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3F0DE-4B83-C442-BFAF-2E07D848C22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C0CCB-DF2D-C03A-1CCA-FD56C277B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3A835-6B96-DD4E-816E-1623D87CB460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025AE-FF16-34D4-D0F1-9372267E4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pc="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23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F1457-25DC-C3BF-5A1C-4AAE59E12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BD09E-A83E-354F-2198-FE4F8690B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5A879D-7474-D492-4B80-3A27C60D7B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5EC6AB-7D89-DE58-BCEE-9B5F856B94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2DE786-0F40-BEB6-8796-CA4A27918E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3C978D-5672-D09E-56BA-C0F915C90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A8DF0-7915-FA4C-87F8-EEAE55B6ECAC}" type="datetime1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9EB899-73D3-B550-0F79-DBC93F65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FD74DD-5C40-4BCF-8DB4-F680B7EA0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3F0DE-4B83-C442-BFAF-2E07D848C22E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EasyVista Releases 2023.3 Product Version with Critical Enhancements ...">
            <a:extLst>
              <a:ext uri="{FF2B5EF4-FFF2-40B4-BE49-F238E27FC236}">
                <a16:creationId xmlns:a16="http://schemas.microsoft.com/office/drawing/2014/main" id="{3F6413CB-BCFC-1495-9633-B1E39E149E2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10" b="35485"/>
          <a:stretch>
            <a:fillRect/>
          </a:stretch>
        </p:blipFill>
        <p:spPr bwMode="auto">
          <a:xfrm>
            <a:off x="836612" y="198438"/>
            <a:ext cx="1649833" cy="250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411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A466B-CED1-A10F-16B8-D32DCC8A0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2EB8B1-BE82-DEBD-650F-EE2ECEF5B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9435C-2824-0A4B-9C77-0A1C1E63546D}" type="datetime1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8E3B26-4529-17DE-EC6D-3632BB3DC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D104EA-19B3-4779-3E76-E2605B844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3F0DE-4B83-C442-BFAF-2E07D848C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042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56EE4F-C3A8-F88A-5F28-3D2DAD71C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44753-9E55-A144-8763-9B92FEAFEF5E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6D6067-02D2-F33B-9A04-DDD1565D1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9FF46-1C78-3998-141A-5DC3507F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3F0DE-4B83-C442-BFAF-2E07D848C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160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2C8C6-5561-F2F9-BC16-9581473B7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68241-B34A-CF58-3244-4F9681A83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220617-02D1-16BB-E6D2-818C8C8FA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8CDB8-0767-F511-1BC2-382C6BA27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4CDC-22EA-E447-AFFC-0AB9E258020A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51FF5-11E5-6ACD-AE5F-1F0D2DEB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92CB1-B6D5-3B82-08FA-8360F2EEC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3F0DE-4B83-C442-BFAF-2E07D848C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350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23428-2BE1-2918-501A-2A0A823AD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C14FC2-D9B7-0DE5-0561-47C729B0CB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B84F9-2CE5-4C6E-A309-4C45FF080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ABEFB-4A0F-9143-CDAC-C7F5E4932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C09A-F394-2F45-AAE5-F8CB1BC82056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68B93-7114-3CC3-F652-3CD8A86E6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D60C4-0DFD-6CEB-1D53-64E0B189A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3F0DE-4B83-C442-BFAF-2E07D848C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59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C3143-B9B7-8FF7-FE78-0DEF20BD5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3EB67-FB3D-792B-9937-2D9BF51FD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98D36-69FE-0CBA-EC7F-8FB00851A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E98BE-F296-F24C-B680-ECFB0C14B302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68F71-8059-0156-21BF-2CB70D0A0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31199-71C7-86DC-F845-161710668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3F0DE-4B83-C442-BFAF-2E07D848C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21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C00E98-75D0-3E9F-1E8E-B42EC78EA5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DBF8C8-E795-4C18-A983-B540D96F0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F363D-FAA1-3093-5876-63DBB120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5774-17A1-CF48-A9F4-A4B8AE4EB902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88E60-2131-8A2F-33FD-96D51DA2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68BFB-7DF2-3762-67CC-29D634431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3F0DE-4B83-C442-BFAF-2E07D848C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60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B024D1-62EE-2F74-51D2-A5129C2C6417}"/>
              </a:ext>
            </a:extLst>
          </p:cNvPr>
          <p:cNvSpPr/>
          <p:nvPr userDrawn="1"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spc="600">
                <a:solidFill>
                  <a:schemeClr val="bg1">
                    <a:lumMod val="85000"/>
                  </a:schemeClr>
                </a:solidFill>
              </a:rPr>
              <a:t>YELIN.IO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BC26AE-1299-7838-02A0-DB3DC6779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E4833-C376-DDAB-C96A-851832972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757A0-8CF6-4FCA-973E-EBD50D5DB3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023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AB61B6-DA19-5644-A35B-453407DAB9B2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0F0E4-7E9C-A8B9-E138-26127711D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023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1153F0DE-4B83-C442-BFAF-2E07D848C2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05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5" r:id="rId2"/>
    <p:sldLayoutId id="2147483684" r:id="rId3"/>
    <p:sldLayoutId id="2147483683" r:id="rId4"/>
    <p:sldLayoutId id="2147483682" r:id="rId5"/>
    <p:sldLayoutId id="2147483681" r:id="rId6"/>
    <p:sldLayoutId id="2147483680" r:id="rId7"/>
    <p:sldLayoutId id="2147483679" r:id="rId8"/>
    <p:sldLayoutId id="2147483678" r:id="rId9"/>
    <p:sldLayoutId id="2147483677" r:id="rId10"/>
    <p:sldLayoutId id="214748367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>
          <p15:clr>
            <a:srgbClr val="F26B43"/>
          </p15:clr>
        </p15:guide>
        <p15:guide id="2" pos="7152">
          <p15:clr>
            <a:srgbClr val="F26B43"/>
          </p15:clr>
        </p15:guide>
        <p15:guide id="3" orient="horz" pos="1152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CD15-443A-D082-C9F5-69F725C93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5006E-B1B4-A372-4394-FC3034B0D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Project Update and Insights – February 25</a:t>
            </a:r>
            <a:r>
              <a:rPr lang="en-US" b="1" baseline="30000"/>
              <a:t>th</a:t>
            </a:r>
            <a:r>
              <a:rPr lang="en-US" b="1"/>
              <a:t> </a:t>
            </a:r>
            <a:br>
              <a:rPr lang="en-US" b="1"/>
            </a:br>
            <a:r>
              <a:rPr lang="en-US"/>
              <a:t>Overall Status and Summary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64F10-20BA-4690-4020-E030AB833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3F0DE-4B83-C442-BFAF-2E07D848C22E}" type="slidenum">
              <a:rPr lang="en-US" smtClean="0"/>
              <a:t>1</a:t>
            </a:fld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1B431E0-EB41-2D6C-C44D-7524C238961A}"/>
              </a:ext>
            </a:extLst>
          </p:cNvPr>
          <p:cNvSpPr txBox="1">
            <a:spLocks/>
          </p:cNvSpPr>
          <p:nvPr/>
        </p:nvSpPr>
        <p:spPr>
          <a:xfrm>
            <a:off x="838202" y="1805975"/>
            <a:ext cx="10515598" cy="25142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Engagement progressing despite headwinds due to upcoming critical April release.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92D06CA-8C5D-D755-FF59-1C05E5B8F656}"/>
              </a:ext>
            </a:extLst>
          </p:cNvPr>
          <p:cNvGrpSpPr/>
          <p:nvPr/>
        </p:nvGrpSpPr>
        <p:grpSpPr>
          <a:xfrm>
            <a:off x="838201" y="2174190"/>
            <a:ext cx="10515600" cy="3861486"/>
            <a:chOff x="838201" y="2128470"/>
            <a:chExt cx="10515600" cy="238511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7639685-1717-C5CC-0502-2E76AA97526F}"/>
                </a:ext>
              </a:extLst>
            </p:cNvPr>
            <p:cNvGrpSpPr/>
            <p:nvPr/>
          </p:nvGrpSpPr>
          <p:grpSpPr>
            <a:xfrm>
              <a:off x="838201" y="2961120"/>
              <a:ext cx="10515599" cy="719810"/>
              <a:chOff x="838201" y="2480590"/>
              <a:chExt cx="10515599" cy="71981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ED556A4-1AAE-9738-8119-6BC2E275DF02}"/>
                  </a:ext>
                </a:extLst>
              </p:cNvPr>
              <p:cNvSpPr/>
              <p:nvPr/>
            </p:nvSpPr>
            <p:spPr>
              <a:xfrm>
                <a:off x="838201" y="2480590"/>
                <a:ext cx="1565133" cy="719810"/>
              </a:xfrm>
              <a:prstGeom prst="rect">
                <a:avLst/>
              </a:prstGeom>
              <a:solidFill>
                <a:srgbClr val="205F9A"/>
              </a:solidFill>
              <a:ln>
                <a:solidFill>
                  <a:srgbClr val="205F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r>
                  <a:rPr lang="en-US" sz="1600" b="1">
                    <a:solidFill>
                      <a:schemeClr val="bg1">
                        <a:lumMod val="9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Sales</a:t>
                </a:r>
              </a:p>
              <a:p>
                <a:r>
                  <a:rPr lang="en-US" sz="1400" i="1">
                    <a:solidFill>
                      <a:schemeClr val="bg1">
                        <a:lumMod val="9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Status: </a:t>
                </a:r>
                <a:r>
                  <a:rPr lang="en-US" sz="1400" i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on track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6BC06BA-8F54-52B3-D027-BFB35EDC9282}"/>
                  </a:ext>
                </a:extLst>
              </p:cNvPr>
              <p:cNvSpPr/>
              <p:nvPr/>
            </p:nvSpPr>
            <p:spPr>
              <a:xfrm>
                <a:off x="2629912" y="2480590"/>
                <a:ext cx="8723888" cy="719810"/>
              </a:xfrm>
              <a:prstGeom prst="rect">
                <a:avLst/>
              </a:prstGeom>
              <a:noFill/>
              <a:ln>
                <a:solidFill>
                  <a:srgbClr val="205F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91440" rIns="91440" bIns="91440" rtlCol="0" anchor="ctr"/>
              <a:lstStyle/>
              <a:p>
                <a:pPr marL="285750" indent="-285750">
                  <a:buFont typeface="Arial,Sans-Serif" panose="020B0604020202020204" pitchFamily="34" charset="0"/>
                  <a:buChar char="•"/>
                </a:pPr>
                <a:r>
                  <a:rPr lang="en-US" sz="1400" b="1">
                    <a:solidFill>
                      <a:schemeClr val="tx1"/>
                    </a:solidFill>
                    <a:latin typeface="Arial"/>
                    <a:ea typeface="+mn-lt"/>
                    <a:cs typeface="Arial"/>
                  </a:rPr>
                  <a:t>Lemlist </a:t>
                </a:r>
                <a:r>
                  <a:rPr lang="en-US" sz="1400">
                    <a:solidFill>
                      <a:schemeClr val="tx1"/>
                    </a:solidFill>
                    <a:latin typeface="Arial"/>
                    <a:ea typeface="+mn-lt"/>
                    <a:cs typeface="Arial"/>
                  </a:rPr>
                  <a:t>US pilot live (Feb 20); English BDR training this week, French session pushed to next week (Laure+ Raphael OOO until Mar 2). HubSpot integration confirmed with Alessio </a:t>
                </a:r>
              </a:p>
              <a:p>
                <a:pPr marL="285750" indent="-285750">
                  <a:buFont typeface="Arial,Sans-Serif" panose="020B0604020202020204" pitchFamily="34" charset="0"/>
                  <a:buChar char="•"/>
                </a:pPr>
                <a:r>
                  <a:rPr lang="en-US" sz="1400" err="1">
                    <a:solidFill>
                      <a:schemeClr val="tx1"/>
                    </a:solidFill>
                    <a:latin typeface="Arial"/>
                    <a:ea typeface="+mn-lt"/>
                    <a:cs typeface="Arial"/>
                  </a:rPr>
                  <a:t>Lemlist</a:t>
                </a:r>
                <a:r>
                  <a:rPr lang="en-US" sz="1400">
                    <a:solidFill>
                      <a:schemeClr val="tx1"/>
                    </a:solidFill>
                    <a:latin typeface="Arial"/>
                    <a:ea typeface="+mn-lt"/>
                    <a:cs typeface="Arial"/>
                  </a:rPr>
                  <a:t> Acct Manger assigned and speaks French, Spanish and English.  Supporting global kickoffs </a:t>
                </a:r>
              </a:p>
              <a:p>
                <a:pPr marL="285750" indent="-285750">
                  <a:buFont typeface="Arial,Sans-Serif" panose="020B0604020202020204" pitchFamily="34" charset="0"/>
                  <a:buChar char="•"/>
                </a:pPr>
                <a:r>
                  <a:rPr lang="en-US" sz="1400" b="1" err="1">
                    <a:solidFill>
                      <a:schemeClr val="tx1"/>
                    </a:solidFill>
                    <a:ea typeface="+mn-lt"/>
                    <a:cs typeface="+mn-lt"/>
                  </a:rPr>
                  <a:t>Loopio</a:t>
                </a:r>
                <a:r>
                  <a:rPr lang="en-US" sz="1400" b="1">
                    <a:solidFill>
                      <a:schemeClr val="tx1"/>
                    </a:solidFill>
                    <a:ea typeface="+mn-lt"/>
                    <a:cs typeface="+mn-lt"/>
                  </a:rPr>
                  <a:t> </a:t>
                </a:r>
                <a:r>
                  <a:rPr lang="en-US" sz="1400">
                    <a:solidFill>
                      <a:schemeClr val="tx1"/>
                    </a:solidFill>
                    <a:ea typeface="+mn-lt"/>
                    <a:cs typeface="+mn-lt"/>
                  </a:rPr>
                  <a:t>library fully imported and translated 3 days early. First RFP completed end-to-end (Mohawk) -- ~3xfaster. NAM team trained and actively using. </a:t>
                </a:r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925BCE9-5A20-F6E2-FA9F-E59C70B1EE3D}"/>
                </a:ext>
              </a:extLst>
            </p:cNvPr>
            <p:cNvGrpSpPr/>
            <p:nvPr/>
          </p:nvGrpSpPr>
          <p:grpSpPr>
            <a:xfrm>
              <a:off x="838202" y="3793770"/>
              <a:ext cx="10515599" cy="719810"/>
              <a:chOff x="838202" y="3360240"/>
              <a:chExt cx="10515599" cy="71981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866AD91-41D3-95F4-3620-86C891FB28C0}"/>
                  </a:ext>
                </a:extLst>
              </p:cNvPr>
              <p:cNvSpPr/>
              <p:nvPr/>
            </p:nvSpPr>
            <p:spPr>
              <a:xfrm>
                <a:off x="838202" y="3360240"/>
                <a:ext cx="1565133" cy="719810"/>
              </a:xfrm>
              <a:prstGeom prst="rect">
                <a:avLst/>
              </a:prstGeom>
              <a:solidFill>
                <a:srgbClr val="205F9A"/>
              </a:solidFill>
              <a:ln>
                <a:solidFill>
                  <a:srgbClr val="205F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r>
                  <a:rPr lang="en-US" sz="1600" b="1">
                    <a:solidFill>
                      <a:schemeClr val="bg1">
                        <a:lumMod val="9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Product</a:t>
                </a:r>
              </a:p>
              <a:p>
                <a:r>
                  <a:rPr lang="en-US" sz="1400" i="1">
                    <a:solidFill>
                      <a:schemeClr val="bg1">
                        <a:lumMod val="9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Status: </a:t>
                </a:r>
                <a:r>
                  <a:rPr lang="en-US" sz="1400" i="1">
                    <a:solidFill>
                      <a:srgbClr val="FFF9A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 risk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1C520F5-A3D0-3525-6EB4-8AB46DEC076E}"/>
                  </a:ext>
                </a:extLst>
              </p:cNvPr>
              <p:cNvSpPr/>
              <p:nvPr/>
            </p:nvSpPr>
            <p:spPr>
              <a:xfrm>
                <a:off x="2629913" y="3360240"/>
                <a:ext cx="8723888" cy="719810"/>
              </a:xfrm>
              <a:prstGeom prst="rect">
                <a:avLst/>
              </a:prstGeom>
              <a:noFill/>
              <a:ln>
                <a:solidFill>
                  <a:srgbClr val="205F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 of 5 total phases of work are completed, with remaining phases of (4) TAM calculations and (5) proof points still to do. Expected completion is still within the next four weeks.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Limited access to Loïc due to PTO and other unstated reasons has delayed progress. Project remains achievable by the end of March assuming full engagement after Loïc’s return from PTO.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Highly limited telemetry / adoption signals on key AI features, limiting inputs for TAM calculations. 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1E27556-508F-6539-F178-3300AB71F8BC}"/>
                </a:ext>
              </a:extLst>
            </p:cNvPr>
            <p:cNvGrpSpPr/>
            <p:nvPr/>
          </p:nvGrpSpPr>
          <p:grpSpPr>
            <a:xfrm>
              <a:off x="838202" y="2128470"/>
              <a:ext cx="10515599" cy="719810"/>
              <a:chOff x="838202" y="5743239"/>
              <a:chExt cx="10515599" cy="71981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6881C72-2413-D1DC-EE6B-84876C75B9B0}"/>
                  </a:ext>
                </a:extLst>
              </p:cNvPr>
              <p:cNvSpPr/>
              <p:nvPr/>
            </p:nvSpPr>
            <p:spPr>
              <a:xfrm>
                <a:off x="838202" y="5743239"/>
                <a:ext cx="1565133" cy="719810"/>
              </a:xfrm>
              <a:prstGeom prst="rect">
                <a:avLst/>
              </a:prstGeom>
              <a:solidFill>
                <a:srgbClr val="205F9A"/>
              </a:solidFill>
              <a:ln>
                <a:solidFill>
                  <a:srgbClr val="205F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r>
                  <a:rPr lang="en-US" sz="1600" b="1">
                    <a:solidFill>
                      <a:schemeClr val="bg1">
                        <a:lumMod val="9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Engineering</a:t>
                </a:r>
              </a:p>
              <a:p>
                <a:r>
                  <a:rPr lang="en-US" sz="1400" i="1">
                    <a:solidFill>
                      <a:schemeClr val="bg1">
                        <a:lumMod val="9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Status: </a:t>
                </a:r>
                <a:r>
                  <a:rPr lang="en-US" sz="1400" i="1">
                    <a:solidFill>
                      <a:srgbClr val="FFF9A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 risk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FFCD796-4294-990D-9EA1-0DDBCE6EFFED}"/>
                  </a:ext>
                </a:extLst>
              </p:cNvPr>
              <p:cNvSpPr/>
              <p:nvPr/>
            </p:nvSpPr>
            <p:spPr>
              <a:xfrm>
                <a:off x="2629913" y="5743239"/>
                <a:ext cx="8723888" cy="719810"/>
              </a:xfrm>
              <a:prstGeom prst="rect">
                <a:avLst/>
              </a:prstGeom>
              <a:noFill/>
              <a:ln>
                <a:solidFill>
                  <a:srgbClr val="205F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91440" rIns="91440" bIns="91440"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>
                    <a:solidFill>
                      <a:schemeClr val="tx1"/>
                    </a:solidFill>
                    <a:latin typeface="Arial"/>
                    <a:cs typeface="Arial"/>
                  </a:rPr>
                  <a:t>Focus on April release continues to divert time &amp; attention from AI initiatives despite organic gains with AI assistance.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>
                    <a:solidFill>
                      <a:schemeClr val="tx1"/>
                    </a:solidFill>
                    <a:latin typeface="Arial"/>
                    <a:cs typeface="Arial"/>
                  </a:rPr>
                  <a:t>All engineering actively using AI Copilot for AI-assisted PRs; </a:t>
                </a:r>
                <a:r>
                  <a:rPr lang="en-US" sz="1200" err="1">
                    <a:solidFill>
                      <a:schemeClr val="tx1"/>
                    </a:solidFill>
                    <a:latin typeface="Arial"/>
                    <a:cs typeface="Arial"/>
                  </a:rPr>
                  <a:t>devs</a:t>
                </a:r>
                <a:r>
                  <a:rPr lang="en-US" sz="1200">
                    <a:solidFill>
                      <a:schemeClr val="tx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err="1">
                    <a:solidFill>
                      <a:schemeClr val="tx1"/>
                    </a:solidFill>
                    <a:latin typeface="Arial"/>
                    <a:cs typeface="Arial"/>
                  </a:rPr>
                  <a:t>trialling</a:t>
                </a:r>
                <a:r>
                  <a:rPr lang="en-US" sz="1200">
                    <a:solidFill>
                      <a:schemeClr val="tx1"/>
                    </a:solidFill>
                    <a:latin typeface="Arial"/>
                    <a:cs typeface="Arial"/>
                  </a:rPr>
                  <a:t> multiple models incl. Gemini 2.5 Pro, Sonnet 4.6</a:t>
                </a:r>
                <a:endParaRPr lang="en-US"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Live dashboards tracking AI-assisted PRs over key repos; early data shows increase in PRs &amp; decreased resolution times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>
                    <a:solidFill>
                      <a:schemeClr val="tx1"/>
                    </a:solidFill>
                    <a:latin typeface="Arial"/>
                    <a:cs typeface="Arial"/>
                  </a:rPr>
                  <a:t>Team is building an MCP server for </a:t>
                </a:r>
                <a:r>
                  <a:rPr lang="en-US" sz="1200" err="1">
                    <a:solidFill>
                      <a:schemeClr val="tx1"/>
                    </a:solidFill>
                    <a:latin typeface="Arial"/>
                    <a:cs typeface="Arial"/>
                  </a:rPr>
                  <a:t>EasyVista</a:t>
                </a:r>
                <a:r>
                  <a:rPr lang="en-US" sz="1200">
                    <a:solidFill>
                      <a:schemeClr val="tx1"/>
                    </a:solidFill>
                    <a:latin typeface="Arial"/>
                    <a:cs typeface="Arial"/>
                  </a:rPr>
                  <a:t> using AI assistance.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>
                    <a:solidFill>
                      <a:schemeClr val="tx1"/>
                    </a:solidFill>
                    <a:latin typeface="Arial"/>
                    <a:cs typeface="Arial"/>
                  </a:rPr>
                  <a:t>Initial Tap campaign showing generally positive NPS &amp; providing meaningful insight into concerns (e.g.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>
                    <a:solidFill>
                      <a:schemeClr val="tx1"/>
                    </a:solidFill>
                    <a:latin typeface="Arial"/>
                    <a:cs typeface="Arial"/>
                  </a:rPr>
                  <a:t>Symphony unable to complete Java </a:t>
                </a:r>
                <a:r>
                  <a:rPr lang="en-US" sz="1200" err="1">
                    <a:solidFill>
                      <a:schemeClr val="tx1"/>
                    </a:solidFill>
                    <a:latin typeface="Arial"/>
                    <a:cs typeface="Arial"/>
                  </a:rPr>
                  <a:t>modernisation</a:t>
                </a:r>
                <a:r>
                  <a:rPr lang="en-US" sz="1200">
                    <a:solidFill>
                      <a:schemeClr val="tx1"/>
                    </a:solidFill>
                    <a:latin typeface="Arial"/>
                    <a:cs typeface="Arial"/>
                  </a:rPr>
                  <a:t> with agentic tooling. Met with 3 alternative vendors to keep momentum.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35798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8B58C-F317-1D62-63F9-4395C8BCE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E225D-23FE-E88C-5C2E-96A278A79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3F0DE-4B83-C442-BFAF-2E07D848C22E}" type="slidenum">
              <a:rPr lang="en-US" smtClean="0"/>
              <a:t>2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D478C4D-52F2-56B8-CBEA-77DB115DD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9344"/>
            <a:ext cx="7796028" cy="598277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b="1">
                <a:latin typeface="Arial"/>
                <a:cs typeface="Arial"/>
              </a:rPr>
              <a:t>Sales &amp; GTM - </a:t>
            </a:r>
            <a:r>
              <a:rPr lang="en-US">
                <a:latin typeface="Arial"/>
                <a:cs typeface="Arial"/>
              </a:rPr>
              <a:t>Project Update and Insights</a:t>
            </a:r>
            <a:endParaRPr lang="en-US"/>
          </a:p>
          <a:p>
            <a:endParaRPr lang="en-US" b="1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5416AA-E2A5-EC5F-9EAF-D3EF43D15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744" y="1095253"/>
            <a:ext cx="7790864" cy="3444324"/>
          </a:xfrm>
          <a:prstGeom prst="rect">
            <a:avLst/>
          </a:prstGeom>
          <a:noFill/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1843F8B-D722-482A-029F-734DC507B2B5}"/>
              </a:ext>
            </a:extLst>
          </p:cNvPr>
          <p:cNvSpPr txBox="1">
            <a:spLocks/>
          </p:cNvSpPr>
          <p:nvPr/>
        </p:nvSpPr>
        <p:spPr>
          <a:xfrm>
            <a:off x="377970" y="1280021"/>
            <a:ext cx="3618011" cy="197185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Arial"/>
                <a:cs typeface="Arial"/>
              </a:rPr>
              <a:t>"Yes, we are on track. The </a:t>
            </a:r>
            <a:r>
              <a:rPr lang="en-US" sz="1600" b="1">
                <a:latin typeface="Arial"/>
                <a:cs typeface="Arial"/>
              </a:rPr>
              <a:t>translation is fully completed</a:t>
            </a:r>
            <a:r>
              <a:rPr lang="en-US" sz="1600">
                <a:latin typeface="Arial"/>
                <a:cs typeface="Arial"/>
              </a:rPr>
              <a:t> and has been imported into </a:t>
            </a:r>
            <a:r>
              <a:rPr lang="en-US" sz="1600" err="1">
                <a:latin typeface="Arial"/>
                <a:cs typeface="Arial"/>
              </a:rPr>
              <a:t>Loopio</a:t>
            </a:r>
            <a:r>
              <a:rPr lang="en-US" sz="1600">
                <a:latin typeface="Arial"/>
                <a:cs typeface="Arial"/>
              </a:rPr>
              <a:t>. We've </a:t>
            </a:r>
            <a:r>
              <a:rPr lang="en-US" sz="1600" b="1">
                <a:latin typeface="Arial"/>
                <a:cs typeface="Arial"/>
              </a:rPr>
              <a:t>already had two training sessions </a:t>
            </a:r>
            <a:r>
              <a:rPr lang="en-US" sz="1600">
                <a:latin typeface="Arial"/>
                <a:cs typeface="Arial"/>
              </a:rPr>
              <a:t>with Todd, and</a:t>
            </a:r>
            <a:r>
              <a:rPr lang="en-US" sz="1600" b="1">
                <a:latin typeface="Arial"/>
                <a:cs typeface="Arial"/>
              </a:rPr>
              <a:t> another one is scheduled </a:t>
            </a:r>
            <a:r>
              <a:rPr lang="en-US" sz="1600">
                <a:latin typeface="Arial"/>
                <a:cs typeface="Arial"/>
              </a:rPr>
              <a:t>for tomorrow. The NAM team has been attending, and they are now</a:t>
            </a:r>
            <a:r>
              <a:rPr lang="en-US" sz="1600" b="1">
                <a:latin typeface="Arial"/>
                <a:cs typeface="Arial"/>
              </a:rPr>
              <a:t> much more comfortable and confident with the platform.</a:t>
            </a:r>
            <a:r>
              <a:rPr lang="en-US" sz="1600">
                <a:latin typeface="Arial"/>
                <a:cs typeface="Arial"/>
              </a:rPr>
              <a:t>"  </a:t>
            </a:r>
            <a:endParaRPr lang="en-US" sz="1600"/>
          </a:p>
          <a:p>
            <a:pPr marL="0" indent="0">
              <a:buNone/>
            </a:pPr>
            <a:r>
              <a:rPr lang="en-US" sz="1600">
                <a:latin typeface="Arial"/>
                <a:cs typeface="Arial"/>
              </a:rPr>
              <a:t>  - Dalila </a:t>
            </a:r>
            <a:r>
              <a:rPr lang="en-US" sz="1600" err="1">
                <a:latin typeface="Arial"/>
                <a:cs typeface="Arial"/>
              </a:rPr>
              <a:t>Souiah</a:t>
            </a:r>
            <a:r>
              <a:rPr lang="en-US" sz="1600">
                <a:latin typeface="Arial"/>
                <a:cs typeface="Arial"/>
              </a:rPr>
              <a:t> | Feb 19th</a:t>
            </a:r>
            <a:endParaRPr lang="en-US" sz="1600"/>
          </a:p>
          <a:p>
            <a:r>
              <a:rPr lang="en-US" sz="1600">
                <a:latin typeface="Arial"/>
                <a:cs typeface="Arial"/>
              </a:rPr>
              <a:t>"Everything was well </a:t>
            </a:r>
            <a:r>
              <a:rPr lang="en-US" sz="1600" b="1">
                <a:latin typeface="Arial"/>
                <a:cs typeface="Arial"/>
              </a:rPr>
              <a:t>translated in English and imported in </a:t>
            </a:r>
            <a:r>
              <a:rPr lang="en-US" sz="1600" b="1" err="1">
                <a:latin typeface="Arial"/>
                <a:cs typeface="Arial"/>
              </a:rPr>
              <a:t>Loopio</a:t>
            </a:r>
            <a:r>
              <a:rPr lang="en-US" sz="1600" b="1">
                <a:latin typeface="Arial"/>
                <a:cs typeface="Arial"/>
              </a:rPr>
              <a:t>.</a:t>
            </a:r>
            <a:r>
              <a:rPr lang="en-US" sz="1600">
                <a:latin typeface="Arial"/>
                <a:cs typeface="Arial"/>
              </a:rPr>
              <a:t> Technical and functional content. And the General Information/Security content today. We made several training/explanation session with Todd to explain how use </a:t>
            </a:r>
            <a:r>
              <a:rPr lang="en-US" sz="1600" err="1">
                <a:latin typeface="Arial"/>
                <a:cs typeface="Arial"/>
              </a:rPr>
              <a:t>Loopio</a:t>
            </a:r>
            <a:r>
              <a:rPr lang="en-US" sz="1600">
                <a:latin typeface="Arial"/>
                <a:cs typeface="Arial"/>
              </a:rPr>
              <a:t> to answer the first RFP. </a:t>
            </a:r>
            <a:r>
              <a:rPr lang="en-US" sz="1600" b="1">
                <a:latin typeface="Arial"/>
                <a:cs typeface="Arial"/>
              </a:rPr>
              <a:t>Feedbacks are good.</a:t>
            </a:r>
            <a:r>
              <a:rPr lang="en-US" sz="1600">
                <a:latin typeface="Arial"/>
                <a:cs typeface="Arial"/>
              </a:rPr>
              <a:t>"</a:t>
            </a:r>
          </a:p>
          <a:p>
            <a:pPr marL="742950" lvl="1" indent="-285750">
              <a:buFont typeface="Calibri" panose="020B0604020202020204" pitchFamily="34" charset="0"/>
              <a:buChar char="-"/>
            </a:pPr>
            <a:r>
              <a:rPr lang="en-US" sz="1600">
                <a:latin typeface="Arial"/>
                <a:cs typeface="Arial"/>
              </a:rPr>
              <a:t>Yann Mercier | Feb20th </a:t>
            </a:r>
            <a:endParaRPr lang="en-US" sz="1200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670CE6BA-CF65-B7C3-85C9-92E827A12552}"/>
              </a:ext>
            </a:extLst>
          </p:cNvPr>
          <p:cNvSpPr txBox="1">
            <a:spLocks/>
          </p:cNvSpPr>
          <p:nvPr/>
        </p:nvSpPr>
        <p:spPr>
          <a:xfrm>
            <a:off x="8763000" y="65547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1153F0DE-4B83-C442-BFAF-2E07D848C22E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CA64B9-D416-5968-B630-1E9663ABDE64}"/>
              </a:ext>
            </a:extLst>
          </p:cNvPr>
          <p:cNvSpPr txBox="1"/>
          <p:nvPr/>
        </p:nvSpPr>
        <p:spPr>
          <a:xfrm>
            <a:off x="5261429" y="4662789"/>
            <a:ext cx="6096000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Arial"/>
                <a:ea typeface="Segoe UI"/>
                <a:cs typeface="Segoe UI"/>
              </a:rPr>
              <a:t>​</a:t>
            </a:r>
            <a:r>
              <a:rPr lang="en-US" sz="1600" baseline="0">
                <a:latin typeface="Arial"/>
                <a:ea typeface="Segoe UI"/>
                <a:cs typeface="Segoe UI"/>
              </a:rPr>
              <a:t>"We were able to </a:t>
            </a:r>
            <a:r>
              <a:rPr lang="en-US" sz="1600" b="1" baseline="0">
                <a:latin typeface="Arial"/>
                <a:ea typeface="Segoe UI"/>
                <a:cs typeface="Segoe UI"/>
              </a:rPr>
              <a:t>complete the first </a:t>
            </a:r>
            <a:r>
              <a:rPr lang="en-US" sz="1600" b="1">
                <a:latin typeface="Arial"/>
                <a:ea typeface="Segoe UI"/>
                <a:cs typeface="Segoe UI"/>
              </a:rPr>
              <a:t>RFP with</a:t>
            </a:r>
            <a:r>
              <a:rPr lang="en-US" sz="1600" b="1" baseline="0">
                <a:latin typeface="Arial"/>
                <a:ea typeface="Segoe UI"/>
                <a:cs typeface="Segoe UI"/>
              </a:rPr>
              <a:t> </a:t>
            </a:r>
            <a:r>
              <a:rPr lang="en-US" sz="1600" b="1" baseline="0" err="1">
                <a:latin typeface="Arial"/>
                <a:ea typeface="Segoe UI"/>
                <a:cs typeface="Segoe UI"/>
              </a:rPr>
              <a:t>Loopio</a:t>
            </a:r>
            <a:r>
              <a:rPr lang="en-US" sz="1600" b="1" baseline="0">
                <a:latin typeface="Arial"/>
                <a:ea typeface="Segoe UI"/>
                <a:cs typeface="Segoe UI"/>
              </a:rPr>
              <a:t> for Mohawk.</a:t>
            </a:r>
            <a:r>
              <a:rPr lang="en-US" sz="1600" baseline="0">
                <a:latin typeface="Arial"/>
                <a:ea typeface="Segoe UI"/>
                <a:cs typeface="Segoe UI"/>
              </a:rPr>
              <a:t> While this took </a:t>
            </a:r>
            <a:r>
              <a:rPr lang="en-US" sz="1600">
                <a:latin typeface="Arial"/>
                <a:ea typeface="Segoe UI"/>
                <a:cs typeface="Segoe UI"/>
              </a:rPr>
              <a:t>a little</a:t>
            </a:r>
            <a:r>
              <a:rPr lang="en-US" sz="1600" baseline="0">
                <a:latin typeface="Arial"/>
                <a:ea typeface="Segoe UI"/>
                <a:cs typeface="Segoe UI"/>
              </a:rPr>
              <a:t> longer as we were also using it </a:t>
            </a:r>
            <a:r>
              <a:rPr lang="en-US" sz="1600">
                <a:latin typeface="Arial"/>
                <a:ea typeface="Segoe UI"/>
                <a:cs typeface="Segoe UI"/>
              </a:rPr>
              <a:t>to check</a:t>
            </a:r>
            <a:r>
              <a:rPr lang="en-US" sz="1600" baseline="0">
                <a:latin typeface="Arial"/>
                <a:ea typeface="Segoe UI"/>
                <a:cs typeface="Segoe UI"/>
              </a:rPr>
              <a:t> translation a bit further, I believe </a:t>
            </a:r>
            <a:r>
              <a:rPr lang="en-US" sz="1600">
                <a:latin typeface="Arial"/>
                <a:ea typeface="Segoe UI"/>
                <a:cs typeface="Segoe UI"/>
              </a:rPr>
              <a:t>that it</a:t>
            </a:r>
            <a:r>
              <a:rPr lang="en-US" sz="1600" baseline="0">
                <a:latin typeface="Arial"/>
                <a:ea typeface="Segoe UI"/>
                <a:cs typeface="Segoe UI"/>
              </a:rPr>
              <a:t> will allow us to </a:t>
            </a:r>
            <a:r>
              <a:rPr lang="en-US" sz="1600" b="1" baseline="0">
                <a:latin typeface="Arial"/>
                <a:ea typeface="Segoe UI"/>
                <a:cs typeface="Segoe UI"/>
              </a:rPr>
              <a:t>vastly reduce the time </a:t>
            </a:r>
            <a:r>
              <a:rPr lang="en-US" sz="1600" b="1">
                <a:latin typeface="Arial"/>
                <a:ea typeface="Segoe UI"/>
                <a:cs typeface="Segoe UI"/>
              </a:rPr>
              <a:t>it will</a:t>
            </a:r>
            <a:r>
              <a:rPr lang="en-US" sz="1600" b="1" baseline="0">
                <a:latin typeface="Arial"/>
                <a:ea typeface="Segoe UI"/>
                <a:cs typeface="Segoe UI"/>
              </a:rPr>
              <a:t> take to complete RFPs</a:t>
            </a:r>
            <a:r>
              <a:rPr lang="en-US" sz="1600" baseline="0">
                <a:latin typeface="Arial"/>
                <a:ea typeface="Segoe UI"/>
                <a:cs typeface="Segoe UI"/>
              </a:rPr>
              <a:t> in the future."</a:t>
            </a:r>
            <a:r>
              <a:rPr lang="en-US" sz="1600">
                <a:latin typeface="Arial"/>
                <a:ea typeface="Segoe UI"/>
                <a:cs typeface="Segoe UI"/>
              </a:rPr>
              <a:t>​</a:t>
            </a:r>
            <a:endParaRPr lang="en-US">
              <a:latin typeface="Aptos" panose="02110004020202020204"/>
              <a:ea typeface="Segoe UI"/>
              <a:cs typeface="Segoe UI"/>
            </a:endParaRPr>
          </a:p>
          <a:p>
            <a:pPr marL="285750" indent="-285750">
              <a:buFont typeface="Calibri"/>
              <a:buChar char="-"/>
            </a:pPr>
            <a:r>
              <a:rPr lang="en-US" sz="1600">
                <a:latin typeface="Arial"/>
                <a:cs typeface="Arial"/>
              </a:rPr>
              <a:t>Todd Russell | Feb 20th </a:t>
            </a:r>
          </a:p>
          <a:p>
            <a:endParaRPr lang="en-US" sz="1600">
              <a:latin typeface="Arial"/>
              <a:cs typeface="Segoe U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078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221BE-200A-ED29-DBF5-54D7E678A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0F4CE-C5B9-CEFB-6764-0A13D9C63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Project Update and Insights – February 25</a:t>
            </a:r>
            <a:r>
              <a:rPr lang="en-US" b="1" baseline="30000"/>
              <a:t>th</a:t>
            </a:r>
            <a:r>
              <a:rPr lang="en-US" b="1"/>
              <a:t> </a:t>
            </a:r>
            <a:br>
              <a:rPr lang="en-US" b="1"/>
            </a:br>
            <a:r>
              <a:rPr lang="en-US" b="1"/>
              <a:t>Product Track: </a:t>
            </a:r>
            <a:r>
              <a:rPr lang="en-US"/>
              <a:t>AI Maturity Ladder Completed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3D976-EE1B-3DF2-8783-9EDC00E0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3F0DE-4B83-C442-BFAF-2E07D848C22E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E632CE-DA10-1F6C-92A5-4DC86B0E7A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91556" y="1805975"/>
            <a:ext cx="7783664" cy="43836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959082-3669-16D8-B940-332D6E4DEA02}"/>
              </a:ext>
            </a:extLst>
          </p:cNvPr>
          <p:cNvSpPr txBox="1">
            <a:spLocks/>
          </p:cNvSpPr>
          <p:nvPr/>
        </p:nvSpPr>
        <p:spPr>
          <a:xfrm>
            <a:off x="838202" y="1805975"/>
            <a:ext cx="2890960" cy="21060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/>
              <a:t>Together with Loïc, all levels of the EasyVista AI Maturity ladder have been defined, and all current + planned AI capabilities are mapped to it.</a:t>
            </a:r>
          </a:p>
          <a:p>
            <a:r>
              <a:rPr lang="en-US" sz="1400" b="0"/>
              <a:t>This enables clarity of planning and also displays a clear path towards end-customer labor replacement as platform autonomy grows.</a:t>
            </a:r>
          </a:p>
        </p:txBody>
      </p:sp>
    </p:spTree>
    <p:extLst>
      <p:ext uri="{BB962C8B-B14F-4D97-AF65-F5344CB8AC3E}">
        <p14:creationId xmlns:p14="http://schemas.microsoft.com/office/powerpoint/2010/main" val="2238462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535F1-4A26-EBDF-9B58-DA4D18F0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rial"/>
                <a:cs typeface="Arial"/>
              </a:rPr>
              <a:t>Project Update and Insights - February 25</a:t>
            </a:r>
            <a:r>
              <a:rPr lang="en-US" sz="1900" b="1" baseline="30000">
                <a:latin typeface="Arial"/>
                <a:cs typeface="Arial"/>
              </a:rPr>
              <a:t>th</a:t>
            </a:r>
            <a:r>
              <a:rPr lang="en-US" b="1">
                <a:latin typeface="Arial"/>
                <a:cs typeface="Arial"/>
              </a:rPr>
              <a:t> </a:t>
            </a:r>
            <a:br>
              <a:rPr lang="en-US" b="1">
                <a:latin typeface="Arial"/>
                <a:cs typeface="Arial"/>
              </a:rPr>
            </a:br>
            <a:r>
              <a:rPr lang="en-US" b="1">
                <a:latin typeface="Arial"/>
                <a:cs typeface="Arial"/>
              </a:rPr>
              <a:t>Engineering Track: </a:t>
            </a:r>
            <a:r>
              <a:rPr lang="en-US">
                <a:latin typeface="Arial"/>
                <a:cs typeface="Arial"/>
              </a:rPr>
              <a:t>Metrics tell a mixed </a:t>
            </a:r>
            <a:r>
              <a:rPr lang="en-US" err="1">
                <a:latin typeface="Arial"/>
                <a:cs typeface="Arial"/>
              </a:rPr>
              <a:t>stor</a:t>
            </a:r>
            <a:r>
              <a:rPr lang="en-US">
                <a:latin typeface="Arial"/>
                <a:cs typeface="Arial"/>
              </a:rPr>
              <a:t>y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0C26EB-629E-214D-C96D-535C8038B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3F0DE-4B83-C442-BFAF-2E07D848C22E}" type="slidenum">
              <a:rPr lang="en-US" smtClean="0"/>
              <a:t>4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0299EC-3ED7-2ADE-83C2-E1A538D25A4C}"/>
              </a:ext>
            </a:extLst>
          </p:cNvPr>
          <p:cNvSpPr txBox="1"/>
          <p:nvPr/>
        </p:nvSpPr>
        <p:spPr>
          <a:xfrm>
            <a:off x="843158" y="5144886"/>
            <a:ext cx="5394245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>
                <a:latin typeface="Arial"/>
                <a:cs typeface="Arial"/>
              </a:rPr>
              <a:t>Working well:</a:t>
            </a:r>
          </a:p>
          <a:p>
            <a:pPr marL="114300" indent="-114300">
              <a:buFont typeface="Arial"/>
              <a:buChar char="•"/>
            </a:pPr>
            <a:r>
              <a:rPr lang="en-US" sz="1400">
                <a:latin typeface="Arial"/>
                <a:cs typeface="Arial"/>
              </a:rPr>
              <a:t>AI PRs resolve faster (~16% improvement)</a:t>
            </a:r>
          </a:p>
          <a:p>
            <a:pPr marL="114300" indent="-114300">
              <a:buFont typeface="Arial"/>
              <a:buChar char="•"/>
            </a:pPr>
            <a:r>
              <a:rPr lang="en-US" sz="1400">
                <a:latin typeface="Arial"/>
                <a:cs typeface="Arial"/>
              </a:rPr>
              <a:t>DAU ~50-55% is reasonable for time into adoption</a:t>
            </a:r>
          </a:p>
          <a:p>
            <a:pPr marL="114300" indent="-114300">
              <a:buFont typeface="Arial"/>
              <a:buChar char="•"/>
            </a:pPr>
            <a:r>
              <a:rPr lang="en-US" sz="1400">
                <a:latin typeface="Arial"/>
                <a:cs typeface="Arial"/>
              </a:rPr>
              <a:t>Meaningful PR volume with AI @ 18% but room to increase</a:t>
            </a: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B14D63-4873-6DDF-0464-2519D649B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451" y="1693333"/>
            <a:ext cx="4529376" cy="3351390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654147-4135-4FAC-77AD-98B84FBFC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88" y="1693333"/>
            <a:ext cx="4521459" cy="32596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CB184D-E4F3-653E-E7FF-F2C9B71940F3}"/>
              </a:ext>
            </a:extLst>
          </p:cNvPr>
          <p:cNvSpPr txBox="1"/>
          <p:nvPr/>
        </p:nvSpPr>
        <p:spPr>
          <a:xfrm>
            <a:off x="6833324" y="5144886"/>
            <a:ext cx="4582857" cy="11695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>
                <a:latin typeface="Arial"/>
                <a:cs typeface="Arial"/>
              </a:rPr>
              <a:t>Gaps for improvement:</a:t>
            </a:r>
          </a:p>
          <a:p>
            <a:pPr marL="114300" indent="-114300">
              <a:buFont typeface="Arial"/>
              <a:buChar char="•"/>
            </a:pPr>
            <a:r>
              <a:rPr lang="en-US" sz="1400">
                <a:latin typeface="Arial"/>
                <a:cs typeface="Arial"/>
              </a:rPr>
              <a:t>Two repos have zero AI PRs</a:t>
            </a:r>
          </a:p>
          <a:p>
            <a:pPr marL="114300" indent="-114300">
              <a:buFont typeface="Arial"/>
              <a:buChar char="•"/>
            </a:pPr>
            <a:r>
              <a:rPr lang="en-US" sz="1400">
                <a:latin typeface="Arial"/>
                <a:cs typeface="Arial"/>
              </a:rPr>
              <a:t>Some AI PR resolve times are worse, not better</a:t>
            </a:r>
          </a:p>
          <a:p>
            <a:pPr marL="114300" indent="-114300">
              <a:buFont typeface="Arial"/>
              <a:buChar char="•"/>
            </a:pPr>
            <a:r>
              <a:rPr lang="en-US" sz="1400">
                <a:latin typeface="Arial"/>
                <a:cs typeface="Arial"/>
              </a:rPr>
              <a:t>Immaterial improvement trend in metrics</a:t>
            </a: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-114300">
              <a:buFont typeface="Arial,Sans-Serif"/>
              <a:buChar char="•"/>
            </a:pPr>
            <a:r>
              <a:rPr lang="en-US" sz="1400">
                <a:latin typeface="Arial"/>
                <a:cs typeface="Arial"/>
              </a:rPr>
              <a:t>Ensuring code quality remains high as volume grows</a:t>
            </a:r>
          </a:p>
        </p:txBody>
      </p:sp>
    </p:spTree>
    <p:extLst>
      <p:ext uri="{BB962C8B-B14F-4D97-AF65-F5344CB8AC3E}">
        <p14:creationId xmlns:p14="http://schemas.microsoft.com/office/powerpoint/2010/main" val="2227552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745D4-4F5C-A72D-0936-8213822FA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5DFD9-97B5-CB29-986C-73365DB29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rial"/>
                <a:cs typeface="Arial"/>
              </a:rPr>
              <a:t>Project Update and Insights - February 25</a:t>
            </a:r>
            <a:r>
              <a:rPr lang="en-US" sz="1900" b="1" baseline="30000">
                <a:latin typeface="Arial"/>
                <a:cs typeface="Arial"/>
              </a:rPr>
              <a:t>th</a:t>
            </a:r>
            <a:r>
              <a:rPr lang="en-US" b="1">
                <a:latin typeface="Arial"/>
                <a:cs typeface="Arial"/>
              </a:rPr>
              <a:t> </a:t>
            </a:r>
            <a:br>
              <a:rPr lang="en-US" b="1">
                <a:latin typeface="Arial"/>
                <a:cs typeface="Arial"/>
              </a:rPr>
            </a:br>
            <a:r>
              <a:rPr lang="en-US" b="1">
                <a:latin typeface="Arial"/>
                <a:cs typeface="Arial"/>
              </a:rPr>
              <a:t>Engineering Track: </a:t>
            </a:r>
            <a:r>
              <a:rPr lang="en-US">
                <a:latin typeface="Arial"/>
                <a:cs typeface="Arial"/>
              </a:rPr>
              <a:t>Tap - Feedback from the Engineering Team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3592D-E255-C03D-39F6-79FC4D9D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3F0DE-4B83-C442-BFAF-2E07D848C22E}" type="slidenum">
              <a:rPr lang="en-US" smtClean="0"/>
              <a:t>5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CF0D5BC-8545-AB3B-7CF1-994538052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692" y="1690688"/>
            <a:ext cx="3090372" cy="41542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E7E52A7-5DC4-002A-A638-296417232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936" y="1690688"/>
            <a:ext cx="4832291" cy="31880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7094E24-A252-BD29-46D3-E2D99B587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610" y="1690688"/>
            <a:ext cx="3306699" cy="366750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58B9667-A876-6CF3-C121-1E32E07C6D2C}"/>
              </a:ext>
            </a:extLst>
          </p:cNvPr>
          <p:cNvSpPr txBox="1"/>
          <p:nvPr/>
        </p:nvSpPr>
        <p:spPr>
          <a:xfrm>
            <a:off x="306936" y="5681108"/>
            <a:ext cx="7962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Actionable feedback: Tackle job security concerns head on to improve psychological safety, the foundation of high-performing teams. Ability to do more with the existing team.</a:t>
            </a:r>
          </a:p>
        </p:txBody>
      </p:sp>
    </p:spTree>
    <p:extLst>
      <p:ext uri="{BB962C8B-B14F-4D97-AF65-F5344CB8AC3E}">
        <p14:creationId xmlns:p14="http://schemas.microsoft.com/office/powerpoint/2010/main" val="4180313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092C1-4888-11D1-94A2-84437746F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A732075-93F8-15BA-4B12-09DBE50AEEE3}"/>
              </a:ext>
            </a:extLst>
          </p:cNvPr>
          <p:cNvSpPr/>
          <p:nvPr/>
        </p:nvSpPr>
        <p:spPr>
          <a:xfrm>
            <a:off x="1" y="0"/>
            <a:ext cx="6096000" cy="6341533"/>
          </a:xfrm>
          <a:prstGeom prst="rect">
            <a:avLst/>
          </a:prstGeom>
          <a:solidFill>
            <a:srgbClr val="215F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237519-4392-BC1B-EC07-C63A8D84AA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6992" y="1837592"/>
            <a:ext cx="4571675" cy="2387600"/>
          </a:xfrm>
        </p:spPr>
        <p:txBody>
          <a:bodyPr anchor="t"/>
          <a:lstStyle/>
          <a:p>
            <a:pPr algn="l"/>
            <a:r>
              <a:rPr lang="en-US" sz="2800" b="1">
                <a:solidFill>
                  <a:schemeClr val="bg1"/>
                </a:solidFill>
              </a:rPr>
              <a:t>Thank You</a:t>
            </a:r>
            <a:br>
              <a:rPr lang="en-US" sz="2800" b="1">
                <a:solidFill>
                  <a:schemeClr val="bg1"/>
                </a:solidFill>
              </a:rPr>
            </a:br>
            <a:br>
              <a:rPr lang="en-US" sz="2800" b="1">
                <a:solidFill>
                  <a:schemeClr val="bg1"/>
                </a:solidFill>
              </a:rPr>
            </a:br>
            <a:r>
              <a:rPr lang="en-US" sz="1600">
                <a:solidFill>
                  <a:schemeClr val="bg1"/>
                </a:solidFill>
              </a:rPr>
              <a:t>Please contact with questions:</a:t>
            </a:r>
            <a:br>
              <a:rPr lang="en-US" sz="1600">
                <a:solidFill>
                  <a:schemeClr val="bg1"/>
                </a:solidFill>
              </a:rPr>
            </a:br>
            <a:r>
              <a:rPr lang="en-US" sz="1600">
                <a:solidFill>
                  <a:schemeClr val="bg1"/>
                </a:solidFill>
              </a:rPr>
              <a:t>henry@yelin.io</a:t>
            </a:r>
            <a:br>
              <a:rPr lang="en-US" sz="1600">
                <a:solidFill>
                  <a:schemeClr val="bg1"/>
                </a:solidFill>
              </a:rPr>
            </a:br>
            <a:r>
              <a:rPr lang="en-US" sz="1600" err="1">
                <a:solidFill>
                  <a:schemeClr val="bg1"/>
                </a:solidFill>
              </a:rPr>
              <a:t>michael@yelin.io</a:t>
            </a:r>
            <a:br>
              <a:rPr lang="en-US" sz="1600">
                <a:solidFill>
                  <a:schemeClr val="bg1"/>
                </a:solidFill>
              </a:rPr>
            </a:br>
            <a:r>
              <a:rPr lang="en-US" sz="1600" err="1">
                <a:solidFill>
                  <a:schemeClr val="bg1"/>
                </a:solidFill>
              </a:rPr>
              <a:t>russell@yelin.io</a:t>
            </a:r>
            <a:br>
              <a:rPr lang="en-US" sz="1600">
                <a:solidFill>
                  <a:schemeClr val="bg1"/>
                </a:solidFill>
              </a:rPr>
            </a:b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8E46E-1FBD-C72B-ABBE-DCC09971E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3F0DE-4B83-C442-BFAF-2E07D848C22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7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413F288-19E4-B74E-956C-A315FC853CDB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Project Update and Insights – February 25th  Overall Status and Summary</vt:lpstr>
      <vt:lpstr>Sales &amp; GTM - Project Update and Insights </vt:lpstr>
      <vt:lpstr>Project Update and Insights – February 25th  Product Track: AI Maturity Ladder Completed</vt:lpstr>
      <vt:lpstr>Project Update and Insights - February 25th  Engineering Track: Metrics tell a mixed story</vt:lpstr>
      <vt:lpstr>Project Update and Insights - February 25th  Engineering Track: Tap - Feedback from the Engineering Team</vt:lpstr>
      <vt:lpstr>Thank You  Please contact with questions: henry@yelin.io michael@yelin.io russell@yelin.io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 Yelin</dc:creator>
  <cp:revision>2</cp:revision>
  <dcterms:created xsi:type="dcterms:W3CDTF">2025-04-17T03:23:11Z</dcterms:created>
  <dcterms:modified xsi:type="dcterms:W3CDTF">2026-03-09T20:39:50Z</dcterms:modified>
</cp:coreProperties>
</file>